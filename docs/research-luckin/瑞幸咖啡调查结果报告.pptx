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media/image5.svg" ContentType="image/svg+xml"/>
  <Override PartName="/ppt/media/image56.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Lst>
  <p:sldSz cx="18288000" cy="10287000"/>
  <p:notesSz cx="6858000" cy="9144000"/>
  <p:embeddedFontLst>
    <p:embeddedFont>
      <p:font typeface="思源黑体 Bold" panose="020B0800000000000000" charset="-122"/>
      <p:bold r:id="rId97"/>
    </p:embeddedFont>
    <p:embeddedFont>
      <p:font typeface="Aileron Bold Italics" panose="00000800000000000000"/>
      <p:boldItalic r:id="rId98"/>
    </p:embeddedFont>
    <p:embeddedFont>
      <p:font typeface="Aileron" panose="00000500000000000000"/>
      <p:regular r:id="rId99"/>
    </p:embeddedFont>
    <p:embeddedFont>
      <p:font typeface="思源黑体 Light" panose="020B0400000000000000" charset="-122"/>
      <p:regular r:id="rId100"/>
    </p:embeddedFont>
    <p:embeddedFont>
      <p:font typeface="思源黑体" panose="020B0500000000000000" charset="-122"/>
      <p:regular r:id="rId101"/>
    </p:embeddedFont>
    <p:embeddedFont>
      <p:font typeface="Calibri" panose="020F0502020204030204" charset="0"/>
      <p:regular r:id="rId102"/>
      <p:bold r:id="rId103"/>
      <p:italic r:id="rId104"/>
      <p:boldItalic r:id="rId105"/>
    </p:embeddedFont>
    <p:embeddedFont>
      <p:font typeface="Aileron Bold" panose="00000800000000000000"/>
      <p:bold r:id="rId106"/>
    </p:embeddedFont>
    <p:embeddedFont>
      <p:font typeface="Aileron Italics" panose="00000500000000000000"/>
      <p:italic r:id="rId10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font" Target="fonts/font3.fntdata"/><Relationship Id="rId98" Type="http://schemas.openxmlformats.org/officeDocument/2006/relationships/font" Target="fonts/font2.fntdata"/><Relationship Id="rId97" Type="http://schemas.openxmlformats.org/officeDocument/2006/relationships/font" Target="fonts/font1.fntdata"/><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7" Type="http://schemas.openxmlformats.org/officeDocument/2006/relationships/font" Target="fonts/font11.fntdata"/><Relationship Id="rId106" Type="http://schemas.openxmlformats.org/officeDocument/2006/relationships/font" Target="fonts/font10.fntdata"/><Relationship Id="rId105" Type="http://schemas.openxmlformats.org/officeDocument/2006/relationships/font" Target="fonts/font9.fntdata"/><Relationship Id="rId104" Type="http://schemas.openxmlformats.org/officeDocument/2006/relationships/font" Target="fonts/font8.fntdata"/><Relationship Id="rId103" Type="http://schemas.openxmlformats.org/officeDocument/2006/relationships/font" Target="fonts/font7.fntdata"/><Relationship Id="rId102" Type="http://schemas.openxmlformats.org/officeDocument/2006/relationships/font" Target="fonts/font6.fntdata"/><Relationship Id="rId101" Type="http://schemas.openxmlformats.org/officeDocument/2006/relationships/font" Target="fonts/font5.fntdata"/><Relationship Id="rId100" Type="http://schemas.openxmlformats.org/officeDocument/2006/relationships/font" Target="fonts/font4.fntdata"/><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1.png"/><Relationship Id="rId2" Type="http://schemas.openxmlformats.org/officeDocument/2006/relationships/image" Target="../media/image5.sv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2.png"/><Relationship Id="rId1"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image" Target="../media/image23.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8.png"/><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1.png"/><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2.png"/><Relationship Id="rId1" Type="http://schemas.openxmlformats.org/officeDocument/2006/relationships/image" Target="../media/image1.png"/></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3.png"/><Relationship Id="rId1" Type="http://schemas.openxmlformats.org/officeDocument/2006/relationships/image" Target="../media/image1.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1.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6.png"/><Relationship Id="rId1" Type="http://schemas.openxmlformats.org/officeDocument/2006/relationships/image" Target="../media/image1.pn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7.png"/><Relationship Id="rId1" Type="http://schemas.openxmlformats.org/officeDocument/2006/relationships/image" Target="../media/image1.png"/></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8.png"/><Relationship Id="rId1" Type="http://schemas.openxmlformats.org/officeDocument/2006/relationships/image" Target="../media/image1.png"/></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7.svg"/><Relationship Id="rId1" Type="http://schemas.openxmlformats.org/officeDocument/2006/relationships/image" Target="../media/image23.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1.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1.png"/></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1.png"/></Relationships>
</file>

<file path=ppt/slides/_rels/slide7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82.png"/><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1.png"/></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1.png"/></Relationships>
</file>

<file path=ppt/slides/_rels/slide7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88.png"/><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1.png"/></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image" Target="../media/image1.png"/></Relationships>
</file>

<file path=ppt/slides/_rels/slide7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96.png"/><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image" Target="../media/image1.png"/></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image" Target="../media/image1.png"/></Relationships>
</file>

<file path=ppt/slides/_rels/slide7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1.png"/><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image" Target="../media/image1.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2.png"/><Relationship Id="rId1" Type="http://schemas.openxmlformats.org/officeDocument/2006/relationships/image" Target="../media/image1.png"/></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image" Target="../media/image1.png"/></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8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png"/></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1.png"/></Relationships>
</file>

<file path=ppt/slides/_rels/slide8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5.svg"/><Relationship Id="rId3" Type="http://schemas.openxmlformats.org/officeDocument/2006/relationships/image" Target="../media/image107.png"/><Relationship Id="rId2" Type="http://schemas.openxmlformats.org/officeDocument/2006/relationships/image" Target="../media/image7.svg"/><Relationship Id="rId1" Type="http://schemas.openxmlformats.org/officeDocument/2006/relationships/image" Target="../media/image23.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7.svg"/><Relationship Id="rId6" Type="http://schemas.openxmlformats.org/officeDocument/2006/relationships/image" Target="../media/image23.png"/><Relationship Id="rId5" Type="http://schemas.openxmlformats.org/officeDocument/2006/relationships/image" Target="../media/image5.svg"/><Relationship Id="rId4" Type="http://schemas.openxmlformats.org/officeDocument/2006/relationships/image" Target="../media/image107.png"/><Relationship Id="rId3" Type="http://schemas.openxmlformats.org/officeDocument/2006/relationships/image" Target="../media/image3.svg"/><Relationship Id="rId2" Type="http://schemas.openxmlformats.org/officeDocument/2006/relationships/image" Target="../media/image108.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1671160">
            <a:off x="8556771" y="-3177715"/>
            <a:ext cx="14988201" cy="21149016"/>
          </a:xfrm>
          <a:custGeom>
            <a:avLst/>
            <a:gdLst/>
            <a:ahLst/>
            <a:cxnLst/>
            <a:rect l="l" t="t" r="r" b="b"/>
            <a:pathLst>
              <a:path w="14988201" h="21149016">
                <a:moveTo>
                  <a:pt x="0" y="0"/>
                </a:moveTo>
                <a:lnTo>
                  <a:pt x="14988201" y="0"/>
                </a:lnTo>
                <a:lnTo>
                  <a:pt x="14988201" y="21149016"/>
                </a:lnTo>
                <a:lnTo>
                  <a:pt x="0" y="21149016"/>
                </a:lnTo>
                <a:lnTo>
                  <a:pt x="0" y="0"/>
                </a:lnTo>
                <a:close/>
              </a:path>
            </a:pathLst>
          </a:custGeom>
          <a:blipFill>
            <a:blip r:embed="rId1"/>
            <a:stretch>
              <a:fillRect t="-2106" b="-6923"/>
            </a:stretch>
          </a:blipFill>
        </p:spPr>
      </p:sp>
      <p:sp>
        <p:nvSpPr>
          <p:cNvPr id="3" name="Freeform 3"/>
          <p:cNvSpPr/>
          <p:nvPr/>
        </p:nvSpPr>
        <p:spPr>
          <a:xfrm rot="-1662859">
            <a:off x="10412874" y="1303566"/>
            <a:ext cx="7208280" cy="11351623"/>
          </a:xfrm>
          <a:custGeom>
            <a:avLst/>
            <a:gdLst/>
            <a:ahLst/>
            <a:cxnLst/>
            <a:rect l="l" t="t" r="r" b="b"/>
            <a:pathLst>
              <a:path w="7208280" h="11351623">
                <a:moveTo>
                  <a:pt x="0" y="0"/>
                </a:moveTo>
                <a:lnTo>
                  <a:pt x="7208280" y="0"/>
                </a:lnTo>
                <a:lnTo>
                  <a:pt x="7208280" y="11351622"/>
                </a:lnTo>
                <a:lnTo>
                  <a:pt x="0" y="113516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81137" flipH="1">
            <a:off x="199386" y="5418820"/>
            <a:ext cx="10497996" cy="1622418"/>
          </a:xfrm>
          <a:custGeom>
            <a:avLst/>
            <a:gdLst/>
            <a:ahLst/>
            <a:cxnLst/>
            <a:rect l="l" t="t" r="r" b="b"/>
            <a:pathLst>
              <a:path w="10497996" h="1622418">
                <a:moveTo>
                  <a:pt x="10497996" y="0"/>
                </a:moveTo>
                <a:lnTo>
                  <a:pt x="0" y="0"/>
                </a:lnTo>
                <a:lnTo>
                  <a:pt x="0" y="1622418"/>
                </a:lnTo>
                <a:lnTo>
                  <a:pt x="10497996" y="1622418"/>
                </a:lnTo>
                <a:lnTo>
                  <a:pt x="10497996"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760737">
            <a:off x="7882779" y="7259208"/>
            <a:ext cx="1637150" cy="1631011"/>
          </a:xfrm>
          <a:custGeom>
            <a:avLst/>
            <a:gdLst/>
            <a:ahLst/>
            <a:cxnLst/>
            <a:rect l="l" t="t" r="r" b="b"/>
            <a:pathLst>
              <a:path w="1637150" h="1631011">
                <a:moveTo>
                  <a:pt x="0" y="0"/>
                </a:moveTo>
                <a:lnTo>
                  <a:pt x="1637151" y="0"/>
                </a:lnTo>
                <a:lnTo>
                  <a:pt x="1637151" y="1631011"/>
                </a:lnTo>
                <a:lnTo>
                  <a:pt x="0" y="16310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755557" flipH="1">
            <a:off x="16567881" y="1122146"/>
            <a:ext cx="963103" cy="959492"/>
          </a:xfrm>
          <a:custGeom>
            <a:avLst/>
            <a:gdLst/>
            <a:ahLst/>
            <a:cxnLst/>
            <a:rect l="l" t="t" r="r" b="b"/>
            <a:pathLst>
              <a:path w="963103" h="959492">
                <a:moveTo>
                  <a:pt x="963103" y="0"/>
                </a:moveTo>
                <a:lnTo>
                  <a:pt x="0" y="0"/>
                </a:lnTo>
                <a:lnTo>
                  <a:pt x="0" y="959492"/>
                </a:lnTo>
                <a:lnTo>
                  <a:pt x="963103" y="959492"/>
                </a:lnTo>
                <a:lnTo>
                  <a:pt x="963103"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700426" flipH="1">
            <a:off x="9576653" y="8649345"/>
            <a:ext cx="1222494" cy="1217910"/>
          </a:xfrm>
          <a:custGeom>
            <a:avLst/>
            <a:gdLst/>
            <a:ahLst/>
            <a:cxnLst/>
            <a:rect l="l" t="t" r="r" b="b"/>
            <a:pathLst>
              <a:path w="1222494" h="1217910">
                <a:moveTo>
                  <a:pt x="1222494" y="0"/>
                </a:moveTo>
                <a:lnTo>
                  <a:pt x="0" y="0"/>
                </a:lnTo>
                <a:lnTo>
                  <a:pt x="0" y="1217910"/>
                </a:lnTo>
                <a:lnTo>
                  <a:pt x="1222494" y="1217910"/>
                </a:lnTo>
                <a:lnTo>
                  <a:pt x="1222494"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1053858" y="1313546"/>
            <a:ext cx="6861369" cy="3686175"/>
          </a:xfrm>
          <a:prstGeom prst="rect">
            <a:avLst/>
          </a:prstGeom>
        </p:spPr>
        <p:txBody>
          <a:bodyPr lIns="0" tIns="0" rIns="0" bIns="0" rtlCol="0" anchor="t">
            <a:spAutoFit/>
          </a:bodyPr>
          <a:lstStyle/>
          <a:p>
            <a:pPr algn="l">
              <a:lnSpc>
                <a:spcPts val="14520"/>
              </a:lnSpc>
            </a:pPr>
            <a:r>
              <a:rPr lang="en-US" sz="121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瑞幸市场调研报告</a:t>
            </a:r>
            <a:endParaRPr lang="en-US" sz="121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9" name="TextBox 9"/>
          <p:cNvSpPr txBox="1"/>
          <p:nvPr/>
        </p:nvSpPr>
        <p:spPr>
          <a:xfrm>
            <a:off x="590589" y="6192874"/>
            <a:ext cx="7478751" cy="573405"/>
          </a:xfrm>
          <a:prstGeom prst="rect">
            <a:avLst/>
          </a:prstGeom>
        </p:spPr>
        <p:txBody>
          <a:bodyPr lIns="0" tIns="0" rIns="0" bIns="0" rtlCol="0" anchor="t">
            <a:spAutoFit/>
          </a:bodyPr>
          <a:lstStyle/>
          <a:p>
            <a:pPr algn="l">
              <a:lnSpc>
                <a:spcPts val="4560"/>
              </a:lnSpc>
            </a:pPr>
            <a:r>
              <a:rPr lang="en-US" sz="4000" b="1" spc="292">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问卷调查结果及相关营销建议</a:t>
            </a:r>
            <a:endParaRPr lang="en-US" sz="4000" b="1" spc="292">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2360333" y="8008708"/>
            <a:ext cx="5709006" cy="542925"/>
          </a:xfrm>
          <a:prstGeom prst="rect">
            <a:avLst/>
          </a:prstGeom>
        </p:spPr>
        <p:txBody>
          <a:bodyPr lIns="0" tIns="0" rIns="0" bIns="0" rtlCol="0" anchor="t">
            <a:spAutoFit/>
          </a:bodyPr>
          <a:lstStyle/>
          <a:p>
            <a:pPr algn="l">
              <a:lnSpc>
                <a:spcPts val="4205"/>
              </a:lnSpc>
              <a:spcBef>
                <a:spcPct val="0"/>
              </a:spcBef>
            </a:pPr>
            <a:r>
              <a:rPr lang="en-US" sz="3505" b="1" i="1" spc="231">
                <a:solidFill>
                  <a:srgbClr val="FFFFFF"/>
                </a:solidFill>
                <a:latin typeface="Aileron Bold Italics" panose="00000800000000000000"/>
                <a:ea typeface="Aileron Bold Italics" panose="00000800000000000000"/>
                <a:cs typeface="Aileron Bold Italics" panose="00000800000000000000"/>
                <a:sym typeface="Aileron Bold Italics" panose="00000800000000000000"/>
              </a:rPr>
              <a:t>数据别跟我作队</a:t>
            </a:r>
            <a:endParaRPr lang="en-US" sz="3505" b="1" i="1" spc="231">
              <a:solidFill>
                <a:srgbClr val="FFFFFF"/>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181137" flipH="1">
            <a:off x="5255996" y="4368525"/>
            <a:ext cx="10283775" cy="1589311"/>
          </a:xfrm>
          <a:custGeom>
            <a:avLst/>
            <a:gdLst/>
            <a:ahLst/>
            <a:cxnLst/>
            <a:rect l="l" t="t" r="r" b="b"/>
            <a:pathLst>
              <a:path w="10283775" h="1589311">
                <a:moveTo>
                  <a:pt x="10283775" y="0"/>
                </a:moveTo>
                <a:lnTo>
                  <a:pt x="0" y="0"/>
                </a:lnTo>
                <a:lnTo>
                  <a:pt x="0" y="1589311"/>
                </a:lnTo>
                <a:lnTo>
                  <a:pt x="10283775" y="1589311"/>
                </a:lnTo>
                <a:lnTo>
                  <a:pt x="10283775"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181137" flipH="1">
            <a:off x="5255996" y="6013187"/>
            <a:ext cx="10283775" cy="1589311"/>
          </a:xfrm>
          <a:custGeom>
            <a:avLst/>
            <a:gdLst/>
            <a:ahLst/>
            <a:cxnLst/>
            <a:rect l="l" t="t" r="r" b="b"/>
            <a:pathLst>
              <a:path w="10283775" h="1589311">
                <a:moveTo>
                  <a:pt x="10283775" y="0"/>
                </a:moveTo>
                <a:lnTo>
                  <a:pt x="0" y="0"/>
                </a:lnTo>
                <a:lnTo>
                  <a:pt x="0" y="1589310"/>
                </a:lnTo>
                <a:lnTo>
                  <a:pt x="10283775" y="1589310"/>
                </a:lnTo>
                <a:lnTo>
                  <a:pt x="10283775"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81137" flipH="1">
            <a:off x="5255996" y="7657848"/>
            <a:ext cx="10283775" cy="1589311"/>
          </a:xfrm>
          <a:custGeom>
            <a:avLst/>
            <a:gdLst/>
            <a:ahLst/>
            <a:cxnLst/>
            <a:rect l="l" t="t" r="r" b="b"/>
            <a:pathLst>
              <a:path w="10283775" h="1589311">
                <a:moveTo>
                  <a:pt x="10283775" y="0"/>
                </a:moveTo>
                <a:lnTo>
                  <a:pt x="0" y="0"/>
                </a:lnTo>
                <a:lnTo>
                  <a:pt x="0" y="1589310"/>
                </a:lnTo>
                <a:lnTo>
                  <a:pt x="10283775" y="1589310"/>
                </a:lnTo>
                <a:lnTo>
                  <a:pt x="10283775"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rot="-5400000">
            <a:off x="1052733" y="-13642654"/>
            <a:ext cx="14988201" cy="21149016"/>
          </a:xfrm>
          <a:custGeom>
            <a:avLst/>
            <a:gdLst/>
            <a:ahLst/>
            <a:cxnLst/>
            <a:rect l="l" t="t" r="r" b="b"/>
            <a:pathLst>
              <a:path w="14988201" h="21149016">
                <a:moveTo>
                  <a:pt x="0" y="0"/>
                </a:moveTo>
                <a:lnTo>
                  <a:pt x="14988200" y="0"/>
                </a:lnTo>
                <a:lnTo>
                  <a:pt x="14988200" y="21149016"/>
                </a:lnTo>
                <a:lnTo>
                  <a:pt x="0" y="21149016"/>
                </a:lnTo>
                <a:lnTo>
                  <a:pt x="0" y="0"/>
                </a:lnTo>
                <a:close/>
              </a:path>
            </a:pathLst>
          </a:custGeom>
          <a:blipFill>
            <a:blip r:embed="rId3"/>
            <a:stretch>
              <a:fillRect t="-2106" b="-6923"/>
            </a:stretch>
          </a:blipFill>
        </p:spPr>
      </p:sp>
      <p:sp>
        <p:nvSpPr>
          <p:cNvPr id="6" name="TextBox 6"/>
          <p:cNvSpPr txBox="1"/>
          <p:nvPr/>
        </p:nvSpPr>
        <p:spPr>
          <a:xfrm>
            <a:off x="7851610" y="1019175"/>
            <a:ext cx="2584781" cy="1381125"/>
          </a:xfrm>
          <a:prstGeom prst="rect">
            <a:avLst/>
          </a:prstGeom>
        </p:spPr>
        <p:txBody>
          <a:bodyPr lIns="0" tIns="0" rIns="0" bIns="0" rtlCol="0" anchor="t">
            <a:spAutoFit/>
          </a:bodyPr>
          <a:lstStyle/>
          <a:p>
            <a:pPr algn="ctr">
              <a:lnSpc>
                <a:spcPts val="10800"/>
              </a:lnSpc>
            </a:pPr>
            <a:r>
              <a:rPr lang="en-US" sz="9000" b="1">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目录</a:t>
            </a:r>
            <a:endParaRPr lang="en-US" sz="9000" b="1">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7" name="TextBox 7"/>
          <p:cNvSpPr txBox="1"/>
          <p:nvPr/>
        </p:nvSpPr>
        <p:spPr>
          <a:xfrm>
            <a:off x="7726573" y="2540750"/>
            <a:ext cx="2834854" cy="419100"/>
          </a:xfrm>
          <a:prstGeom prst="rect">
            <a:avLst/>
          </a:prstGeom>
        </p:spPr>
        <p:txBody>
          <a:bodyPr lIns="0" tIns="0" rIns="0" bIns="0" rtlCol="0" anchor="t">
            <a:spAutoFit/>
          </a:bodyPr>
          <a:lstStyle/>
          <a:p>
            <a:pPr algn="ctr">
              <a:lnSpc>
                <a:spcPts val="3365"/>
              </a:lnSpc>
              <a:spcBef>
                <a:spcPct val="0"/>
              </a:spcBef>
            </a:pPr>
            <a:r>
              <a:rPr lang="en-US" sz="2805" spc="185">
                <a:solidFill>
                  <a:srgbClr val="393536"/>
                </a:solidFill>
                <a:latin typeface="Aileron" panose="00000500000000000000"/>
                <a:ea typeface="Aileron" panose="00000500000000000000"/>
                <a:cs typeface="Aileron" panose="00000500000000000000"/>
                <a:sym typeface="Aileron" panose="00000500000000000000"/>
              </a:rPr>
              <a:t>CONTENT</a:t>
            </a:r>
            <a:endParaRPr lang="en-US" sz="2805" spc="185">
              <a:solidFill>
                <a:srgbClr val="393536"/>
              </a:solidFill>
              <a:latin typeface="Aileron" panose="00000500000000000000"/>
              <a:ea typeface="Aileron" panose="00000500000000000000"/>
              <a:cs typeface="Aileron" panose="00000500000000000000"/>
              <a:sym typeface="Aileron" panose="00000500000000000000"/>
            </a:endParaRPr>
          </a:p>
        </p:txBody>
      </p:sp>
      <p:sp>
        <p:nvSpPr>
          <p:cNvPr id="8" name="TextBox 8"/>
          <p:cNvSpPr txBox="1"/>
          <p:nvPr/>
        </p:nvSpPr>
        <p:spPr>
          <a:xfrm>
            <a:off x="6726267" y="4909476"/>
            <a:ext cx="5637328" cy="888365"/>
          </a:xfrm>
          <a:prstGeom prst="rect">
            <a:avLst/>
          </a:prstGeom>
        </p:spPr>
        <p:txBody>
          <a:bodyPr lIns="0" tIns="0" rIns="0" bIns="0" rtlCol="0" anchor="t">
            <a:spAutoFit/>
          </a:bodyPr>
          <a:lstStyle/>
          <a:p>
            <a:pPr algn="ctr">
              <a:lnSpc>
                <a:spcPts val="7210"/>
              </a:lnSpc>
              <a:spcBef>
                <a:spcPct val="0"/>
              </a:spcBef>
            </a:pPr>
            <a:r>
              <a:rPr lang="en-US" sz="5150" b="1" spc="509">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调查目的和任务</a:t>
            </a:r>
            <a:endParaRPr lang="en-US" sz="5150" b="1" spc="509">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9" name="TextBox 9"/>
          <p:cNvSpPr txBox="1"/>
          <p:nvPr/>
        </p:nvSpPr>
        <p:spPr>
          <a:xfrm>
            <a:off x="6345874" y="6630263"/>
            <a:ext cx="5791763" cy="885406"/>
          </a:xfrm>
          <a:prstGeom prst="rect">
            <a:avLst/>
          </a:prstGeom>
        </p:spPr>
        <p:txBody>
          <a:bodyPr lIns="0" tIns="0" rIns="0" bIns="0" rtlCol="0" anchor="t">
            <a:spAutoFit/>
          </a:bodyPr>
          <a:lstStyle/>
          <a:p>
            <a:pPr algn="ctr">
              <a:lnSpc>
                <a:spcPts val="7215"/>
              </a:lnSpc>
              <a:spcBef>
                <a:spcPct val="0"/>
              </a:spcBef>
            </a:pPr>
            <a:r>
              <a:rPr lang="en-US" sz="5150" b="1" spc="510">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问卷调查结果</a:t>
            </a:r>
            <a:endParaRPr lang="en-US" sz="5150" b="1" spc="510">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6510194" y="8272250"/>
            <a:ext cx="5791763" cy="885406"/>
          </a:xfrm>
          <a:prstGeom prst="rect">
            <a:avLst/>
          </a:prstGeom>
        </p:spPr>
        <p:txBody>
          <a:bodyPr lIns="0" tIns="0" rIns="0" bIns="0" rtlCol="0" anchor="t">
            <a:spAutoFit/>
          </a:bodyPr>
          <a:lstStyle/>
          <a:p>
            <a:pPr algn="ctr">
              <a:lnSpc>
                <a:spcPts val="7215"/>
              </a:lnSpc>
              <a:spcBef>
                <a:spcPct val="0"/>
              </a:spcBef>
            </a:pPr>
            <a:r>
              <a:rPr lang="en-US" sz="5150" b="1" spc="510">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相关营销建议</a:t>
            </a:r>
            <a:endParaRPr lang="en-US" sz="5150" b="1" spc="510">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1" name="Freeform 11"/>
          <p:cNvSpPr/>
          <p:nvPr/>
        </p:nvSpPr>
        <p:spPr>
          <a:xfrm rot="760737">
            <a:off x="1364646" y="7300419"/>
            <a:ext cx="1547355" cy="1541552"/>
          </a:xfrm>
          <a:custGeom>
            <a:avLst/>
            <a:gdLst/>
            <a:ahLst/>
            <a:cxnLst/>
            <a:rect l="l" t="t" r="r" b="b"/>
            <a:pathLst>
              <a:path w="1547355" h="1541552">
                <a:moveTo>
                  <a:pt x="0" y="0"/>
                </a:moveTo>
                <a:lnTo>
                  <a:pt x="1547355" y="0"/>
                </a:lnTo>
                <a:lnTo>
                  <a:pt x="1547355" y="1541552"/>
                </a:lnTo>
                <a:lnTo>
                  <a:pt x="0" y="1541552"/>
                </a:lnTo>
                <a:lnTo>
                  <a:pt x="0" y="0"/>
                </a:lnTo>
                <a:close/>
              </a:path>
            </a:pathLst>
          </a:custGeom>
          <a:blipFill>
            <a:blip r:embed="rId4">
              <a:alphaModFix amt="51000"/>
              <a:extLst>
                <a:ext uri="{96DAC541-7B7A-43D3-8B79-37D633B846F1}">
                  <asvg:svgBlip xmlns:asvg="http://schemas.microsoft.com/office/drawing/2016/SVG/main" r:embed="rId5"/>
                </a:ext>
              </a:extLst>
            </a:blip>
            <a:stretch>
              <a:fillRect/>
            </a:stretch>
          </a:blipFill>
        </p:spPr>
      </p:sp>
      <p:sp>
        <p:nvSpPr>
          <p:cNvPr id="12" name="Freeform 12"/>
          <p:cNvSpPr/>
          <p:nvPr/>
        </p:nvSpPr>
        <p:spPr>
          <a:xfrm rot="-341942" flipH="1">
            <a:off x="15780190" y="5317880"/>
            <a:ext cx="1176317" cy="1171905"/>
          </a:xfrm>
          <a:custGeom>
            <a:avLst/>
            <a:gdLst/>
            <a:ahLst/>
            <a:cxnLst/>
            <a:rect l="l" t="t" r="r" b="b"/>
            <a:pathLst>
              <a:path w="1176317" h="1171905">
                <a:moveTo>
                  <a:pt x="1176316" y="0"/>
                </a:moveTo>
                <a:lnTo>
                  <a:pt x="0" y="0"/>
                </a:lnTo>
                <a:lnTo>
                  <a:pt x="0" y="1171906"/>
                </a:lnTo>
                <a:lnTo>
                  <a:pt x="1176316" y="1171906"/>
                </a:lnTo>
                <a:lnTo>
                  <a:pt x="1176316" y="0"/>
                </a:lnTo>
                <a:close/>
              </a:path>
            </a:pathLst>
          </a:custGeom>
          <a:blipFill>
            <a:blip r:embed="rId4">
              <a:alphaModFix amt="51000"/>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4931220" y="4969701"/>
            <a:ext cx="2829307" cy="969945"/>
          </a:xfrm>
          <a:prstGeom prst="rect">
            <a:avLst/>
          </a:prstGeom>
        </p:spPr>
        <p:txBody>
          <a:bodyPr lIns="0" tIns="0" rIns="0" bIns="0" rtlCol="0" anchor="t">
            <a:spAutoFit/>
          </a:bodyPr>
          <a:lstStyle/>
          <a:p>
            <a:pPr algn="ctr">
              <a:lnSpc>
                <a:spcPts val="7685"/>
              </a:lnSpc>
              <a:spcBef>
                <a:spcPct val="0"/>
              </a:spcBef>
            </a:pPr>
            <a:r>
              <a:rPr lang="en-US" sz="6405" b="1" i="1" spc="422">
                <a:solidFill>
                  <a:srgbClr val="8F6956"/>
                </a:solidFill>
                <a:latin typeface="Aileron Bold Italics" panose="00000800000000000000"/>
                <a:ea typeface="Aileron Bold Italics" panose="00000800000000000000"/>
                <a:cs typeface="Aileron Bold Italics" panose="00000800000000000000"/>
                <a:sym typeface="Aileron Bold Italics" panose="00000800000000000000"/>
              </a:rPr>
              <a:t>01</a:t>
            </a:r>
            <a:endParaRPr lang="en-US" sz="6405" b="1" i="1" spc="422">
              <a:solidFill>
                <a:srgbClr val="8F6956"/>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
        <p:nvSpPr>
          <p:cNvPr id="14" name="TextBox 14"/>
          <p:cNvSpPr txBox="1"/>
          <p:nvPr/>
        </p:nvSpPr>
        <p:spPr>
          <a:xfrm>
            <a:off x="4931220" y="6692458"/>
            <a:ext cx="2829307" cy="969945"/>
          </a:xfrm>
          <a:prstGeom prst="rect">
            <a:avLst/>
          </a:prstGeom>
        </p:spPr>
        <p:txBody>
          <a:bodyPr lIns="0" tIns="0" rIns="0" bIns="0" rtlCol="0" anchor="t">
            <a:spAutoFit/>
          </a:bodyPr>
          <a:lstStyle/>
          <a:p>
            <a:pPr algn="ctr">
              <a:lnSpc>
                <a:spcPts val="7685"/>
              </a:lnSpc>
              <a:spcBef>
                <a:spcPct val="0"/>
              </a:spcBef>
            </a:pPr>
            <a:r>
              <a:rPr lang="en-US" sz="6405" b="1" i="1" spc="422">
                <a:solidFill>
                  <a:srgbClr val="8F6956"/>
                </a:solidFill>
                <a:latin typeface="Aileron Bold Italics" panose="00000800000000000000"/>
                <a:ea typeface="Aileron Bold Italics" panose="00000800000000000000"/>
                <a:cs typeface="Aileron Bold Italics" panose="00000800000000000000"/>
                <a:sym typeface="Aileron Bold Italics" panose="00000800000000000000"/>
              </a:rPr>
              <a:t>02</a:t>
            </a:r>
            <a:endParaRPr lang="en-US" sz="6405" b="1" i="1" spc="422">
              <a:solidFill>
                <a:srgbClr val="8F6956"/>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
        <p:nvSpPr>
          <p:cNvPr id="15" name="TextBox 15"/>
          <p:cNvSpPr txBox="1"/>
          <p:nvPr/>
        </p:nvSpPr>
        <p:spPr>
          <a:xfrm>
            <a:off x="4931220" y="8311060"/>
            <a:ext cx="2829307" cy="969945"/>
          </a:xfrm>
          <a:prstGeom prst="rect">
            <a:avLst/>
          </a:prstGeom>
        </p:spPr>
        <p:txBody>
          <a:bodyPr lIns="0" tIns="0" rIns="0" bIns="0" rtlCol="0" anchor="t">
            <a:spAutoFit/>
          </a:bodyPr>
          <a:lstStyle/>
          <a:p>
            <a:pPr algn="ctr">
              <a:lnSpc>
                <a:spcPts val="7685"/>
              </a:lnSpc>
              <a:spcBef>
                <a:spcPct val="0"/>
              </a:spcBef>
            </a:pPr>
            <a:r>
              <a:rPr lang="en-US" sz="6405" b="1" i="1" spc="422">
                <a:solidFill>
                  <a:srgbClr val="8F6956"/>
                </a:solidFill>
                <a:latin typeface="Aileron Bold Italics" panose="00000800000000000000"/>
                <a:ea typeface="Aileron Bold Italics" panose="00000800000000000000"/>
                <a:cs typeface="Aileron Bold Italics" panose="00000800000000000000"/>
                <a:sym typeface="Aileron Bold Italics" panose="00000800000000000000"/>
              </a:rPr>
              <a:t>03</a:t>
            </a:r>
            <a:endParaRPr lang="en-US" sz="6405" b="1" i="1" spc="422">
              <a:solidFill>
                <a:srgbClr val="8F6956"/>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TextBox 2"/>
          <p:cNvSpPr txBox="1"/>
          <p:nvPr/>
        </p:nvSpPr>
        <p:spPr>
          <a:xfrm>
            <a:off x="4925791" y="6910343"/>
            <a:ext cx="8436418" cy="528320"/>
          </a:xfrm>
          <a:prstGeom prst="rect">
            <a:avLst/>
          </a:prstGeom>
        </p:spPr>
        <p:txBody>
          <a:bodyPr lIns="0" tIns="0" rIns="0" bIns="0" rtlCol="0" anchor="t">
            <a:spAutoFit/>
          </a:bodyPr>
          <a:lstStyle/>
          <a:p>
            <a:pPr algn="ctr">
              <a:lnSpc>
                <a:spcPts val="4480"/>
              </a:lnSpc>
              <a:spcBef>
                <a:spcPct val="0"/>
              </a:spcBef>
            </a:pPr>
            <a:r>
              <a:rPr lang="en-US" sz="3200" spc="316">
                <a:solidFill>
                  <a:srgbClr val="FFFFFF"/>
                </a:solidFill>
                <a:latin typeface="思源黑体 Light" panose="020B0400000000000000" charset="-122"/>
                <a:ea typeface="思源黑体 Light" panose="020B0400000000000000" charset="-122"/>
                <a:cs typeface="思源黑体 Light" panose="020B0400000000000000" charset="-122"/>
                <a:sym typeface="思源黑体 Light" panose="020B0400000000000000" charset="-122"/>
              </a:rPr>
              <a:t>DIAOCHA MUDI HE RENWU</a:t>
            </a:r>
            <a:endParaRPr lang="en-US" sz="3200" spc="316">
              <a:solidFill>
                <a:srgbClr val="FFFFFF"/>
              </a:solidFill>
              <a:latin typeface="思源黑体 Light" panose="020B0400000000000000" charset="-122"/>
              <a:ea typeface="思源黑体 Light" panose="020B0400000000000000" charset="-122"/>
              <a:cs typeface="思源黑体 Light" panose="020B0400000000000000" charset="-122"/>
              <a:sym typeface="思源黑体 Light" panose="020B0400000000000000" charset="-122"/>
            </a:endParaRPr>
          </a:p>
        </p:txBody>
      </p:sp>
      <p:sp>
        <p:nvSpPr>
          <p:cNvPr id="3" name="Freeform 3"/>
          <p:cNvSpPr/>
          <p:nvPr/>
        </p:nvSpPr>
        <p:spPr>
          <a:xfrm rot="412827" flipH="1">
            <a:off x="10957580" y="3624860"/>
            <a:ext cx="9636813" cy="9600675"/>
          </a:xfrm>
          <a:custGeom>
            <a:avLst/>
            <a:gdLst/>
            <a:ahLst/>
            <a:cxnLst/>
            <a:rect l="l" t="t" r="r" b="b"/>
            <a:pathLst>
              <a:path w="9636813" h="9600675">
                <a:moveTo>
                  <a:pt x="9636813" y="0"/>
                </a:moveTo>
                <a:lnTo>
                  <a:pt x="0" y="0"/>
                </a:lnTo>
                <a:lnTo>
                  <a:pt x="0" y="9600675"/>
                </a:lnTo>
                <a:lnTo>
                  <a:pt x="9636813" y="9600675"/>
                </a:lnTo>
                <a:lnTo>
                  <a:pt x="9636813"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4" name="Freeform 4"/>
          <p:cNvSpPr/>
          <p:nvPr/>
        </p:nvSpPr>
        <p:spPr>
          <a:xfrm rot="389987" flipH="1">
            <a:off x="-3155048" y="-2199765"/>
            <a:ext cx="6310096" cy="6286433"/>
          </a:xfrm>
          <a:custGeom>
            <a:avLst/>
            <a:gdLst/>
            <a:ahLst/>
            <a:cxnLst/>
            <a:rect l="l" t="t" r="r" b="b"/>
            <a:pathLst>
              <a:path w="6310096" h="6286433">
                <a:moveTo>
                  <a:pt x="6310096" y="0"/>
                </a:moveTo>
                <a:lnTo>
                  <a:pt x="0" y="0"/>
                </a:lnTo>
                <a:lnTo>
                  <a:pt x="0" y="6286434"/>
                </a:lnTo>
                <a:lnTo>
                  <a:pt x="6310096" y="6286434"/>
                </a:lnTo>
                <a:lnTo>
                  <a:pt x="6310096"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5" name="Freeform 5"/>
          <p:cNvSpPr/>
          <p:nvPr/>
        </p:nvSpPr>
        <p:spPr>
          <a:xfrm rot="-104369" flipH="1">
            <a:off x="2775017" y="3850293"/>
            <a:ext cx="16293341" cy="2518062"/>
          </a:xfrm>
          <a:custGeom>
            <a:avLst/>
            <a:gdLst/>
            <a:ahLst/>
            <a:cxnLst/>
            <a:rect l="l" t="t" r="r" b="b"/>
            <a:pathLst>
              <a:path w="16293341" h="2518062">
                <a:moveTo>
                  <a:pt x="16293340" y="0"/>
                </a:moveTo>
                <a:lnTo>
                  <a:pt x="0" y="0"/>
                </a:lnTo>
                <a:lnTo>
                  <a:pt x="0" y="2518062"/>
                </a:lnTo>
                <a:lnTo>
                  <a:pt x="16293340" y="2518062"/>
                </a:lnTo>
                <a:lnTo>
                  <a:pt x="1629334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575423" y="4796025"/>
            <a:ext cx="9137154" cy="1381125"/>
          </a:xfrm>
          <a:prstGeom prst="rect">
            <a:avLst/>
          </a:prstGeom>
        </p:spPr>
        <p:txBody>
          <a:bodyPr lIns="0" tIns="0" rIns="0" bIns="0" rtlCol="0" anchor="t">
            <a:spAutoFit/>
          </a:bodyPr>
          <a:lstStyle/>
          <a:p>
            <a:pPr algn="ctr">
              <a:lnSpc>
                <a:spcPts val="10800"/>
              </a:lnSpc>
            </a:pPr>
            <a:r>
              <a:rPr lang="en-US" sz="9000" b="1">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调查目的和任务</a:t>
            </a:r>
            <a:endParaRPr lang="en-US" sz="9000" b="1">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7" name="TextBox 7"/>
          <p:cNvSpPr txBox="1"/>
          <p:nvPr/>
        </p:nvSpPr>
        <p:spPr>
          <a:xfrm>
            <a:off x="6452405" y="2276837"/>
            <a:ext cx="5383191" cy="2038350"/>
          </a:xfrm>
          <a:prstGeom prst="rect">
            <a:avLst/>
          </a:prstGeom>
        </p:spPr>
        <p:txBody>
          <a:bodyPr lIns="0" tIns="0" rIns="0" bIns="0" rtlCol="0" anchor="t">
            <a:spAutoFit/>
          </a:bodyPr>
          <a:lstStyle/>
          <a:p>
            <a:pPr algn="ctr">
              <a:lnSpc>
                <a:spcPts val="16025"/>
              </a:lnSpc>
              <a:spcBef>
                <a:spcPct val="0"/>
              </a:spcBef>
            </a:pPr>
            <a:r>
              <a:rPr lang="en-US" sz="13355" b="1" i="1" spc="881">
                <a:solidFill>
                  <a:srgbClr val="FFFFFF"/>
                </a:solidFill>
                <a:latin typeface="Aileron Bold Italics" panose="00000800000000000000"/>
                <a:ea typeface="Aileron Bold Italics" panose="00000800000000000000"/>
                <a:cs typeface="Aileron Bold Italics" panose="00000800000000000000"/>
                <a:sym typeface="Aileron Bold Italics" panose="00000800000000000000"/>
              </a:rPr>
              <a:t>01</a:t>
            </a:r>
            <a:endParaRPr lang="en-US" sz="13355" b="1" i="1" spc="881">
              <a:solidFill>
                <a:srgbClr val="FFFFFF"/>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
        <p:nvSpPr>
          <p:cNvPr id="8" name="Freeform 8"/>
          <p:cNvSpPr/>
          <p:nvPr/>
        </p:nvSpPr>
        <p:spPr>
          <a:xfrm rot="-3768068">
            <a:off x="16573542" y="-12519486"/>
            <a:ext cx="14988201" cy="21149016"/>
          </a:xfrm>
          <a:custGeom>
            <a:avLst/>
            <a:gdLst/>
            <a:ahLst/>
            <a:cxnLst/>
            <a:rect l="l" t="t" r="r" b="b"/>
            <a:pathLst>
              <a:path w="14988201" h="21149016">
                <a:moveTo>
                  <a:pt x="0" y="0"/>
                </a:moveTo>
                <a:lnTo>
                  <a:pt x="14988201" y="0"/>
                </a:lnTo>
                <a:lnTo>
                  <a:pt x="14988201" y="21149016"/>
                </a:lnTo>
                <a:lnTo>
                  <a:pt x="0" y="21149016"/>
                </a:lnTo>
                <a:lnTo>
                  <a:pt x="0" y="0"/>
                </a:lnTo>
                <a:close/>
              </a:path>
            </a:pathLst>
          </a:custGeom>
          <a:blipFill>
            <a:blip r:embed="rId5"/>
            <a:stretch>
              <a:fillRect t="-2106" b="-6923"/>
            </a:stretch>
          </a:blipFill>
        </p:spPr>
      </p:sp>
      <p:sp>
        <p:nvSpPr>
          <p:cNvPr id="9" name="Freeform 9"/>
          <p:cNvSpPr/>
          <p:nvPr/>
        </p:nvSpPr>
        <p:spPr>
          <a:xfrm rot="7219960">
            <a:off x="-4944047" y="5967047"/>
            <a:ext cx="14988201" cy="21149016"/>
          </a:xfrm>
          <a:custGeom>
            <a:avLst/>
            <a:gdLst/>
            <a:ahLst/>
            <a:cxnLst/>
            <a:rect l="l" t="t" r="r" b="b"/>
            <a:pathLst>
              <a:path w="14988201" h="21149016">
                <a:moveTo>
                  <a:pt x="0" y="0"/>
                </a:moveTo>
                <a:lnTo>
                  <a:pt x="14988200" y="0"/>
                </a:lnTo>
                <a:lnTo>
                  <a:pt x="14988200" y="21149016"/>
                </a:lnTo>
                <a:lnTo>
                  <a:pt x="0" y="21149016"/>
                </a:lnTo>
                <a:lnTo>
                  <a:pt x="0" y="0"/>
                </a:lnTo>
                <a:close/>
              </a:path>
            </a:pathLst>
          </a:custGeom>
          <a:blipFill>
            <a:blip r:embed="rId5"/>
            <a:stretch>
              <a:fillRect t="-2106" b="-6923"/>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1052733" y="-12290266"/>
            <a:ext cx="14772691" cy="21149016"/>
          </a:xfrm>
          <a:custGeom>
            <a:avLst/>
            <a:gdLst/>
            <a:ahLst/>
            <a:cxnLst/>
            <a:rect l="l" t="t" r="r" b="b"/>
            <a:pathLst>
              <a:path w="14772691" h="21149016">
                <a:moveTo>
                  <a:pt x="0" y="0"/>
                </a:moveTo>
                <a:lnTo>
                  <a:pt x="14772691" y="0"/>
                </a:lnTo>
                <a:lnTo>
                  <a:pt x="14772691" y="21149016"/>
                </a:lnTo>
                <a:lnTo>
                  <a:pt x="0" y="21149016"/>
                </a:lnTo>
                <a:lnTo>
                  <a:pt x="0" y="0"/>
                </a:lnTo>
                <a:close/>
              </a:path>
            </a:pathLst>
          </a:custGeom>
          <a:blipFill>
            <a:blip r:embed="rId1"/>
            <a:stretch>
              <a:fillRect l="-1458" t="-2106" b="-6923"/>
            </a:stretch>
          </a:blipFill>
        </p:spPr>
      </p:sp>
      <p:sp>
        <p:nvSpPr>
          <p:cNvPr id="3" name="TextBox 3"/>
          <p:cNvSpPr txBox="1"/>
          <p:nvPr/>
        </p:nvSpPr>
        <p:spPr>
          <a:xfrm>
            <a:off x="1028700" y="1019175"/>
            <a:ext cx="5686500" cy="1381125"/>
          </a:xfrm>
          <a:prstGeom prst="rect">
            <a:avLst/>
          </a:prstGeom>
        </p:spPr>
        <p:txBody>
          <a:bodyPr lIns="0" tIns="0" rIns="0" bIns="0" rtlCol="0" anchor="t">
            <a:spAutoFit/>
          </a:bodyPr>
          <a:lstStyle/>
          <a:p>
            <a:pPr algn="l">
              <a:lnSpc>
                <a:spcPts val="10800"/>
              </a:lnSpc>
            </a:pPr>
            <a:r>
              <a:rPr lang="en-US" sz="9000" b="1">
                <a:solidFill>
                  <a:srgbClr val="39353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调查目的</a:t>
            </a:r>
            <a:endParaRPr lang="en-US" sz="9000" b="1">
              <a:solidFill>
                <a:srgbClr val="39353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4" name="Freeform 4"/>
          <p:cNvSpPr/>
          <p:nvPr/>
        </p:nvSpPr>
        <p:spPr>
          <a:xfrm rot="249840" flipH="1">
            <a:off x="8668941" y="713127"/>
            <a:ext cx="8565156" cy="8533037"/>
          </a:xfrm>
          <a:custGeom>
            <a:avLst/>
            <a:gdLst/>
            <a:ahLst/>
            <a:cxnLst/>
            <a:rect l="l" t="t" r="r" b="b"/>
            <a:pathLst>
              <a:path w="8565156" h="8533037">
                <a:moveTo>
                  <a:pt x="8565156" y="0"/>
                </a:moveTo>
                <a:lnTo>
                  <a:pt x="0" y="0"/>
                </a:lnTo>
                <a:lnTo>
                  <a:pt x="0" y="8533037"/>
                </a:lnTo>
                <a:lnTo>
                  <a:pt x="8565156" y="8533037"/>
                </a:lnTo>
                <a:lnTo>
                  <a:pt x="8565156"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Freeform 5"/>
          <p:cNvSpPr/>
          <p:nvPr/>
        </p:nvSpPr>
        <p:spPr>
          <a:xfrm rot="-2363994" flipH="1">
            <a:off x="15329527" y="7346712"/>
            <a:ext cx="1832007" cy="1825137"/>
          </a:xfrm>
          <a:custGeom>
            <a:avLst/>
            <a:gdLst/>
            <a:ahLst/>
            <a:cxnLst/>
            <a:rect l="l" t="t" r="r" b="b"/>
            <a:pathLst>
              <a:path w="1832007" h="1825137">
                <a:moveTo>
                  <a:pt x="1832007" y="0"/>
                </a:moveTo>
                <a:lnTo>
                  <a:pt x="0" y="0"/>
                </a:lnTo>
                <a:lnTo>
                  <a:pt x="0" y="1825137"/>
                </a:lnTo>
                <a:lnTo>
                  <a:pt x="1832007" y="1825137"/>
                </a:lnTo>
                <a:lnTo>
                  <a:pt x="1832007" y="0"/>
                </a:lnTo>
                <a:close/>
              </a:path>
            </a:pathLst>
          </a:custGeom>
          <a:blipFill>
            <a:blip r:embed="rId2">
              <a:alphaModFix amt="24000"/>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028700" y="2582583"/>
            <a:ext cx="16503892" cy="5928360"/>
          </a:xfrm>
          <a:prstGeom prst="rect">
            <a:avLst/>
          </a:prstGeom>
        </p:spPr>
        <p:txBody>
          <a:bodyPr lIns="0" tIns="0" rIns="0" bIns="0" rtlCol="0" anchor="t">
            <a:spAutoFit/>
          </a:bodyPr>
          <a:lstStyle/>
          <a:p>
            <a:pPr algn="just">
              <a:lnSpc>
                <a:spcPts val="7920"/>
              </a:lnSpc>
            </a:pPr>
            <a:r>
              <a:rPr lang="en-US" sz="4500" b="1" spc="476">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旨在深入了解瑞幸在咖啡市场的年轻（大学生群体）用户中，目前所面临的</a:t>
            </a:r>
            <a:r>
              <a:rPr lang="en-US" sz="4500" b="1" u="sng" spc="476">
                <a:solidFill>
                  <a:srgbClr val="320611"/>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问题</a:t>
            </a:r>
            <a:r>
              <a:rPr lang="en-US" sz="4500" b="1" spc="476">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，挖掘潜在</a:t>
            </a:r>
            <a:r>
              <a:rPr lang="en-US" sz="4500" b="1" u="sng" spc="476">
                <a:solidFill>
                  <a:srgbClr val="320611"/>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潜力</a:t>
            </a:r>
            <a:r>
              <a:rPr lang="en-US" sz="4500" b="1" spc="476">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endParaRPr lang="en-US" sz="4500" b="1" spc="476">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just">
              <a:lnSpc>
                <a:spcPts val="7920"/>
              </a:lnSpc>
            </a:pPr>
          </a:p>
          <a:p>
            <a:pPr algn="just">
              <a:lnSpc>
                <a:spcPts val="7920"/>
              </a:lnSpc>
            </a:pPr>
            <a:r>
              <a:rPr lang="en-US" sz="4500" b="1" spc="476">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了解消费者对瑞幸咖啡的</a:t>
            </a:r>
            <a:r>
              <a:rPr lang="en-US" sz="4500" b="1" u="sng" spc="476">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基本认知和消费行为</a:t>
            </a:r>
            <a:r>
              <a:rPr lang="en-US" sz="4500" b="1" spc="476">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，收集他们的</a:t>
            </a:r>
            <a:r>
              <a:rPr lang="en-US" sz="4500" b="1" u="sng" spc="476">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偏好与反馈</a:t>
            </a:r>
            <a:r>
              <a:rPr lang="en-US" sz="4500" b="1" spc="476">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，分析影响消费者选择瑞幸咖啡的主要因素，贴合大学生群体</a:t>
            </a:r>
            <a:r>
              <a:rPr lang="en-US" sz="4500" b="1" u="sng" spc="476">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多变需求</a:t>
            </a:r>
            <a:r>
              <a:rPr lang="en-US" sz="4500" b="1" spc="476">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，为营销策略的优化提供有效依据</a:t>
            </a:r>
            <a:endParaRPr lang="en-US" sz="4500" b="1" spc="476">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10176397">
            <a:off x="-7128338" y="-10574508"/>
            <a:ext cx="14772691" cy="21149016"/>
          </a:xfrm>
          <a:custGeom>
            <a:avLst/>
            <a:gdLst/>
            <a:ahLst/>
            <a:cxnLst/>
            <a:rect l="l" t="t" r="r" b="b"/>
            <a:pathLst>
              <a:path w="14772691" h="21149016">
                <a:moveTo>
                  <a:pt x="0" y="0"/>
                </a:moveTo>
                <a:lnTo>
                  <a:pt x="14772692" y="0"/>
                </a:lnTo>
                <a:lnTo>
                  <a:pt x="14772692" y="21149016"/>
                </a:lnTo>
                <a:lnTo>
                  <a:pt x="0" y="21149016"/>
                </a:lnTo>
                <a:lnTo>
                  <a:pt x="0" y="0"/>
                </a:lnTo>
                <a:close/>
              </a:path>
            </a:pathLst>
          </a:custGeom>
          <a:blipFill>
            <a:blip r:embed="rId1"/>
            <a:stretch>
              <a:fillRect l="-1458" t="-2106" b="-6923"/>
            </a:stretch>
          </a:blipFill>
        </p:spPr>
      </p:sp>
      <p:sp>
        <p:nvSpPr>
          <p:cNvPr id="3" name="Freeform 3"/>
          <p:cNvSpPr/>
          <p:nvPr/>
        </p:nvSpPr>
        <p:spPr>
          <a:xfrm rot="1422548">
            <a:off x="-664545" y="4065426"/>
            <a:ext cx="6037084" cy="9507219"/>
          </a:xfrm>
          <a:custGeom>
            <a:avLst/>
            <a:gdLst/>
            <a:ahLst/>
            <a:cxnLst/>
            <a:rect l="l" t="t" r="r" b="b"/>
            <a:pathLst>
              <a:path w="6037084" h="9507219">
                <a:moveTo>
                  <a:pt x="0" y="0"/>
                </a:moveTo>
                <a:lnTo>
                  <a:pt x="6037084" y="0"/>
                </a:lnTo>
                <a:lnTo>
                  <a:pt x="6037084" y="9507219"/>
                </a:lnTo>
                <a:lnTo>
                  <a:pt x="0" y="9507219"/>
                </a:lnTo>
                <a:lnTo>
                  <a:pt x="0" y="0"/>
                </a:lnTo>
                <a:close/>
              </a:path>
            </a:pathLst>
          </a:custGeom>
          <a:blipFill>
            <a:blip r:embed="rId2">
              <a:alphaModFix amt="21999"/>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8700" y="1019175"/>
            <a:ext cx="6105241" cy="1381125"/>
          </a:xfrm>
          <a:prstGeom prst="rect">
            <a:avLst/>
          </a:prstGeom>
        </p:spPr>
        <p:txBody>
          <a:bodyPr lIns="0" tIns="0" rIns="0" bIns="0" rtlCol="0" anchor="t">
            <a:spAutoFit/>
          </a:bodyPr>
          <a:lstStyle/>
          <a:p>
            <a:pPr algn="l">
              <a:lnSpc>
                <a:spcPts val="10800"/>
              </a:lnSpc>
            </a:pPr>
            <a:r>
              <a:rPr lang="en-US" sz="9000" b="1">
                <a:solidFill>
                  <a:srgbClr val="39353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调查任务</a:t>
            </a:r>
            <a:endParaRPr lang="en-US" sz="9000" b="1">
              <a:solidFill>
                <a:srgbClr val="39353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7682134" y="707637"/>
            <a:ext cx="9577166" cy="9019047"/>
          </a:xfrm>
          <a:prstGeom prst="rect">
            <a:avLst/>
          </a:prstGeom>
        </p:spPr>
        <p:txBody>
          <a:bodyPr lIns="0" tIns="0" rIns="0" bIns="0" rtlCol="0" anchor="t">
            <a:spAutoFit/>
          </a:bodyPr>
          <a:lstStyle/>
          <a:p>
            <a:pPr marL="692785" lvl="1" indent="-346710" algn="l">
              <a:lnSpc>
                <a:spcPts val="5135"/>
              </a:lnSpc>
              <a:buFont typeface="Arial" panose="020B0604020202020204"/>
              <a:buChar char="•"/>
            </a:pPr>
            <a:r>
              <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分析消费者对咖啡品牌（尤其是瑞幸咖啡）的</a:t>
            </a:r>
            <a:r>
              <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认知度</a:t>
            </a:r>
            <a:r>
              <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及第一联想品牌</a:t>
            </a:r>
            <a:endPar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692785" lvl="1" indent="-346710" algn="l">
              <a:lnSpc>
                <a:spcPts val="5135"/>
              </a:lnSpc>
              <a:buFont typeface="Arial" panose="020B0604020202020204"/>
              <a:buChar char="•"/>
            </a:pPr>
            <a:r>
              <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探索消费者</a:t>
            </a:r>
            <a:r>
              <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选择</a:t>
            </a:r>
            <a:r>
              <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咖啡店的重要影响因素（如价格、口味、品牌知名度、营销活动等）</a:t>
            </a:r>
            <a:endPar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692785" lvl="1" indent="-346710" algn="l">
              <a:lnSpc>
                <a:spcPts val="5135"/>
              </a:lnSpc>
              <a:buFont typeface="Arial" panose="020B0604020202020204"/>
              <a:buChar char="•"/>
            </a:pPr>
            <a:r>
              <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调研消费者了解瑞幸咖啡及其他咖啡品牌的</a:t>
            </a:r>
            <a:r>
              <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主要信息来源</a:t>
            </a:r>
            <a:endPar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692785" lvl="1" indent="-346710" algn="l">
              <a:lnSpc>
                <a:spcPts val="5135"/>
              </a:lnSpc>
              <a:buFont typeface="Arial" panose="020B0604020202020204"/>
              <a:buChar char="•"/>
            </a:pPr>
            <a:r>
              <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评估消费者在瑞幸咖啡的</a:t>
            </a:r>
            <a:r>
              <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消费动机、消费满意度以及再次消费的可能性</a:t>
            </a:r>
            <a:endPar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692785" lvl="1" indent="-346710" algn="l">
              <a:lnSpc>
                <a:spcPts val="5135"/>
              </a:lnSpc>
              <a:buFont typeface="Arial" panose="020B0604020202020204"/>
              <a:buChar char="•"/>
            </a:pPr>
            <a:r>
              <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收集消费者对瑞幸咖啡产品、服务、营销及其他方面的</a:t>
            </a:r>
            <a:r>
              <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意见与建议</a:t>
            </a:r>
            <a:endPar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692785" lvl="1" indent="-346710" algn="l">
              <a:lnSpc>
                <a:spcPts val="5135"/>
              </a:lnSpc>
              <a:buFont typeface="Arial" panose="020B0604020202020204"/>
              <a:buChar char="•"/>
            </a:pPr>
            <a:r>
              <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比较未选择瑞幸咖啡的</a:t>
            </a:r>
            <a:r>
              <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消费者行为</a:t>
            </a:r>
            <a:r>
              <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及其选择其他品牌的原因</a:t>
            </a:r>
            <a:endPar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692785" lvl="1" indent="-346710" algn="l">
              <a:lnSpc>
                <a:spcPts val="5135"/>
              </a:lnSpc>
              <a:buFont typeface="Arial" panose="020B0604020202020204"/>
              <a:buChar char="•"/>
            </a:pPr>
            <a:r>
              <a:rPr lang="en-US" sz="3210" b="1" spc="414">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通过性别、年级、专业等人口统计特征分析目标消费群体的</a:t>
            </a:r>
            <a:r>
              <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行为模式</a:t>
            </a:r>
            <a:endParaRPr lang="en-US" sz="3210" b="1" u="sng" spc="41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TextBox 2"/>
          <p:cNvSpPr txBox="1"/>
          <p:nvPr/>
        </p:nvSpPr>
        <p:spPr>
          <a:xfrm>
            <a:off x="6452405" y="6910343"/>
            <a:ext cx="5383191" cy="1090295"/>
          </a:xfrm>
          <a:prstGeom prst="rect">
            <a:avLst/>
          </a:prstGeom>
        </p:spPr>
        <p:txBody>
          <a:bodyPr lIns="0" tIns="0" rIns="0" bIns="0" rtlCol="0" anchor="t">
            <a:spAutoFit/>
          </a:bodyPr>
          <a:lstStyle/>
          <a:p>
            <a:pPr algn="ctr">
              <a:lnSpc>
                <a:spcPts val="4480"/>
              </a:lnSpc>
              <a:spcBef>
                <a:spcPct val="0"/>
              </a:spcBef>
            </a:pPr>
            <a:r>
              <a:rPr lang="en-US" sz="3200" spc="316">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WENJUAN DIAOCHAJIEGUO </a:t>
            </a:r>
            <a:endParaRPr lang="en-US" sz="3200" spc="316">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3" name="Freeform 3"/>
          <p:cNvSpPr/>
          <p:nvPr/>
        </p:nvSpPr>
        <p:spPr>
          <a:xfrm rot="412827" flipH="1">
            <a:off x="10957580" y="3624860"/>
            <a:ext cx="9636813" cy="9600675"/>
          </a:xfrm>
          <a:custGeom>
            <a:avLst/>
            <a:gdLst/>
            <a:ahLst/>
            <a:cxnLst/>
            <a:rect l="l" t="t" r="r" b="b"/>
            <a:pathLst>
              <a:path w="9636813" h="9600675">
                <a:moveTo>
                  <a:pt x="9636813" y="0"/>
                </a:moveTo>
                <a:lnTo>
                  <a:pt x="0" y="0"/>
                </a:lnTo>
                <a:lnTo>
                  <a:pt x="0" y="9600675"/>
                </a:lnTo>
                <a:lnTo>
                  <a:pt x="9636813" y="9600675"/>
                </a:lnTo>
                <a:lnTo>
                  <a:pt x="9636813"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4" name="Freeform 4"/>
          <p:cNvSpPr/>
          <p:nvPr/>
        </p:nvSpPr>
        <p:spPr>
          <a:xfrm rot="389987" flipH="1">
            <a:off x="-2366253" y="401641"/>
            <a:ext cx="4848968" cy="4830785"/>
          </a:xfrm>
          <a:custGeom>
            <a:avLst/>
            <a:gdLst/>
            <a:ahLst/>
            <a:cxnLst/>
            <a:rect l="l" t="t" r="r" b="b"/>
            <a:pathLst>
              <a:path w="4848968" h="4830785">
                <a:moveTo>
                  <a:pt x="4848969" y="0"/>
                </a:moveTo>
                <a:lnTo>
                  <a:pt x="0" y="0"/>
                </a:lnTo>
                <a:lnTo>
                  <a:pt x="0" y="4830784"/>
                </a:lnTo>
                <a:lnTo>
                  <a:pt x="4848969" y="4830784"/>
                </a:lnTo>
                <a:lnTo>
                  <a:pt x="4848969"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5" name="Freeform 5"/>
          <p:cNvSpPr/>
          <p:nvPr/>
        </p:nvSpPr>
        <p:spPr>
          <a:xfrm rot="-104369" flipH="1">
            <a:off x="2775017" y="3850293"/>
            <a:ext cx="16293341" cy="2518062"/>
          </a:xfrm>
          <a:custGeom>
            <a:avLst/>
            <a:gdLst/>
            <a:ahLst/>
            <a:cxnLst/>
            <a:rect l="l" t="t" r="r" b="b"/>
            <a:pathLst>
              <a:path w="16293341" h="2518062">
                <a:moveTo>
                  <a:pt x="16293340" y="0"/>
                </a:moveTo>
                <a:lnTo>
                  <a:pt x="0" y="0"/>
                </a:lnTo>
                <a:lnTo>
                  <a:pt x="0" y="2518062"/>
                </a:lnTo>
                <a:lnTo>
                  <a:pt x="16293340" y="2518062"/>
                </a:lnTo>
                <a:lnTo>
                  <a:pt x="1629334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575423" y="4796025"/>
            <a:ext cx="9137154" cy="1381125"/>
          </a:xfrm>
          <a:prstGeom prst="rect">
            <a:avLst/>
          </a:prstGeom>
        </p:spPr>
        <p:txBody>
          <a:bodyPr lIns="0" tIns="0" rIns="0" bIns="0" rtlCol="0" anchor="t">
            <a:spAutoFit/>
          </a:bodyPr>
          <a:lstStyle/>
          <a:p>
            <a:pPr algn="ctr">
              <a:lnSpc>
                <a:spcPts val="10800"/>
              </a:lnSpc>
            </a:pPr>
            <a:r>
              <a:rPr lang="en-US" sz="9000" b="1">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问卷调查结果</a:t>
            </a:r>
            <a:endParaRPr lang="en-US" sz="9000" b="1">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7" name="TextBox 7"/>
          <p:cNvSpPr txBox="1"/>
          <p:nvPr/>
        </p:nvSpPr>
        <p:spPr>
          <a:xfrm>
            <a:off x="6452405" y="2276837"/>
            <a:ext cx="5383191" cy="2038350"/>
          </a:xfrm>
          <a:prstGeom prst="rect">
            <a:avLst/>
          </a:prstGeom>
        </p:spPr>
        <p:txBody>
          <a:bodyPr lIns="0" tIns="0" rIns="0" bIns="0" rtlCol="0" anchor="t">
            <a:spAutoFit/>
          </a:bodyPr>
          <a:lstStyle/>
          <a:p>
            <a:pPr algn="ctr">
              <a:lnSpc>
                <a:spcPts val="16025"/>
              </a:lnSpc>
              <a:spcBef>
                <a:spcPct val="0"/>
              </a:spcBef>
            </a:pPr>
            <a:r>
              <a:rPr lang="en-US" sz="13355" b="1" i="1" spc="881">
                <a:solidFill>
                  <a:srgbClr val="FFFFFF"/>
                </a:solidFill>
                <a:latin typeface="Aileron Bold Italics" panose="00000800000000000000"/>
                <a:ea typeface="Aileron Bold Italics" panose="00000800000000000000"/>
                <a:cs typeface="Aileron Bold Italics" panose="00000800000000000000"/>
                <a:sym typeface="Aileron Bold Italics" panose="00000800000000000000"/>
              </a:rPr>
              <a:t>02</a:t>
            </a:r>
            <a:endParaRPr lang="en-US" sz="13355" b="1" i="1" spc="881">
              <a:solidFill>
                <a:srgbClr val="FFFFFF"/>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
        <p:nvSpPr>
          <p:cNvPr id="8" name="Freeform 8"/>
          <p:cNvSpPr/>
          <p:nvPr/>
        </p:nvSpPr>
        <p:spPr>
          <a:xfrm rot="-3768068">
            <a:off x="16573542" y="-12519486"/>
            <a:ext cx="14988201" cy="21149016"/>
          </a:xfrm>
          <a:custGeom>
            <a:avLst/>
            <a:gdLst/>
            <a:ahLst/>
            <a:cxnLst/>
            <a:rect l="l" t="t" r="r" b="b"/>
            <a:pathLst>
              <a:path w="14988201" h="21149016">
                <a:moveTo>
                  <a:pt x="0" y="0"/>
                </a:moveTo>
                <a:lnTo>
                  <a:pt x="14988201" y="0"/>
                </a:lnTo>
                <a:lnTo>
                  <a:pt x="14988201" y="21149016"/>
                </a:lnTo>
                <a:lnTo>
                  <a:pt x="0" y="21149016"/>
                </a:lnTo>
                <a:lnTo>
                  <a:pt x="0" y="0"/>
                </a:lnTo>
                <a:close/>
              </a:path>
            </a:pathLst>
          </a:custGeom>
          <a:blipFill>
            <a:blip r:embed="rId5"/>
            <a:stretch>
              <a:fillRect t="-2106" b="-6923"/>
            </a:stretch>
          </a:blipFill>
        </p:spPr>
      </p:sp>
      <p:sp>
        <p:nvSpPr>
          <p:cNvPr id="9" name="Freeform 9"/>
          <p:cNvSpPr/>
          <p:nvPr/>
        </p:nvSpPr>
        <p:spPr>
          <a:xfrm rot="7219960">
            <a:off x="-4944047" y="5967047"/>
            <a:ext cx="14988201" cy="21149016"/>
          </a:xfrm>
          <a:custGeom>
            <a:avLst/>
            <a:gdLst/>
            <a:ahLst/>
            <a:cxnLst/>
            <a:rect l="l" t="t" r="r" b="b"/>
            <a:pathLst>
              <a:path w="14988201" h="21149016">
                <a:moveTo>
                  <a:pt x="0" y="0"/>
                </a:moveTo>
                <a:lnTo>
                  <a:pt x="14988200" y="0"/>
                </a:lnTo>
                <a:lnTo>
                  <a:pt x="14988200" y="21149016"/>
                </a:lnTo>
                <a:lnTo>
                  <a:pt x="0" y="21149016"/>
                </a:lnTo>
                <a:lnTo>
                  <a:pt x="0" y="0"/>
                </a:lnTo>
                <a:close/>
              </a:path>
            </a:pathLst>
          </a:custGeom>
          <a:blipFill>
            <a:blip r:embed="rId5"/>
            <a:stretch>
              <a:fillRect t="-2106" b="-6923"/>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90365"/>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9144000" y="2969767"/>
            <a:ext cx="7432636" cy="4297683"/>
          </a:xfrm>
          <a:custGeom>
            <a:avLst/>
            <a:gdLst/>
            <a:ahLst/>
            <a:cxnLst/>
            <a:rect l="l" t="t" r="r" b="b"/>
            <a:pathLst>
              <a:path w="7432636" h="4297683">
                <a:moveTo>
                  <a:pt x="0" y="0"/>
                </a:moveTo>
                <a:lnTo>
                  <a:pt x="7432636" y="0"/>
                </a:lnTo>
                <a:lnTo>
                  <a:pt x="7432636" y="4297683"/>
                </a:lnTo>
                <a:lnTo>
                  <a:pt x="0" y="4297683"/>
                </a:lnTo>
                <a:lnTo>
                  <a:pt x="0" y="0"/>
                </a:lnTo>
                <a:close/>
              </a:path>
            </a:pathLst>
          </a:custGeom>
          <a:blipFill>
            <a:blip r:embed="rId2"/>
            <a:stretch>
              <a:fillRect/>
            </a:stretch>
          </a:blipFill>
        </p:spPr>
      </p:sp>
      <p:sp>
        <p:nvSpPr>
          <p:cNvPr id="4" name="Freeform 4"/>
          <p:cNvSpPr/>
          <p:nvPr/>
        </p:nvSpPr>
        <p:spPr>
          <a:xfrm>
            <a:off x="587830" y="2969767"/>
            <a:ext cx="7694681" cy="7280470"/>
          </a:xfrm>
          <a:custGeom>
            <a:avLst/>
            <a:gdLst/>
            <a:ahLst/>
            <a:cxnLst/>
            <a:rect l="l" t="t" r="r" b="b"/>
            <a:pathLst>
              <a:path w="7694681" h="7280470">
                <a:moveTo>
                  <a:pt x="0" y="0"/>
                </a:moveTo>
                <a:lnTo>
                  <a:pt x="7694681" y="0"/>
                </a:lnTo>
                <a:lnTo>
                  <a:pt x="7694681" y="7280470"/>
                </a:lnTo>
                <a:lnTo>
                  <a:pt x="0" y="7280470"/>
                </a:lnTo>
                <a:lnTo>
                  <a:pt x="0" y="0"/>
                </a:lnTo>
                <a:close/>
              </a:path>
            </a:pathLst>
          </a:custGeom>
          <a:blipFill>
            <a:blip r:embed="rId3"/>
            <a:stretch>
              <a:fillRect l="-9310" r="-2302"/>
            </a:stretch>
          </a:blipFill>
        </p:spPr>
      </p:sp>
      <p:sp>
        <p:nvSpPr>
          <p:cNvPr id="5" name="TextBox 5"/>
          <p:cNvSpPr txBox="1"/>
          <p:nvPr/>
        </p:nvSpPr>
        <p:spPr>
          <a:xfrm>
            <a:off x="8792911" y="7760605"/>
            <a:ext cx="8806717" cy="2041025"/>
          </a:xfrm>
          <a:prstGeom prst="rect">
            <a:avLst/>
          </a:prstGeom>
        </p:spPr>
        <p:txBody>
          <a:bodyPr lIns="0" tIns="0" rIns="0" bIns="0" rtlCol="0" anchor="t">
            <a:spAutoFit/>
          </a:bodyPr>
          <a:lstStyle/>
          <a:p>
            <a:pPr algn="ctr">
              <a:lnSpc>
                <a:spcPts val="4050"/>
              </a:lnSpc>
              <a:spcBef>
                <a:spcPct val="0"/>
              </a:spcBef>
            </a:pPr>
            <a:r>
              <a:rPr lang="en-US" sz="2895" b="1" spc="3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本次调查共发放问卷120份，其中男生54份，女生66份。调查对象涵盖人文与法律、商科、理工科以及艺术类专业的学生，样本分布总体上较为均衡，基本符合平均分布的要求。</a:t>
            </a:r>
            <a:endParaRPr lang="en-US" sz="2895" b="1" spc="3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963079" y="604838"/>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问卷收集情况</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74067" flipH="1">
            <a:off x="-785446" y="6416462"/>
            <a:ext cx="6891089" cy="6865247"/>
          </a:xfrm>
          <a:custGeom>
            <a:avLst/>
            <a:gdLst/>
            <a:ahLst/>
            <a:cxnLst/>
            <a:rect l="l" t="t" r="r" b="b"/>
            <a:pathLst>
              <a:path w="6891089" h="6865247">
                <a:moveTo>
                  <a:pt x="6891089" y="0"/>
                </a:moveTo>
                <a:lnTo>
                  <a:pt x="0" y="0"/>
                </a:lnTo>
                <a:lnTo>
                  <a:pt x="0" y="6865247"/>
                </a:lnTo>
                <a:lnTo>
                  <a:pt x="6891089" y="6865247"/>
                </a:lnTo>
                <a:lnTo>
                  <a:pt x="6891089"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3" name="Freeform 3"/>
          <p:cNvSpPr/>
          <p:nvPr/>
        </p:nvSpPr>
        <p:spPr>
          <a:xfrm rot="-9180021">
            <a:off x="-12468719" y="-20684773"/>
            <a:ext cx="19022799" cy="27233594"/>
          </a:xfrm>
          <a:custGeom>
            <a:avLst/>
            <a:gdLst/>
            <a:ahLst/>
            <a:cxnLst/>
            <a:rect l="l" t="t" r="r" b="b"/>
            <a:pathLst>
              <a:path w="19022799" h="27233594">
                <a:moveTo>
                  <a:pt x="0" y="0"/>
                </a:moveTo>
                <a:lnTo>
                  <a:pt x="19022799" y="0"/>
                </a:lnTo>
                <a:lnTo>
                  <a:pt x="19022799" y="27233594"/>
                </a:lnTo>
                <a:lnTo>
                  <a:pt x="0" y="27233594"/>
                </a:lnTo>
                <a:lnTo>
                  <a:pt x="0" y="0"/>
                </a:lnTo>
                <a:close/>
              </a:path>
            </a:pathLst>
          </a:custGeom>
          <a:blipFill>
            <a:blip r:embed="rId3"/>
            <a:stretch>
              <a:fillRect l="-1458" t="-2106" b="-6923"/>
            </a:stretch>
          </a:blipFill>
        </p:spPr>
      </p:sp>
      <p:sp>
        <p:nvSpPr>
          <p:cNvPr id="4" name="Freeform 4"/>
          <p:cNvSpPr/>
          <p:nvPr/>
        </p:nvSpPr>
        <p:spPr>
          <a:xfrm rot="294428" flipH="1">
            <a:off x="15382963" y="-2577137"/>
            <a:ext cx="3752675" cy="3738602"/>
          </a:xfrm>
          <a:custGeom>
            <a:avLst/>
            <a:gdLst/>
            <a:ahLst/>
            <a:cxnLst/>
            <a:rect l="l" t="t" r="r" b="b"/>
            <a:pathLst>
              <a:path w="3752675" h="3738602">
                <a:moveTo>
                  <a:pt x="3752674" y="0"/>
                </a:moveTo>
                <a:lnTo>
                  <a:pt x="0" y="0"/>
                </a:lnTo>
                <a:lnTo>
                  <a:pt x="0" y="3738603"/>
                </a:lnTo>
                <a:lnTo>
                  <a:pt x="3752674" y="3738603"/>
                </a:lnTo>
                <a:lnTo>
                  <a:pt x="3752674"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2660098" y="3380824"/>
            <a:ext cx="2510944" cy="2752735"/>
          </a:xfrm>
          <a:prstGeom prst="rect">
            <a:avLst/>
          </a:prstGeom>
        </p:spPr>
        <p:txBody>
          <a:bodyPr lIns="0" tIns="0" rIns="0" bIns="0" rtlCol="0" anchor="t">
            <a:spAutoFit/>
          </a:bodyPr>
          <a:lstStyle/>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7573972" y="1807082"/>
            <a:ext cx="7890664" cy="6358511"/>
          </a:xfrm>
          <a:prstGeom prst="rect">
            <a:avLst/>
          </a:prstGeom>
        </p:spPr>
        <p:txBody>
          <a:bodyPr lIns="0" tIns="0" rIns="0" bIns="0" rtlCol="0" anchor="t">
            <a:spAutoFit/>
          </a:bodyPr>
          <a:lstStyle/>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01. 第一个想到的咖啡品牌频率分析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02. 除第一品牌想的品牌频率分析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03. 选择咖啡品牌其重要程度频率分析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04.第一次听说瑞幸的方式频率分析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05.促使进入门店的主要原因频率分析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6. 促使留在瑞幸消费的主要原因</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7. 瑞幸各方面满意度频率分析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7" name="Freeform 7"/>
          <p:cNvSpPr/>
          <p:nvPr/>
        </p:nvSpPr>
        <p:spPr>
          <a:xfrm rot="1671160">
            <a:off x="13216229" y="3232152"/>
            <a:ext cx="14988201" cy="21149016"/>
          </a:xfrm>
          <a:custGeom>
            <a:avLst/>
            <a:gdLst/>
            <a:ahLst/>
            <a:cxnLst/>
            <a:rect l="l" t="t" r="r" b="b"/>
            <a:pathLst>
              <a:path w="14988201" h="21149016">
                <a:moveTo>
                  <a:pt x="0" y="0"/>
                </a:moveTo>
                <a:lnTo>
                  <a:pt x="14988201" y="0"/>
                </a:lnTo>
                <a:lnTo>
                  <a:pt x="14988201" y="21149015"/>
                </a:lnTo>
                <a:lnTo>
                  <a:pt x="0" y="21149015"/>
                </a:lnTo>
                <a:lnTo>
                  <a:pt x="0" y="0"/>
                </a:lnTo>
                <a:close/>
              </a:path>
            </a:pathLst>
          </a:custGeom>
          <a:blipFill>
            <a:blip r:embed="rId3"/>
            <a:stretch>
              <a:fillRect t="-2106" b="-6923"/>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1982483" y="-14417401"/>
            <a:ext cx="15188328" cy="21149016"/>
          </a:xfrm>
          <a:custGeom>
            <a:avLst/>
            <a:gdLst/>
            <a:ahLst/>
            <a:cxnLst/>
            <a:rect l="l" t="t" r="r" b="b"/>
            <a:pathLst>
              <a:path w="15188328" h="21149016">
                <a:moveTo>
                  <a:pt x="0" y="0"/>
                </a:moveTo>
                <a:lnTo>
                  <a:pt x="15188327" y="0"/>
                </a:lnTo>
                <a:lnTo>
                  <a:pt x="15188327" y="21149015"/>
                </a:lnTo>
                <a:lnTo>
                  <a:pt x="0" y="21149015"/>
                </a:lnTo>
                <a:lnTo>
                  <a:pt x="0" y="0"/>
                </a:lnTo>
                <a:close/>
              </a:path>
            </a:pathLst>
          </a:custGeom>
          <a:blipFill>
            <a:blip r:embed="rId1"/>
            <a:stretch>
              <a:fillRect t="-2802" b="-7683"/>
            </a:stretch>
          </a:blipFill>
        </p:spPr>
      </p:sp>
      <p:sp>
        <p:nvSpPr>
          <p:cNvPr id="3" name="Freeform 3"/>
          <p:cNvSpPr/>
          <p:nvPr/>
        </p:nvSpPr>
        <p:spPr>
          <a:xfrm>
            <a:off x="603013" y="4150096"/>
            <a:ext cx="9486202" cy="4926178"/>
          </a:xfrm>
          <a:custGeom>
            <a:avLst/>
            <a:gdLst/>
            <a:ahLst/>
            <a:cxnLst/>
            <a:rect l="l" t="t" r="r" b="b"/>
            <a:pathLst>
              <a:path w="9486202" h="4926178">
                <a:moveTo>
                  <a:pt x="0" y="0"/>
                </a:moveTo>
                <a:lnTo>
                  <a:pt x="9486203" y="0"/>
                </a:lnTo>
                <a:lnTo>
                  <a:pt x="9486203" y="4926177"/>
                </a:lnTo>
                <a:lnTo>
                  <a:pt x="0" y="4926177"/>
                </a:lnTo>
                <a:lnTo>
                  <a:pt x="0" y="0"/>
                </a:lnTo>
                <a:close/>
              </a:path>
            </a:pathLst>
          </a:custGeom>
          <a:blipFill>
            <a:blip r:embed="rId2"/>
            <a:stretch>
              <a:fillRect l="-12882" t="-19290" r="-1793" b="-18727"/>
            </a:stretch>
          </a:blipFill>
        </p:spPr>
      </p:sp>
      <p:sp>
        <p:nvSpPr>
          <p:cNvPr id="4" name="TextBox 4"/>
          <p:cNvSpPr txBox="1"/>
          <p:nvPr/>
        </p:nvSpPr>
        <p:spPr>
          <a:xfrm>
            <a:off x="11340602" y="4957105"/>
            <a:ext cx="6197143" cy="3245485"/>
          </a:xfrm>
          <a:prstGeom prst="rect">
            <a:avLst/>
          </a:prstGeom>
        </p:spPr>
        <p:txBody>
          <a:bodyPr lIns="0" tIns="0" rIns="0" bIns="0" rtlCol="0" anchor="t">
            <a:spAutoFit/>
          </a:bodyPr>
          <a:lstStyle/>
          <a:p>
            <a:pPr algn="ctr">
              <a:lnSpc>
                <a:spcPts val="4340"/>
              </a:lnSpc>
              <a:spcBef>
                <a:spcPct val="0"/>
              </a:spcBef>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分析：第一个想到的咖啡品牌大多数人会想到瑞幸，占一半左右。其次是星巴克，占32.5%。剩下的品牌提及较少，共18个。其中幸运咖略高于库迪及雀巢，占13个。瑞幸的知名度及接受度较为广泛</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2420038" y="1028700"/>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频率分析--第一个想到的咖啡品牌</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90365"/>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788748" y="2949553"/>
            <a:ext cx="7943661" cy="4684491"/>
          </a:xfrm>
          <a:custGeom>
            <a:avLst/>
            <a:gdLst/>
            <a:ahLst/>
            <a:cxnLst/>
            <a:rect l="l" t="t" r="r" b="b"/>
            <a:pathLst>
              <a:path w="7943661" h="4684491">
                <a:moveTo>
                  <a:pt x="0" y="0"/>
                </a:moveTo>
                <a:lnTo>
                  <a:pt x="7943661" y="0"/>
                </a:lnTo>
                <a:lnTo>
                  <a:pt x="7943661" y="4684491"/>
                </a:lnTo>
                <a:lnTo>
                  <a:pt x="0" y="4684491"/>
                </a:lnTo>
                <a:lnTo>
                  <a:pt x="0" y="0"/>
                </a:lnTo>
                <a:close/>
              </a:path>
            </a:pathLst>
          </a:custGeom>
          <a:blipFill>
            <a:blip r:embed="rId2"/>
            <a:stretch>
              <a:fillRect l="-14121" t="-12838" r="-14121" b="-23078"/>
            </a:stretch>
          </a:blipFill>
        </p:spPr>
      </p:sp>
      <p:sp>
        <p:nvSpPr>
          <p:cNvPr id="4" name="Freeform 4"/>
          <p:cNvSpPr/>
          <p:nvPr/>
        </p:nvSpPr>
        <p:spPr>
          <a:xfrm>
            <a:off x="9267754" y="2949553"/>
            <a:ext cx="8221889" cy="4684491"/>
          </a:xfrm>
          <a:custGeom>
            <a:avLst/>
            <a:gdLst/>
            <a:ahLst/>
            <a:cxnLst/>
            <a:rect l="l" t="t" r="r" b="b"/>
            <a:pathLst>
              <a:path w="8221889" h="4684491">
                <a:moveTo>
                  <a:pt x="0" y="0"/>
                </a:moveTo>
                <a:lnTo>
                  <a:pt x="8221889" y="0"/>
                </a:lnTo>
                <a:lnTo>
                  <a:pt x="8221889" y="4684491"/>
                </a:lnTo>
                <a:lnTo>
                  <a:pt x="0" y="4684491"/>
                </a:lnTo>
                <a:lnTo>
                  <a:pt x="0" y="0"/>
                </a:lnTo>
                <a:close/>
              </a:path>
            </a:pathLst>
          </a:custGeom>
          <a:blipFill>
            <a:blip r:embed="rId3"/>
            <a:stretch>
              <a:fillRect l="-19159" t="-25635" r="-15095" b="-21636"/>
            </a:stretch>
          </a:blipFill>
        </p:spPr>
      </p:sp>
      <p:sp>
        <p:nvSpPr>
          <p:cNvPr id="5" name="TextBox 5"/>
          <p:cNvSpPr txBox="1"/>
          <p:nvPr/>
        </p:nvSpPr>
        <p:spPr>
          <a:xfrm>
            <a:off x="1677821" y="7824948"/>
            <a:ext cx="14660086" cy="2159635"/>
          </a:xfrm>
          <a:prstGeom prst="rect">
            <a:avLst/>
          </a:prstGeom>
        </p:spPr>
        <p:txBody>
          <a:bodyPr lIns="0" tIns="0" rIns="0" bIns="0" rtlCol="0" anchor="t">
            <a:spAutoFit/>
          </a:bodyPr>
          <a:lstStyle/>
          <a:p>
            <a:pPr algn="ctr">
              <a:lnSpc>
                <a:spcPts val="4340"/>
              </a:lnSpc>
              <a:spcBef>
                <a:spcPct val="0"/>
              </a:spcBef>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除了第一品牌外，受访者提及最多的品牌为瑞幸，占24.9%，说明虽然大家不会第一时间想到，但是作为大品牌存在感强。其次为星巴克，占21.9%。库迪的提及也较多，占20.6%。幸运咖较少，占14.1%。还有部分会提及其它，占比非常小。</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2437922" y="905185"/>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频率分析--除第一品牌想的品牌</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90365"/>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678710" y="6044182"/>
            <a:ext cx="7939437" cy="4068373"/>
          </a:xfrm>
          <a:custGeom>
            <a:avLst/>
            <a:gdLst/>
            <a:ahLst/>
            <a:cxnLst/>
            <a:rect l="l" t="t" r="r" b="b"/>
            <a:pathLst>
              <a:path w="7939437" h="4068373">
                <a:moveTo>
                  <a:pt x="0" y="0"/>
                </a:moveTo>
                <a:lnTo>
                  <a:pt x="7939437" y="0"/>
                </a:lnTo>
                <a:lnTo>
                  <a:pt x="7939437" y="4068373"/>
                </a:lnTo>
                <a:lnTo>
                  <a:pt x="0" y="4068373"/>
                </a:lnTo>
                <a:lnTo>
                  <a:pt x="0" y="0"/>
                </a:lnTo>
                <a:close/>
              </a:path>
            </a:pathLst>
          </a:custGeom>
          <a:blipFill>
            <a:blip r:embed="rId2"/>
            <a:stretch>
              <a:fillRect l="-18653" t="-32957" r="-10028" b="-23994"/>
            </a:stretch>
          </a:blipFill>
        </p:spPr>
      </p:sp>
      <p:grpSp>
        <p:nvGrpSpPr>
          <p:cNvPr id="4" name="Group 4"/>
          <p:cNvGrpSpPr/>
          <p:nvPr/>
        </p:nvGrpSpPr>
        <p:grpSpPr>
          <a:xfrm rot="0">
            <a:off x="678710" y="2899545"/>
            <a:ext cx="7939437" cy="2959007"/>
            <a:chOff x="0" y="0"/>
            <a:chExt cx="10585916" cy="3945342"/>
          </a:xfrm>
        </p:grpSpPr>
        <p:sp>
          <p:nvSpPr>
            <p:cNvPr id="5" name="Freeform 5"/>
            <p:cNvSpPr/>
            <p:nvPr/>
          </p:nvSpPr>
          <p:spPr>
            <a:xfrm>
              <a:off x="0" y="0"/>
              <a:ext cx="10585916" cy="2181666"/>
            </a:xfrm>
            <a:custGeom>
              <a:avLst/>
              <a:gdLst/>
              <a:ahLst/>
              <a:cxnLst/>
              <a:rect l="l" t="t" r="r" b="b"/>
              <a:pathLst>
                <a:path w="10585916" h="2181666">
                  <a:moveTo>
                    <a:pt x="0" y="0"/>
                  </a:moveTo>
                  <a:lnTo>
                    <a:pt x="10585916" y="0"/>
                  </a:lnTo>
                  <a:lnTo>
                    <a:pt x="10585916" y="2181666"/>
                  </a:lnTo>
                  <a:lnTo>
                    <a:pt x="0" y="2181666"/>
                  </a:lnTo>
                  <a:lnTo>
                    <a:pt x="0" y="0"/>
                  </a:lnTo>
                  <a:close/>
                </a:path>
              </a:pathLst>
            </a:custGeom>
            <a:blipFill>
              <a:blip r:embed="rId3"/>
              <a:stretch>
                <a:fillRect t="-20035" b="-183227"/>
              </a:stretch>
            </a:blipFill>
          </p:spPr>
        </p:sp>
        <p:sp>
          <p:nvSpPr>
            <p:cNvPr id="6" name="Freeform 6"/>
            <p:cNvSpPr/>
            <p:nvPr/>
          </p:nvSpPr>
          <p:spPr>
            <a:xfrm>
              <a:off x="0" y="2181666"/>
              <a:ext cx="10585916" cy="1763677"/>
            </a:xfrm>
            <a:custGeom>
              <a:avLst/>
              <a:gdLst/>
              <a:ahLst/>
              <a:cxnLst/>
              <a:rect l="l" t="t" r="r" b="b"/>
              <a:pathLst>
                <a:path w="10585916" h="1763677">
                  <a:moveTo>
                    <a:pt x="0" y="0"/>
                  </a:moveTo>
                  <a:lnTo>
                    <a:pt x="10585916" y="0"/>
                  </a:lnTo>
                  <a:lnTo>
                    <a:pt x="10585916" y="1763676"/>
                  </a:lnTo>
                  <a:lnTo>
                    <a:pt x="0" y="1763676"/>
                  </a:lnTo>
                  <a:lnTo>
                    <a:pt x="0" y="0"/>
                  </a:lnTo>
                  <a:close/>
                </a:path>
              </a:pathLst>
            </a:custGeom>
            <a:blipFill>
              <a:blip r:embed="rId3"/>
              <a:stretch>
                <a:fillRect l="-6541" t="-323386" r="-6320"/>
              </a:stretch>
            </a:blipFill>
          </p:spPr>
        </p:sp>
      </p:grpSp>
      <p:sp>
        <p:nvSpPr>
          <p:cNvPr id="7" name="TextBox 7"/>
          <p:cNvSpPr txBox="1"/>
          <p:nvPr/>
        </p:nvSpPr>
        <p:spPr>
          <a:xfrm>
            <a:off x="10223302" y="4611418"/>
            <a:ext cx="6641931" cy="3793110"/>
          </a:xfrm>
          <a:prstGeom prst="rect">
            <a:avLst/>
          </a:prstGeom>
        </p:spPr>
        <p:txBody>
          <a:bodyPr lIns="0" tIns="0" rIns="0" bIns="0" rtlCol="0" anchor="t">
            <a:spAutoFit/>
          </a:bodyPr>
          <a:lstStyle/>
          <a:p>
            <a:pPr algn="l">
              <a:lnSpc>
                <a:spcPts val="5050"/>
              </a:lnSpc>
            </a:pPr>
            <a:r>
              <a:rPr lang="en-US" sz="3100" b="1" spc="35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分析：从图表看，受访者最看重品牌的知名度，占52.9%。其次为出餐速度，占23.5%。然后是门店环境，占11.8%。最后是品牌口味以及营销活动，都占5.9%。说明扩大品牌知名度十分重要。</a:t>
            </a:r>
            <a:endParaRPr lang="en-US" sz="3100" b="1" spc="35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2437922" y="905185"/>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频率分析--选择咖啡品牌其重要程度</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90365"/>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grpSp>
        <p:nvGrpSpPr>
          <p:cNvPr id="3" name="Group 3"/>
          <p:cNvGrpSpPr/>
          <p:nvPr/>
        </p:nvGrpSpPr>
        <p:grpSpPr>
          <a:xfrm rot="0">
            <a:off x="278138" y="3278307"/>
            <a:ext cx="8865862" cy="4690767"/>
            <a:chOff x="0" y="0"/>
            <a:chExt cx="11821149" cy="6254356"/>
          </a:xfrm>
        </p:grpSpPr>
        <p:sp>
          <p:nvSpPr>
            <p:cNvPr id="4" name="Freeform 4"/>
            <p:cNvSpPr/>
            <p:nvPr/>
          </p:nvSpPr>
          <p:spPr>
            <a:xfrm>
              <a:off x="0" y="3408440"/>
              <a:ext cx="11821149" cy="2845916"/>
            </a:xfrm>
            <a:custGeom>
              <a:avLst/>
              <a:gdLst/>
              <a:ahLst/>
              <a:cxnLst/>
              <a:rect l="l" t="t" r="r" b="b"/>
              <a:pathLst>
                <a:path w="11821149" h="2845916">
                  <a:moveTo>
                    <a:pt x="0" y="0"/>
                  </a:moveTo>
                  <a:lnTo>
                    <a:pt x="11821149" y="0"/>
                  </a:lnTo>
                  <a:lnTo>
                    <a:pt x="11821149" y="2845916"/>
                  </a:lnTo>
                  <a:lnTo>
                    <a:pt x="0" y="2845916"/>
                  </a:lnTo>
                  <a:lnTo>
                    <a:pt x="0" y="0"/>
                  </a:lnTo>
                  <a:close/>
                </a:path>
              </a:pathLst>
            </a:custGeom>
            <a:blipFill>
              <a:blip r:embed="rId2"/>
              <a:stretch>
                <a:fillRect l="-7614" t="-199143" r="-7614"/>
              </a:stretch>
            </a:blipFill>
          </p:spPr>
        </p:sp>
        <p:sp>
          <p:nvSpPr>
            <p:cNvPr id="5" name="Freeform 5"/>
            <p:cNvSpPr/>
            <p:nvPr/>
          </p:nvSpPr>
          <p:spPr>
            <a:xfrm>
              <a:off x="0" y="0"/>
              <a:ext cx="11821149" cy="3408440"/>
            </a:xfrm>
            <a:custGeom>
              <a:avLst/>
              <a:gdLst/>
              <a:ahLst/>
              <a:cxnLst/>
              <a:rect l="l" t="t" r="r" b="b"/>
              <a:pathLst>
                <a:path w="11821149" h="3408440">
                  <a:moveTo>
                    <a:pt x="0" y="0"/>
                  </a:moveTo>
                  <a:lnTo>
                    <a:pt x="11821149" y="0"/>
                  </a:lnTo>
                  <a:lnTo>
                    <a:pt x="11821149" y="3408440"/>
                  </a:lnTo>
                  <a:lnTo>
                    <a:pt x="0" y="3408440"/>
                  </a:lnTo>
                  <a:lnTo>
                    <a:pt x="0" y="0"/>
                  </a:lnTo>
                  <a:close/>
                </a:path>
              </a:pathLst>
            </a:custGeom>
            <a:blipFill>
              <a:blip r:embed="rId2"/>
              <a:stretch>
                <a:fillRect l="-11375" r="-11375" b="-166075"/>
              </a:stretch>
            </a:blipFill>
          </p:spPr>
        </p:sp>
      </p:grpSp>
      <p:sp>
        <p:nvSpPr>
          <p:cNvPr id="6" name="Freeform 6"/>
          <p:cNvSpPr/>
          <p:nvPr/>
        </p:nvSpPr>
        <p:spPr>
          <a:xfrm>
            <a:off x="9285833" y="3278307"/>
            <a:ext cx="8777866" cy="4690767"/>
          </a:xfrm>
          <a:custGeom>
            <a:avLst/>
            <a:gdLst/>
            <a:ahLst/>
            <a:cxnLst/>
            <a:rect l="l" t="t" r="r" b="b"/>
            <a:pathLst>
              <a:path w="8777866" h="4690767">
                <a:moveTo>
                  <a:pt x="0" y="0"/>
                </a:moveTo>
                <a:lnTo>
                  <a:pt x="8777866" y="0"/>
                </a:lnTo>
                <a:lnTo>
                  <a:pt x="8777866" y="4690767"/>
                </a:lnTo>
                <a:lnTo>
                  <a:pt x="0" y="4690767"/>
                </a:lnTo>
                <a:lnTo>
                  <a:pt x="0" y="0"/>
                </a:lnTo>
                <a:close/>
              </a:path>
            </a:pathLst>
          </a:custGeom>
          <a:blipFill>
            <a:blip r:embed="rId3"/>
            <a:stretch>
              <a:fillRect l="-13851" t="-21742" r="-13590" b="-27310"/>
            </a:stretch>
          </a:blipFill>
        </p:spPr>
      </p:sp>
      <p:sp>
        <p:nvSpPr>
          <p:cNvPr id="7" name="TextBox 7"/>
          <p:cNvSpPr txBox="1"/>
          <p:nvPr/>
        </p:nvSpPr>
        <p:spPr>
          <a:xfrm>
            <a:off x="1400206" y="8302434"/>
            <a:ext cx="15487588" cy="1797431"/>
          </a:xfrm>
          <a:prstGeom prst="rect">
            <a:avLst/>
          </a:prstGeom>
        </p:spPr>
        <p:txBody>
          <a:bodyPr lIns="0" tIns="0" rIns="0" bIns="0" rtlCol="0" anchor="t">
            <a:spAutoFit/>
          </a:bodyPr>
          <a:lstStyle/>
          <a:p>
            <a:pPr algn="l">
              <a:lnSpc>
                <a:spcPts val="4865"/>
              </a:lnSpc>
            </a:pPr>
            <a:r>
              <a:rPr lang="en-US" sz="3100" b="1" spc="60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分析：第一次听到瑞幸最多的方式是朋友推荐，占35.4%。瑞幸的官方宣传以及社交媒体也较多，分别占22.4%和26.5%。其余方式相对较少，其中外卖平台最少，只占2.7%。掌握一定的私域流量很重要。</a:t>
            </a:r>
            <a:endParaRPr lang="en-US" sz="3100" b="1" spc="60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2437922" y="905185"/>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频率分析--第一次听说瑞幸的方式</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9909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0343258" y="3469580"/>
            <a:ext cx="6982544" cy="2684698"/>
          </a:xfrm>
          <a:custGeom>
            <a:avLst/>
            <a:gdLst/>
            <a:ahLst/>
            <a:cxnLst/>
            <a:rect l="l" t="t" r="r" b="b"/>
            <a:pathLst>
              <a:path w="6982544" h="2684698">
                <a:moveTo>
                  <a:pt x="0" y="0"/>
                </a:moveTo>
                <a:lnTo>
                  <a:pt x="6982545" y="0"/>
                </a:lnTo>
                <a:lnTo>
                  <a:pt x="6982545" y="2684699"/>
                </a:lnTo>
                <a:lnTo>
                  <a:pt x="0" y="2684699"/>
                </a:lnTo>
                <a:lnTo>
                  <a:pt x="0" y="0"/>
                </a:lnTo>
                <a:close/>
              </a:path>
            </a:pathLst>
          </a:custGeom>
          <a:blipFill>
            <a:blip r:embed="rId2"/>
            <a:stretch>
              <a:fillRect l="-12256" t="-46431" r="-12256" b="-55970"/>
            </a:stretch>
          </a:blipFill>
        </p:spPr>
      </p:sp>
      <p:sp>
        <p:nvSpPr>
          <p:cNvPr id="4" name="Freeform 4"/>
          <p:cNvSpPr/>
          <p:nvPr/>
        </p:nvSpPr>
        <p:spPr>
          <a:xfrm>
            <a:off x="164245" y="3469580"/>
            <a:ext cx="9831989" cy="5978318"/>
          </a:xfrm>
          <a:custGeom>
            <a:avLst/>
            <a:gdLst/>
            <a:ahLst/>
            <a:cxnLst/>
            <a:rect l="l" t="t" r="r" b="b"/>
            <a:pathLst>
              <a:path w="9831989" h="5978318">
                <a:moveTo>
                  <a:pt x="0" y="0"/>
                </a:moveTo>
                <a:lnTo>
                  <a:pt x="9831988" y="0"/>
                </a:lnTo>
                <a:lnTo>
                  <a:pt x="9831988" y="5978318"/>
                </a:lnTo>
                <a:lnTo>
                  <a:pt x="0" y="5978318"/>
                </a:lnTo>
                <a:lnTo>
                  <a:pt x="0" y="0"/>
                </a:lnTo>
                <a:close/>
              </a:path>
            </a:pathLst>
          </a:custGeom>
          <a:blipFill>
            <a:blip r:embed="rId3"/>
            <a:stretch>
              <a:fillRect l="-14376" t="-12622" r="-15441" b="-20813"/>
            </a:stretch>
          </a:blipFill>
        </p:spPr>
      </p:sp>
      <p:sp>
        <p:nvSpPr>
          <p:cNvPr id="5" name="TextBox 5"/>
          <p:cNvSpPr txBox="1"/>
          <p:nvPr/>
        </p:nvSpPr>
        <p:spPr>
          <a:xfrm>
            <a:off x="10343258" y="6323111"/>
            <a:ext cx="7046685" cy="3124787"/>
          </a:xfrm>
          <a:prstGeom prst="rect">
            <a:avLst/>
          </a:prstGeom>
        </p:spPr>
        <p:txBody>
          <a:bodyPr lIns="0" tIns="0" rIns="0" bIns="0" rtlCol="0" anchor="t">
            <a:spAutoFit/>
          </a:bodyPr>
          <a:lstStyle/>
          <a:p>
            <a:pPr algn="l">
              <a:lnSpc>
                <a:spcPts val="4165"/>
              </a:lnSpc>
            </a:pPr>
            <a:r>
              <a:rPr lang="en-US" sz="2525" b="1" spc="482">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促进受访者进入门店的原因，最主要的是瑞幸的优惠，占25.8%。朋友推荐和门店位置便利也较高，分别是20.8%和19.2%。新品、口碑及广告吸引较少。还有一部分没进过店，占9.2%。瑞幸的促销活动（9.9）非常成功。</a:t>
            </a:r>
            <a:endParaRPr lang="en-US" sz="2525" b="1" spc="482">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2437922" y="719554"/>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频率分析--促使进入门店的主要原因</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90365"/>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17190" y="3435725"/>
            <a:ext cx="9426566" cy="5822575"/>
          </a:xfrm>
          <a:custGeom>
            <a:avLst/>
            <a:gdLst/>
            <a:ahLst/>
            <a:cxnLst/>
            <a:rect l="l" t="t" r="r" b="b"/>
            <a:pathLst>
              <a:path w="9426566" h="5822575">
                <a:moveTo>
                  <a:pt x="0" y="0"/>
                </a:moveTo>
                <a:lnTo>
                  <a:pt x="9426566" y="0"/>
                </a:lnTo>
                <a:lnTo>
                  <a:pt x="9426566" y="5822575"/>
                </a:lnTo>
                <a:lnTo>
                  <a:pt x="0" y="5822575"/>
                </a:lnTo>
                <a:lnTo>
                  <a:pt x="0" y="0"/>
                </a:lnTo>
                <a:close/>
              </a:path>
            </a:pathLst>
          </a:custGeom>
          <a:blipFill>
            <a:blip r:embed="rId2"/>
            <a:stretch>
              <a:fillRect l="-14187" t="-17136" r="-13924" b="-12494"/>
            </a:stretch>
          </a:blipFill>
        </p:spPr>
      </p:sp>
      <p:sp>
        <p:nvSpPr>
          <p:cNvPr id="4" name="Freeform 4"/>
          <p:cNvSpPr/>
          <p:nvPr/>
        </p:nvSpPr>
        <p:spPr>
          <a:xfrm>
            <a:off x="10501673" y="3436337"/>
            <a:ext cx="7337909" cy="3414326"/>
          </a:xfrm>
          <a:custGeom>
            <a:avLst/>
            <a:gdLst/>
            <a:ahLst/>
            <a:cxnLst/>
            <a:rect l="l" t="t" r="r" b="b"/>
            <a:pathLst>
              <a:path w="7337909" h="3414326">
                <a:moveTo>
                  <a:pt x="0" y="0"/>
                </a:moveTo>
                <a:lnTo>
                  <a:pt x="7337909" y="0"/>
                </a:lnTo>
                <a:lnTo>
                  <a:pt x="7337909" y="3414326"/>
                </a:lnTo>
                <a:lnTo>
                  <a:pt x="0" y="3414326"/>
                </a:lnTo>
                <a:lnTo>
                  <a:pt x="0" y="0"/>
                </a:lnTo>
                <a:close/>
              </a:path>
            </a:pathLst>
          </a:custGeom>
          <a:blipFill>
            <a:blip r:embed="rId3"/>
            <a:stretch>
              <a:fillRect l="-13815" t="-27391" r="-13294" b="-43345"/>
            </a:stretch>
          </a:blipFill>
        </p:spPr>
      </p:sp>
      <p:sp>
        <p:nvSpPr>
          <p:cNvPr id="5" name="TextBox 5"/>
          <p:cNvSpPr txBox="1"/>
          <p:nvPr/>
        </p:nvSpPr>
        <p:spPr>
          <a:xfrm>
            <a:off x="10213485" y="6945198"/>
            <a:ext cx="7914285" cy="2313102"/>
          </a:xfrm>
          <a:prstGeom prst="rect">
            <a:avLst/>
          </a:prstGeom>
        </p:spPr>
        <p:txBody>
          <a:bodyPr lIns="0" tIns="0" rIns="0" bIns="0" rtlCol="0" anchor="t">
            <a:spAutoFit/>
          </a:bodyPr>
          <a:lstStyle/>
          <a:p>
            <a:pPr algn="ctr">
              <a:lnSpc>
                <a:spcPts val="4690"/>
              </a:lnSpc>
            </a:pPr>
            <a:r>
              <a:rPr lang="en-US" sz="2710" b="1" spc="47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分析：价格和性价比是受访者留在瑞幸的原因，都是30%左右。口味及门店相对较少。未留在店的极少，只占总数的1.7%。说明此是瑞幸的最大亮点。</a:t>
            </a:r>
            <a:endParaRPr lang="en-US" sz="2710" b="1" spc="474">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2406983" y="735023"/>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频率分析--促使留在瑞幸消费的主要原因</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23127"/>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9857751" y="3764619"/>
            <a:ext cx="8028052" cy="3502497"/>
          </a:xfrm>
          <a:custGeom>
            <a:avLst/>
            <a:gdLst/>
            <a:ahLst/>
            <a:cxnLst/>
            <a:rect l="l" t="t" r="r" b="b"/>
            <a:pathLst>
              <a:path w="8028052" h="3502497">
                <a:moveTo>
                  <a:pt x="0" y="0"/>
                </a:moveTo>
                <a:lnTo>
                  <a:pt x="8028052" y="0"/>
                </a:lnTo>
                <a:lnTo>
                  <a:pt x="8028052" y="3502498"/>
                </a:lnTo>
                <a:lnTo>
                  <a:pt x="0" y="3502498"/>
                </a:lnTo>
                <a:lnTo>
                  <a:pt x="0" y="0"/>
                </a:lnTo>
                <a:close/>
              </a:path>
            </a:pathLst>
          </a:custGeom>
          <a:blipFill>
            <a:blip r:embed="rId2"/>
            <a:stretch>
              <a:fillRect l="-14224" t="-39372" r="-14224" b="-44639"/>
            </a:stretch>
          </a:blipFill>
        </p:spPr>
      </p:sp>
      <p:sp>
        <p:nvSpPr>
          <p:cNvPr id="4" name="Freeform 4"/>
          <p:cNvSpPr/>
          <p:nvPr/>
        </p:nvSpPr>
        <p:spPr>
          <a:xfrm>
            <a:off x="202919" y="3764619"/>
            <a:ext cx="9374219" cy="5493681"/>
          </a:xfrm>
          <a:custGeom>
            <a:avLst/>
            <a:gdLst/>
            <a:ahLst/>
            <a:cxnLst/>
            <a:rect l="l" t="t" r="r" b="b"/>
            <a:pathLst>
              <a:path w="9374219" h="5493681">
                <a:moveTo>
                  <a:pt x="0" y="0"/>
                </a:moveTo>
                <a:lnTo>
                  <a:pt x="9374219" y="0"/>
                </a:lnTo>
                <a:lnTo>
                  <a:pt x="9374219" y="5493681"/>
                </a:lnTo>
                <a:lnTo>
                  <a:pt x="0" y="5493681"/>
                </a:lnTo>
                <a:lnTo>
                  <a:pt x="0" y="0"/>
                </a:lnTo>
                <a:close/>
              </a:path>
            </a:pathLst>
          </a:custGeom>
          <a:blipFill>
            <a:blip r:embed="rId3"/>
            <a:stretch>
              <a:fillRect l="-14224" t="-24369" r="-14224" b="-12618"/>
            </a:stretch>
          </a:blipFill>
        </p:spPr>
      </p:sp>
      <p:sp>
        <p:nvSpPr>
          <p:cNvPr id="5" name="TextBox 5"/>
          <p:cNvSpPr txBox="1"/>
          <p:nvPr/>
        </p:nvSpPr>
        <p:spPr>
          <a:xfrm>
            <a:off x="9857751" y="7587996"/>
            <a:ext cx="7697979" cy="1670304"/>
          </a:xfrm>
          <a:prstGeom prst="rect">
            <a:avLst/>
          </a:prstGeom>
        </p:spPr>
        <p:txBody>
          <a:bodyPr lIns="0" tIns="0" rIns="0" bIns="0" rtlCol="0" anchor="t">
            <a:spAutoFit/>
          </a:bodyPr>
          <a:lstStyle/>
          <a:p>
            <a:pPr algn="l">
              <a:lnSpc>
                <a:spcPts val="4565"/>
              </a:lnSpc>
            </a:pPr>
            <a:r>
              <a:rPr lang="en-US" sz="2700" b="1" spc="49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分析:物流配送最高，占27.3%。其次为品质与推广，都是18.2%。然后是产品设计、价格、服务及售后服务，都是9.1%。</a:t>
            </a:r>
            <a:endParaRPr lang="en-US" sz="2700" b="1" spc="49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2437922" y="905185"/>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频率分析--瑞幸各方面满意度</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74067" flipH="1">
            <a:off x="-785446" y="6416462"/>
            <a:ext cx="6891089" cy="6865247"/>
          </a:xfrm>
          <a:custGeom>
            <a:avLst/>
            <a:gdLst/>
            <a:ahLst/>
            <a:cxnLst/>
            <a:rect l="l" t="t" r="r" b="b"/>
            <a:pathLst>
              <a:path w="6891089" h="6865247">
                <a:moveTo>
                  <a:pt x="6891089" y="0"/>
                </a:moveTo>
                <a:lnTo>
                  <a:pt x="0" y="0"/>
                </a:lnTo>
                <a:lnTo>
                  <a:pt x="0" y="6865247"/>
                </a:lnTo>
                <a:lnTo>
                  <a:pt x="6891089" y="6865247"/>
                </a:lnTo>
                <a:lnTo>
                  <a:pt x="6891089"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3" name="Freeform 3"/>
          <p:cNvSpPr/>
          <p:nvPr/>
        </p:nvSpPr>
        <p:spPr>
          <a:xfrm rot="-9180021">
            <a:off x="-12468719" y="-20684773"/>
            <a:ext cx="19022799" cy="27233594"/>
          </a:xfrm>
          <a:custGeom>
            <a:avLst/>
            <a:gdLst/>
            <a:ahLst/>
            <a:cxnLst/>
            <a:rect l="l" t="t" r="r" b="b"/>
            <a:pathLst>
              <a:path w="19022799" h="27233594">
                <a:moveTo>
                  <a:pt x="0" y="0"/>
                </a:moveTo>
                <a:lnTo>
                  <a:pt x="19022799" y="0"/>
                </a:lnTo>
                <a:lnTo>
                  <a:pt x="19022799" y="27233594"/>
                </a:lnTo>
                <a:lnTo>
                  <a:pt x="0" y="27233594"/>
                </a:lnTo>
                <a:lnTo>
                  <a:pt x="0" y="0"/>
                </a:lnTo>
                <a:close/>
              </a:path>
            </a:pathLst>
          </a:custGeom>
          <a:blipFill>
            <a:blip r:embed="rId3"/>
            <a:stretch>
              <a:fillRect l="-1458" t="-2106" b="-6923"/>
            </a:stretch>
          </a:blipFill>
        </p:spPr>
      </p:sp>
      <p:sp>
        <p:nvSpPr>
          <p:cNvPr id="4" name="Freeform 4"/>
          <p:cNvSpPr/>
          <p:nvPr/>
        </p:nvSpPr>
        <p:spPr>
          <a:xfrm rot="294428" flipH="1">
            <a:off x="15382963" y="-2577137"/>
            <a:ext cx="3752675" cy="3738602"/>
          </a:xfrm>
          <a:custGeom>
            <a:avLst/>
            <a:gdLst/>
            <a:ahLst/>
            <a:cxnLst/>
            <a:rect l="l" t="t" r="r" b="b"/>
            <a:pathLst>
              <a:path w="3752675" h="3738602">
                <a:moveTo>
                  <a:pt x="3752674" y="0"/>
                </a:moveTo>
                <a:lnTo>
                  <a:pt x="0" y="0"/>
                </a:lnTo>
                <a:lnTo>
                  <a:pt x="0" y="3738603"/>
                </a:lnTo>
                <a:lnTo>
                  <a:pt x="3752674" y="3738603"/>
                </a:lnTo>
                <a:lnTo>
                  <a:pt x="3752674"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2660098" y="3380824"/>
            <a:ext cx="2510944" cy="2752735"/>
          </a:xfrm>
          <a:prstGeom prst="rect">
            <a:avLst/>
          </a:prstGeom>
        </p:spPr>
        <p:txBody>
          <a:bodyPr lIns="0" tIns="0" rIns="0" bIns="0" rtlCol="0" anchor="t">
            <a:spAutoFit/>
          </a:bodyPr>
          <a:lstStyle/>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7573972" y="1807082"/>
            <a:ext cx="8896432" cy="6358511"/>
          </a:xfrm>
          <a:prstGeom prst="rect">
            <a:avLst/>
          </a:prstGeom>
        </p:spPr>
        <p:txBody>
          <a:bodyPr lIns="0" tIns="0" rIns="0" bIns="0" rtlCol="0" anchor="t">
            <a:spAutoFit/>
          </a:bodyPr>
          <a:lstStyle/>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08. 认为“值了”的原因频率分析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09. 不再去瑞幸的原因频率分析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10. 下次还去瑞幸的原因频率分析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11.有多大可能向亲戚朋友推荐瑞幸频率分析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12.推荐瑞幸方式频率分析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13</a:t>
            </a: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向他人推荐瑞幸的主要原因频率分析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14</a:t>
            </a: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形容词对瑞幸的可形容程度频率分析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7" name="Freeform 7"/>
          <p:cNvSpPr/>
          <p:nvPr/>
        </p:nvSpPr>
        <p:spPr>
          <a:xfrm rot="1671160">
            <a:off x="13216229" y="3232152"/>
            <a:ext cx="14988201" cy="21149016"/>
          </a:xfrm>
          <a:custGeom>
            <a:avLst/>
            <a:gdLst/>
            <a:ahLst/>
            <a:cxnLst/>
            <a:rect l="l" t="t" r="r" b="b"/>
            <a:pathLst>
              <a:path w="14988201" h="21149016">
                <a:moveTo>
                  <a:pt x="0" y="0"/>
                </a:moveTo>
                <a:lnTo>
                  <a:pt x="14988201" y="0"/>
                </a:lnTo>
                <a:lnTo>
                  <a:pt x="14988201" y="21149015"/>
                </a:lnTo>
                <a:lnTo>
                  <a:pt x="0" y="21149015"/>
                </a:lnTo>
                <a:lnTo>
                  <a:pt x="0" y="0"/>
                </a:lnTo>
                <a:close/>
              </a:path>
            </a:pathLst>
          </a:custGeom>
          <a:blipFill>
            <a:blip r:embed="rId3"/>
            <a:stretch>
              <a:fillRect t="-2106" b="-6923"/>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1028700" y="1848764"/>
            <a:ext cx="6460311" cy="5591741"/>
          </a:xfrm>
          <a:custGeom>
            <a:avLst/>
            <a:gdLst/>
            <a:ahLst/>
            <a:cxnLst/>
            <a:rect l="l" t="t" r="r" b="b"/>
            <a:pathLst>
              <a:path w="6460311" h="5591741">
                <a:moveTo>
                  <a:pt x="0" y="0"/>
                </a:moveTo>
                <a:lnTo>
                  <a:pt x="6460311" y="0"/>
                </a:lnTo>
                <a:lnTo>
                  <a:pt x="6460311" y="5591740"/>
                </a:lnTo>
                <a:lnTo>
                  <a:pt x="0" y="5591740"/>
                </a:lnTo>
                <a:lnTo>
                  <a:pt x="0" y="0"/>
                </a:lnTo>
                <a:close/>
              </a:path>
            </a:pathLst>
          </a:custGeom>
          <a:blipFill>
            <a:blip r:embed="rId1"/>
            <a:stretch>
              <a:fillRect/>
            </a:stretch>
          </a:blipFill>
        </p:spPr>
      </p:sp>
      <p:sp>
        <p:nvSpPr>
          <p:cNvPr id="3" name="Freeform 3"/>
          <p:cNvSpPr/>
          <p:nvPr/>
        </p:nvSpPr>
        <p:spPr>
          <a:xfrm>
            <a:off x="8532233" y="1848764"/>
            <a:ext cx="9163749" cy="5591741"/>
          </a:xfrm>
          <a:custGeom>
            <a:avLst/>
            <a:gdLst/>
            <a:ahLst/>
            <a:cxnLst/>
            <a:rect l="l" t="t" r="r" b="b"/>
            <a:pathLst>
              <a:path w="9163749" h="5591741">
                <a:moveTo>
                  <a:pt x="0" y="0"/>
                </a:moveTo>
                <a:lnTo>
                  <a:pt x="9163749" y="0"/>
                </a:lnTo>
                <a:lnTo>
                  <a:pt x="9163749" y="5591740"/>
                </a:lnTo>
                <a:lnTo>
                  <a:pt x="0" y="5591740"/>
                </a:lnTo>
                <a:lnTo>
                  <a:pt x="0" y="0"/>
                </a:lnTo>
                <a:close/>
              </a:path>
            </a:pathLst>
          </a:custGeom>
          <a:blipFill>
            <a:blip r:embed="rId2"/>
            <a:stretch>
              <a:fillRect l="-290" t="-960" r="-290"/>
            </a:stretch>
          </a:blipFill>
        </p:spPr>
      </p:sp>
      <p:sp>
        <p:nvSpPr>
          <p:cNvPr id="4" name="TextBox 4"/>
          <p:cNvSpPr txBox="1"/>
          <p:nvPr/>
        </p:nvSpPr>
        <p:spPr>
          <a:xfrm>
            <a:off x="1937216" y="7477528"/>
            <a:ext cx="14413568" cy="2578092"/>
          </a:xfrm>
          <a:prstGeom prst="rect">
            <a:avLst/>
          </a:prstGeom>
        </p:spPr>
        <p:txBody>
          <a:bodyPr lIns="0" tIns="0" rIns="0" bIns="0" rtlCol="0" anchor="t">
            <a:spAutoFit/>
          </a:bodyPr>
          <a:lstStyle/>
          <a:p>
            <a:pPr algn="ctr">
              <a:lnSpc>
                <a:spcPts val="5230"/>
              </a:lnSpc>
            </a:pPr>
            <a:r>
              <a:rPr lang="en-US" sz="3150" b="1" spc="428">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从这份数据可以看出，瑞幸咖啡在性价比、优惠活动和包装设计上的表现是其吸引消费者的主要因素。同时，口味的独特性和门店环境的舒适度也对消费者的选择有一定影响。这些信息对于瑞幸咖啡的市场策略和产品改进可能非常有价值。</a:t>
            </a:r>
            <a:endParaRPr lang="en-US" sz="3150" b="1" spc="428">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2420038" y="604838"/>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频率分析--认为“值了”的原因</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3011573" y="3065463"/>
            <a:ext cx="12264854" cy="3116566"/>
          </a:xfrm>
          <a:custGeom>
            <a:avLst/>
            <a:gdLst/>
            <a:ahLst/>
            <a:cxnLst/>
            <a:rect l="l" t="t" r="r" b="b"/>
            <a:pathLst>
              <a:path w="12264854" h="3116566">
                <a:moveTo>
                  <a:pt x="0" y="0"/>
                </a:moveTo>
                <a:lnTo>
                  <a:pt x="12264854" y="0"/>
                </a:lnTo>
                <a:lnTo>
                  <a:pt x="12264854" y="3116566"/>
                </a:lnTo>
                <a:lnTo>
                  <a:pt x="0" y="3116566"/>
                </a:lnTo>
                <a:lnTo>
                  <a:pt x="0" y="0"/>
                </a:lnTo>
                <a:close/>
              </a:path>
            </a:pathLst>
          </a:custGeom>
          <a:blipFill>
            <a:blip r:embed="rId1"/>
            <a:stretch>
              <a:fillRect/>
            </a:stretch>
          </a:blipFill>
        </p:spPr>
      </p:sp>
      <p:sp>
        <p:nvSpPr>
          <p:cNvPr id="3" name="TextBox 3"/>
          <p:cNvSpPr txBox="1"/>
          <p:nvPr/>
        </p:nvSpPr>
        <p:spPr>
          <a:xfrm>
            <a:off x="1724951" y="6747501"/>
            <a:ext cx="15049840" cy="2956726"/>
          </a:xfrm>
          <a:prstGeom prst="rect">
            <a:avLst/>
          </a:prstGeom>
        </p:spPr>
        <p:txBody>
          <a:bodyPr lIns="0" tIns="0" rIns="0" bIns="0" rtlCol="0" anchor="t">
            <a:spAutoFit/>
          </a:bodyPr>
          <a:lstStyle/>
          <a:p>
            <a:pPr algn="ctr">
              <a:lnSpc>
                <a:spcPts val="4740"/>
              </a:lnSpc>
              <a:spcBef>
                <a:spcPct val="0"/>
              </a:spcBef>
            </a:pPr>
            <a:r>
              <a:rPr lang="en-US" sz="3385" b="1" spc="4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3385" b="1" spc="4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740"/>
              </a:lnSpc>
              <a:spcBef>
                <a:spcPct val="0"/>
              </a:spcBef>
            </a:pPr>
            <a:r>
              <a:rPr lang="en-US" sz="3385" b="1" spc="4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在调查中选择”不再去瑞幸选项”的人数为0 表明在此次调查的人群中瑞幸的这次调查的样本中没有消费者表示他们不再去瑞幸咖啡。这可能意味着瑞幸咖啡在这次调查的消费者群体中具有较高的满意度或者忠诚度。然而，需要注意的是，这只是一个特定样本的调查结果，可能无法代表所有消费者的观点。</a:t>
            </a:r>
            <a:endParaRPr lang="en-US" sz="3385" b="1" spc="4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4" name="TextBox 4"/>
          <p:cNvSpPr txBox="1"/>
          <p:nvPr/>
        </p:nvSpPr>
        <p:spPr>
          <a:xfrm>
            <a:off x="2420038" y="1369023"/>
            <a:ext cx="13659664" cy="847725"/>
          </a:xfrm>
          <a:prstGeom prst="rect">
            <a:avLst/>
          </a:prstGeom>
        </p:spPr>
        <p:txBody>
          <a:bodyPr lIns="0" tIns="0" rIns="0" bIns="0" rtlCol="0" anchor="t">
            <a:spAutoFit/>
          </a:bodyPr>
          <a:lstStyle/>
          <a:p>
            <a:pPr algn="ctr">
              <a:lnSpc>
                <a:spcPts val="6720"/>
              </a:lnSpc>
            </a:pP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频率分析--不再去瑞幸的原因</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8442044" y="2415538"/>
            <a:ext cx="9215523" cy="5455924"/>
          </a:xfrm>
          <a:custGeom>
            <a:avLst/>
            <a:gdLst/>
            <a:ahLst/>
            <a:cxnLst/>
            <a:rect l="l" t="t" r="r" b="b"/>
            <a:pathLst>
              <a:path w="9215523" h="5455924">
                <a:moveTo>
                  <a:pt x="0" y="0"/>
                </a:moveTo>
                <a:lnTo>
                  <a:pt x="9215523" y="0"/>
                </a:lnTo>
                <a:lnTo>
                  <a:pt x="9215523" y="5455924"/>
                </a:lnTo>
                <a:lnTo>
                  <a:pt x="0" y="5455924"/>
                </a:lnTo>
                <a:lnTo>
                  <a:pt x="0" y="0"/>
                </a:lnTo>
                <a:close/>
              </a:path>
            </a:pathLst>
          </a:custGeom>
          <a:blipFill>
            <a:blip r:embed="rId1"/>
            <a:stretch>
              <a:fillRect t="-341" b="-341"/>
            </a:stretch>
          </a:blipFill>
        </p:spPr>
      </p:sp>
      <p:sp>
        <p:nvSpPr>
          <p:cNvPr id="3" name="Freeform 3"/>
          <p:cNvSpPr/>
          <p:nvPr/>
        </p:nvSpPr>
        <p:spPr>
          <a:xfrm>
            <a:off x="1014929" y="2415538"/>
            <a:ext cx="6821165" cy="5455924"/>
          </a:xfrm>
          <a:custGeom>
            <a:avLst/>
            <a:gdLst/>
            <a:ahLst/>
            <a:cxnLst/>
            <a:rect l="l" t="t" r="r" b="b"/>
            <a:pathLst>
              <a:path w="6821165" h="5455924">
                <a:moveTo>
                  <a:pt x="0" y="0"/>
                </a:moveTo>
                <a:lnTo>
                  <a:pt x="6821164" y="0"/>
                </a:lnTo>
                <a:lnTo>
                  <a:pt x="6821164" y="5455924"/>
                </a:lnTo>
                <a:lnTo>
                  <a:pt x="0" y="5455924"/>
                </a:lnTo>
                <a:lnTo>
                  <a:pt x="0" y="0"/>
                </a:lnTo>
                <a:close/>
              </a:path>
            </a:pathLst>
          </a:custGeom>
          <a:blipFill>
            <a:blip r:embed="rId2"/>
            <a:stretch>
              <a:fillRect/>
            </a:stretch>
          </a:blipFill>
        </p:spPr>
      </p:sp>
      <p:sp>
        <p:nvSpPr>
          <p:cNvPr id="4" name="TextBox 4"/>
          <p:cNvSpPr txBox="1"/>
          <p:nvPr/>
        </p:nvSpPr>
        <p:spPr>
          <a:xfrm>
            <a:off x="1014929" y="8036791"/>
            <a:ext cx="16244371" cy="2127054"/>
          </a:xfrm>
          <a:prstGeom prst="rect">
            <a:avLst/>
          </a:prstGeom>
        </p:spPr>
        <p:txBody>
          <a:bodyPr lIns="0" tIns="0" rIns="0" bIns="0" rtlCol="0" anchor="t">
            <a:spAutoFit/>
          </a:bodyPr>
          <a:lstStyle/>
          <a:p>
            <a:pPr algn="ctr">
              <a:lnSpc>
                <a:spcPts val="4290"/>
              </a:lnSpc>
              <a:spcBef>
                <a:spcPct val="0"/>
              </a:spcBef>
            </a:pPr>
            <a:r>
              <a:rPr lang="en-US" sz="3065" b="1" spc="36">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从这份数据可以看出，瑞幸咖啡在吸引顾客再次光顾方面，优惠券、新品促销和限时折扣活动是主要的驱动因素。店员推荐虽然影响较小，但仍然是一个可以考虑的方面，可能需要提高店员的推荐技巧或者增加顾客对推荐的信任度。这些信息对于瑞幸咖啡的市场策略和促销活动设计可能非常有价值。</a:t>
            </a:r>
            <a:endParaRPr lang="en-US" sz="3065" b="1" spc="36">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2314168" y="1028700"/>
            <a:ext cx="13659664" cy="847725"/>
          </a:xfrm>
          <a:prstGeom prst="rect">
            <a:avLst/>
          </a:prstGeom>
        </p:spPr>
        <p:txBody>
          <a:bodyPr lIns="0" tIns="0" rIns="0" bIns="0" rtlCol="0" anchor="t">
            <a:spAutoFit/>
          </a:bodyPr>
          <a:lstStyle/>
          <a:p>
            <a:pPr algn="ctr">
              <a:lnSpc>
                <a:spcPts val="6720"/>
              </a:lnSpc>
            </a:pP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频率分析--下次还去瑞幸的原因</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4237857" y="1872269"/>
            <a:ext cx="9812286" cy="5901825"/>
          </a:xfrm>
          <a:custGeom>
            <a:avLst/>
            <a:gdLst/>
            <a:ahLst/>
            <a:cxnLst/>
            <a:rect l="l" t="t" r="r" b="b"/>
            <a:pathLst>
              <a:path w="9812286" h="5901825">
                <a:moveTo>
                  <a:pt x="0" y="0"/>
                </a:moveTo>
                <a:lnTo>
                  <a:pt x="9812286" y="0"/>
                </a:lnTo>
                <a:lnTo>
                  <a:pt x="9812286" y="5901825"/>
                </a:lnTo>
                <a:lnTo>
                  <a:pt x="0" y="5901825"/>
                </a:lnTo>
                <a:lnTo>
                  <a:pt x="0" y="0"/>
                </a:lnTo>
                <a:close/>
              </a:path>
            </a:pathLst>
          </a:custGeom>
          <a:blipFill>
            <a:blip r:embed="rId1"/>
            <a:stretch>
              <a:fillRect/>
            </a:stretch>
          </a:blipFill>
        </p:spPr>
      </p:sp>
      <p:sp>
        <p:nvSpPr>
          <p:cNvPr id="3" name="TextBox 3"/>
          <p:cNvSpPr txBox="1"/>
          <p:nvPr/>
        </p:nvSpPr>
        <p:spPr>
          <a:xfrm>
            <a:off x="2132446" y="7952696"/>
            <a:ext cx="14661241" cy="2159635"/>
          </a:xfrm>
          <a:prstGeom prst="rect">
            <a:avLst/>
          </a:prstGeom>
        </p:spPr>
        <p:txBody>
          <a:bodyPr lIns="0" tIns="0" rIns="0" bIns="0" rtlCol="0" anchor="t">
            <a:spAutoFit/>
          </a:bodyPr>
          <a:lstStyle/>
          <a:p>
            <a:pPr algn="ctr">
              <a:lnSpc>
                <a:spcPts val="4340"/>
              </a:lnSpc>
              <a:spcBef>
                <a:spcPct val="0"/>
              </a:spcBef>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从图表中可以看出，大多数消费者对推荐瑞幸咖啡持中立到正面的态度，尤其是在评分6到8之间。这表明瑞幸咖啡在消费者中有一定的满意度和推荐潜力。然而，也有一小部分消费者对推荐持消极态度，这可能是瑞幸咖啡需要关注和改进的地方。</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spcBef>
                <a:spcPct val="0"/>
              </a:spcBef>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的下降。</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4" name="TextBox 4"/>
          <p:cNvSpPr txBox="1"/>
          <p:nvPr/>
        </p:nvSpPr>
        <p:spPr>
          <a:xfrm>
            <a:off x="2420038" y="604838"/>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频率分析--有多大可能向亲戚朋友推荐瑞幸</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386730" y="2330017"/>
            <a:ext cx="8757270" cy="7215497"/>
          </a:xfrm>
          <a:custGeom>
            <a:avLst/>
            <a:gdLst/>
            <a:ahLst/>
            <a:cxnLst/>
            <a:rect l="l" t="t" r="r" b="b"/>
            <a:pathLst>
              <a:path w="8757270" h="7215497">
                <a:moveTo>
                  <a:pt x="0" y="0"/>
                </a:moveTo>
                <a:lnTo>
                  <a:pt x="8757270" y="0"/>
                </a:lnTo>
                <a:lnTo>
                  <a:pt x="8757270" y="7215497"/>
                </a:lnTo>
                <a:lnTo>
                  <a:pt x="0" y="7215497"/>
                </a:lnTo>
                <a:lnTo>
                  <a:pt x="0" y="0"/>
                </a:lnTo>
                <a:close/>
              </a:path>
            </a:pathLst>
          </a:custGeom>
          <a:blipFill>
            <a:blip r:embed="rId1"/>
            <a:stretch>
              <a:fillRect/>
            </a:stretch>
          </a:blipFill>
        </p:spPr>
      </p:sp>
      <p:sp>
        <p:nvSpPr>
          <p:cNvPr id="3" name="TextBox 3"/>
          <p:cNvSpPr txBox="1"/>
          <p:nvPr/>
        </p:nvSpPr>
        <p:spPr>
          <a:xfrm>
            <a:off x="9721684" y="2234767"/>
            <a:ext cx="8095003" cy="7310747"/>
          </a:xfrm>
          <a:prstGeom prst="rect">
            <a:avLst/>
          </a:prstGeom>
        </p:spPr>
        <p:txBody>
          <a:bodyPr lIns="0" tIns="0" rIns="0" bIns="0" rtlCol="0" anchor="t">
            <a:spAutoFit/>
          </a:bodyPr>
          <a:lstStyle/>
          <a:p>
            <a:pPr algn="l">
              <a:lnSpc>
                <a:spcPts val="4500"/>
              </a:lnSpc>
            </a:pPr>
            <a:r>
              <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根据数据：</a:t>
            </a:r>
            <a:endPar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500"/>
              </a:lnSpc>
            </a:pPr>
            <a:r>
              <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推荐者（9分和10分）：9 + 2 = 11人</a:t>
            </a:r>
            <a:endPar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500"/>
              </a:lnSpc>
            </a:pPr>
            <a:r>
              <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批评者（0分到6分）：2 + 1 + 1 + 6 + 19 + 19 + 18 = 66人</a:t>
            </a:r>
            <a:endPar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500"/>
              </a:lnSpc>
            </a:pPr>
            <a:r>
              <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总有效样本数：107人</a:t>
            </a:r>
            <a:endPar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500"/>
              </a:lnSpc>
            </a:pPr>
            <a:r>
              <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NPS计算：（１１－６６）➗１０７✖１００≈－５１．４</a:t>
            </a:r>
            <a:endPar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500"/>
              </a:lnSpc>
            </a:pPr>
            <a:r>
              <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净推荐率（NPS）约为-51.4，这是一个负数，表明批评者的数量远多于推荐者。这可能意味着瑞幸咖啡在客户满意度方面存在问题，需要进一步调查和改进。NPS是一个重要的客户忠诚度和品牌健康度的指标，负数的NPS可能预示着客户流失和品牌声誉的下降。</a:t>
            </a:r>
            <a:endParaRPr lang="en-US" sz="29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4" name="TextBox 4"/>
          <p:cNvSpPr txBox="1"/>
          <p:nvPr/>
        </p:nvSpPr>
        <p:spPr>
          <a:xfrm>
            <a:off x="2420038" y="790468"/>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频率分析--有多大可能向亲戚朋友推荐瑞幸</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479966" y="2943521"/>
            <a:ext cx="6389812" cy="6078521"/>
          </a:xfrm>
          <a:custGeom>
            <a:avLst/>
            <a:gdLst/>
            <a:ahLst/>
            <a:cxnLst/>
            <a:rect l="l" t="t" r="r" b="b"/>
            <a:pathLst>
              <a:path w="6389812" h="6078521">
                <a:moveTo>
                  <a:pt x="0" y="0"/>
                </a:moveTo>
                <a:lnTo>
                  <a:pt x="6389812" y="0"/>
                </a:lnTo>
                <a:lnTo>
                  <a:pt x="6389812" y="6078521"/>
                </a:lnTo>
                <a:lnTo>
                  <a:pt x="0" y="6078521"/>
                </a:lnTo>
                <a:lnTo>
                  <a:pt x="0" y="0"/>
                </a:lnTo>
                <a:close/>
              </a:path>
            </a:pathLst>
          </a:custGeom>
          <a:blipFill>
            <a:blip r:embed="rId1"/>
            <a:stretch>
              <a:fillRect l="-1436" r="-3144"/>
            </a:stretch>
          </a:blipFill>
        </p:spPr>
      </p:sp>
      <p:sp>
        <p:nvSpPr>
          <p:cNvPr id="3" name="Freeform 3"/>
          <p:cNvSpPr/>
          <p:nvPr/>
        </p:nvSpPr>
        <p:spPr>
          <a:xfrm>
            <a:off x="7192820" y="2943521"/>
            <a:ext cx="10790223" cy="6078521"/>
          </a:xfrm>
          <a:custGeom>
            <a:avLst/>
            <a:gdLst/>
            <a:ahLst/>
            <a:cxnLst/>
            <a:rect l="l" t="t" r="r" b="b"/>
            <a:pathLst>
              <a:path w="10790223" h="6078521">
                <a:moveTo>
                  <a:pt x="0" y="0"/>
                </a:moveTo>
                <a:lnTo>
                  <a:pt x="10790223" y="0"/>
                </a:lnTo>
                <a:lnTo>
                  <a:pt x="10790223" y="6078521"/>
                </a:lnTo>
                <a:lnTo>
                  <a:pt x="0" y="6078521"/>
                </a:lnTo>
                <a:lnTo>
                  <a:pt x="0" y="0"/>
                </a:lnTo>
                <a:close/>
              </a:path>
            </a:pathLst>
          </a:custGeom>
          <a:blipFill>
            <a:blip r:embed="rId2"/>
            <a:stretch>
              <a:fillRect/>
            </a:stretch>
          </a:blipFill>
        </p:spPr>
      </p:sp>
      <p:sp>
        <p:nvSpPr>
          <p:cNvPr id="4" name="TextBox 4"/>
          <p:cNvSpPr txBox="1"/>
          <p:nvPr/>
        </p:nvSpPr>
        <p:spPr>
          <a:xfrm>
            <a:off x="2314168" y="1028700"/>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频率分析--推荐瑞幸的方式</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TextBox 2"/>
          <p:cNvSpPr txBox="1"/>
          <p:nvPr/>
        </p:nvSpPr>
        <p:spPr>
          <a:xfrm>
            <a:off x="190061" y="685800"/>
            <a:ext cx="17763789" cy="8915400"/>
          </a:xfrm>
          <a:prstGeom prst="rect">
            <a:avLst/>
          </a:prstGeom>
        </p:spPr>
        <p:txBody>
          <a:bodyPr lIns="0" tIns="0" rIns="0" bIns="0" rtlCol="0" anchor="t">
            <a:spAutoFit/>
          </a:bodyPr>
          <a:lstStyle/>
          <a:p>
            <a:pPr algn="l">
              <a:lnSpc>
                <a:spcPts val="3960"/>
              </a:lnSpc>
              <a:spcBef>
                <a:spcPct val="0"/>
              </a:spcBef>
            </a:pPr>
            <a:r>
              <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960"/>
              </a:lnSpc>
              <a:spcBef>
                <a:spcPct val="0"/>
              </a:spcBef>
            </a:pPr>
            <a:r>
              <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 口头推荐（90个案，52.9%）：这是消费者推荐瑞幸咖啡的最常见方式，占比超过一半。这表明口碑传播是瑞幸咖啡推荐的主要途径。</a:t>
            </a:r>
            <a:endPar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960"/>
              </a:lnSpc>
              <a:spcBef>
                <a:spcPct val="0"/>
              </a:spcBef>
            </a:pPr>
            <a:r>
              <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2. 微信或朋友圈推荐（35个案，20.6%）：通过微信或朋友圈推荐是第二大推荐方式，这显示了社交媒体在推荐过程中的重要性。</a:t>
            </a:r>
            <a:endPar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960"/>
              </a:lnSpc>
              <a:spcBef>
                <a:spcPct val="0"/>
              </a:spcBef>
            </a:pPr>
            <a:r>
              <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3. 社交媒体发布体验（12个案，7.1%）：通过社交媒体发布体验的推荐方式占比较小，但仍然是一个有效的推广渠道。</a:t>
            </a:r>
            <a:endPar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960"/>
              </a:lnSpc>
              <a:spcBef>
                <a:spcPct val="0"/>
              </a:spcBef>
            </a:pPr>
            <a:r>
              <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 推荐优惠券或邀请活动（28个案，16.5%）：这种方式的推荐也相对常见，说明优惠券和邀请活动对吸引新顾客有一定的效果。</a:t>
            </a:r>
            <a:endPar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960"/>
              </a:lnSpc>
              <a:spcBef>
                <a:spcPct val="0"/>
              </a:spcBef>
            </a:pPr>
            <a:r>
              <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 其他方式（5个案，2.9%）：有少数消费者选择了其他方式，这可能包括面对面的推荐、电子邮件或其他未列出的渠道。</a:t>
            </a:r>
            <a:endPar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960"/>
              </a:lnSpc>
              <a:spcBef>
                <a:spcPct val="0"/>
              </a:spcBef>
            </a:pPr>
            <a:r>
              <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6. 个案百分比总和（163.5%）：这个数字超过了100%，因为消费者可能选择了多个推荐方式。这意味着一些消费者可能会通过多种方式推荐瑞幸咖啡。</a:t>
            </a:r>
            <a:endPar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960"/>
              </a:lnSpc>
              <a:spcBef>
                <a:spcPct val="0"/>
              </a:spcBef>
            </a:pPr>
            <a:r>
              <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7. 总计（170个案，100.0%）：这是参与调查的总人数，确保了数据的完整性。</a:t>
            </a:r>
            <a:endPar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960"/>
              </a:lnSpc>
              <a:spcBef>
                <a:spcPct val="0"/>
              </a:spcBef>
            </a:pPr>
            <a:r>
              <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从这份数据可以看出，瑞幸咖啡的推荐主要依赖于口头传播和社交媒体，尤其是微信和朋友圈。这为瑞幸咖啡提供了明确的市场推广方向，即加强口碑营销和社交媒体营销。同时，优惠券和邀请活动也是吸引新顾客的有效手段。这些信息对于瑞幸咖啡的市场策略和推广活动设计可能非常有价值。</a:t>
            </a:r>
            <a:endParaRPr lang="en-US" sz="33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181418" y="2902242"/>
            <a:ext cx="7067123" cy="5989517"/>
          </a:xfrm>
          <a:custGeom>
            <a:avLst/>
            <a:gdLst/>
            <a:ahLst/>
            <a:cxnLst/>
            <a:rect l="l" t="t" r="r" b="b"/>
            <a:pathLst>
              <a:path w="7067123" h="5989517">
                <a:moveTo>
                  <a:pt x="0" y="0"/>
                </a:moveTo>
                <a:lnTo>
                  <a:pt x="7067123" y="0"/>
                </a:lnTo>
                <a:lnTo>
                  <a:pt x="7067123" y="5989516"/>
                </a:lnTo>
                <a:lnTo>
                  <a:pt x="0" y="5989516"/>
                </a:lnTo>
                <a:lnTo>
                  <a:pt x="0" y="0"/>
                </a:lnTo>
                <a:close/>
              </a:path>
            </a:pathLst>
          </a:custGeom>
          <a:blipFill>
            <a:blip r:embed="rId1"/>
            <a:stretch>
              <a:fillRect r="-597"/>
            </a:stretch>
          </a:blipFill>
        </p:spPr>
      </p:sp>
      <p:sp>
        <p:nvSpPr>
          <p:cNvPr id="3" name="Freeform 3"/>
          <p:cNvSpPr/>
          <p:nvPr/>
        </p:nvSpPr>
        <p:spPr>
          <a:xfrm>
            <a:off x="7647749" y="2902242"/>
            <a:ext cx="10444934" cy="5989517"/>
          </a:xfrm>
          <a:custGeom>
            <a:avLst/>
            <a:gdLst/>
            <a:ahLst/>
            <a:cxnLst/>
            <a:rect l="l" t="t" r="r" b="b"/>
            <a:pathLst>
              <a:path w="10444934" h="5989517">
                <a:moveTo>
                  <a:pt x="0" y="0"/>
                </a:moveTo>
                <a:lnTo>
                  <a:pt x="10444934" y="0"/>
                </a:lnTo>
                <a:lnTo>
                  <a:pt x="10444934" y="5989516"/>
                </a:lnTo>
                <a:lnTo>
                  <a:pt x="0" y="5989516"/>
                </a:lnTo>
                <a:lnTo>
                  <a:pt x="0" y="0"/>
                </a:lnTo>
                <a:close/>
              </a:path>
            </a:pathLst>
          </a:custGeom>
          <a:blipFill>
            <a:blip r:embed="rId2"/>
            <a:stretch>
              <a:fillRect/>
            </a:stretch>
          </a:blipFill>
        </p:spPr>
      </p:sp>
      <p:sp>
        <p:nvSpPr>
          <p:cNvPr id="4" name="TextBox 4"/>
          <p:cNvSpPr txBox="1"/>
          <p:nvPr/>
        </p:nvSpPr>
        <p:spPr>
          <a:xfrm>
            <a:off x="2314168" y="1028700"/>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频率分析--向他人推荐瑞幸的主要原因</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TextBox 2"/>
          <p:cNvSpPr txBox="1"/>
          <p:nvPr/>
        </p:nvSpPr>
        <p:spPr>
          <a:xfrm>
            <a:off x="129481" y="971550"/>
            <a:ext cx="18029039" cy="7712305"/>
          </a:xfrm>
          <a:prstGeom prst="rect">
            <a:avLst/>
          </a:prstGeom>
        </p:spPr>
        <p:txBody>
          <a:bodyPr lIns="0" tIns="0" rIns="0" bIns="0" rtlCol="0" anchor="t">
            <a:spAutoFit/>
          </a:bodyPr>
          <a:lstStyle/>
          <a:p>
            <a:pPr algn="l">
              <a:lnSpc>
                <a:spcPts val="4360"/>
              </a:lnSpc>
              <a:spcBef>
                <a:spcPct val="0"/>
              </a:spcBef>
            </a:pPr>
            <a:r>
              <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360"/>
              </a:lnSpc>
              <a:spcBef>
                <a:spcPct val="0"/>
              </a:spcBef>
            </a:pPr>
            <a:r>
              <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 性价比高（66个案，55.0%）：这是消费者推荐瑞幸咖啡的最主要原因，占比超过一半。这表明消费者普遍认为瑞幸咖啡在价格和质量上提供了很好的平衡。</a:t>
            </a:r>
            <a:endPar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360"/>
              </a:lnSpc>
              <a:spcBef>
                <a:spcPct val="0"/>
              </a:spcBef>
            </a:pPr>
            <a:r>
              <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2. 产品品质不错（27个案，22.5%）：产品品质是第二大推荐原因，这显示了瑞幸咖啡在产品质量方面的好评。</a:t>
            </a:r>
            <a:endPar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360"/>
              </a:lnSpc>
              <a:spcBef>
                <a:spcPct val="0"/>
              </a:spcBef>
            </a:pPr>
            <a:r>
              <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3. 营销活动吸引人（11个案，9.2%）：营销活动对消费者的吸引力也较为显著，这可能与瑞幸咖啡的促销和折扣活动有关。</a:t>
            </a:r>
            <a:endPar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360"/>
              </a:lnSpc>
              <a:spcBef>
                <a:spcPct val="0"/>
              </a:spcBef>
            </a:pPr>
            <a:r>
              <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 品牌形象好（1个案，0.8%）：品牌形象对消费者的吸引力相对较小，这可能意味着品牌形象虽然正面，但不是主要的推荐驱动因素。</a:t>
            </a:r>
            <a:endPar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360"/>
              </a:lnSpc>
              <a:spcBef>
                <a:spcPct val="0"/>
              </a:spcBef>
            </a:pPr>
            <a:r>
              <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 其他原因（2个案，1.7%）：有少数消费者选择了“其他”作为推荐原因，这可能包括一些非常个性化或不常见的因素。</a:t>
            </a:r>
            <a:endPar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4360"/>
              </a:lnSpc>
              <a:spcBef>
                <a:spcPct val="0"/>
              </a:spcBef>
            </a:pPr>
            <a:r>
              <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从这份数据可以看出，瑞幸咖啡在性价比和产品品质方面得到了消费者的高度认可，这是其吸引顾客的主要优势。同时，营销活动也对吸引顾客有一定的效果。品牌形象虽然正面，但对推荐的影响较小。这些信息对于瑞幸咖啡的市场策略和产品改进可能非常有价值。</a:t>
            </a:r>
            <a:endParaRPr lang="en-US" sz="3115"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263083" y="2492139"/>
            <a:ext cx="6880802" cy="6502176"/>
          </a:xfrm>
          <a:custGeom>
            <a:avLst/>
            <a:gdLst/>
            <a:ahLst/>
            <a:cxnLst/>
            <a:rect l="l" t="t" r="r" b="b"/>
            <a:pathLst>
              <a:path w="6880802" h="6502176">
                <a:moveTo>
                  <a:pt x="0" y="0"/>
                </a:moveTo>
                <a:lnTo>
                  <a:pt x="6880802" y="0"/>
                </a:lnTo>
                <a:lnTo>
                  <a:pt x="6880802" y="6502176"/>
                </a:lnTo>
                <a:lnTo>
                  <a:pt x="0" y="6502176"/>
                </a:lnTo>
                <a:lnTo>
                  <a:pt x="0" y="0"/>
                </a:lnTo>
                <a:close/>
              </a:path>
            </a:pathLst>
          </a:custGeom>
          <a:blipFill>
            <a:blip r:embed="rId1"/>
            <a:stretch>
              <a:fillRect/>
            </a:stretch>
          </a:blipFill>
        </p:spPr>
      </p:sp>
      <p:sp>
        <p:nvSpPr>
          <p:cNvPr id="3" name="Freeform 3"/>
          <p:cNvSpPr/>
          <p:nvPr/>
        </p:nvSpPr>
        <p:spPr>
          <a:xfrm>
            <a:off x="7420827" y="2492139"/>
            <a:ext cx="10635135" cy="6502176"/>
          </a:xfrm>
          <a:custGeom>
            <a:avLst/>
            <a:gdLst/>
            <a:ahLst/>
            <a:cxnLst/>
            <a:rect l="l" t="t" r="r" b="b"/>
            <a:pathLst>
              <a:path w="10635135" h="6502176">
                <a:moveTo>
                  <a:pt x="0" y="0"/>
                </a:moveTo>
                <a:lnTo>
                  <a:pt x="10635135" y="0"/>
                </a:lnTo>
                <a:lnTo>
                  <a:pt x="10635135" y="6502176"/>
                </a:lnTo>
                <a:lnTo>
                  <a:pt x="0" y="6502176"/>
                </a:lnTo>
                <a:lnTo>
                  <a:pt x="0" y="0"/>
                </a:lnTo>
                <a:close/>
              </a:path>
            </a:pathLst>
          </a:custGeom>
          <a:blipFill>
            <a:blip r:embed="rId2"/>
            <a:stretch>
              <a:fillRect t="-2711"/>
            </a:stretch>
          </a:blipFill>
        </p:spPr>
      </p:sp>
      <p:sp>
        <p:nvSpPr>
          <p:cNvPr id="4" name="TextBox 4"/>
          <p:cNvSpPr txBox="1"/>
          <p:nvPr/>
        </p:nvSpPr>
        <p:spPr>
          <a:xfrm>
            <a:off x="2420038" y="1028700"/>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频率分析--年轻化对瑞幸的可形容程度</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177893" y="2690005"/>
            <a:ext cx="7409212" cy="6568295"/>
          </a:xfrm>
          <a:custGeom>
            <a:avLst/>
            <a:gdLst/>
            <a:ahLst/>
            <a:cxnLst/>
            <a:rect l="l" t="t" r="r" b="b"/>
            <a:pathLst>
              <a:path w="7409212" h="6568295">
                <a:moveTo>
                  <a:pt x="0" y="0"/>
                </a:moveTo>
                <a:lnTo>
                  <a:pt x="7409212" y="0"/>
                </a:lnTo>
                <a:lnTo>
                  <a:pt x="7409212" y="6568295"/>
                </a:lnTo>
                <a:lnTo>
                  <a:pt x="0" y="6568295"/>
                </a:lnTo>
                <a:lnTo>
                  <a:pt x="0" y="0"/>
                </a:lnTo>
                <a:close/>
              </a:path>
            </a:pathLst>
          </a:custGeom>
          <a:blipFill>
            <a:blip r:embed="rId1"/>
            <a:stretch>
              <a:fillRect r="-311"/>
            </a:stretch>
          </a:blipFill>
        </p:spPr>
      </p:sp>
      <p:sp>
        <p:nvSpPr>
          <p:cNvPr id="3" name="Freeform 3"/>
          <p:cNvSpPr/>
          <p:nvPr/>
        </p:nvSpPr>
        <p:spPr>
          <a:xfrm>
            <a:off x="7808660" y="2690005"/>
            <a:ext cx="10309178" cy="6568295"/>
          </a:xfrm>
          <a:custGeom>
            <a:avLst/>
            <a:gdLst/>
            <a:ahLst/>
            <a:cxnLst/>
            <a:rect l="l" t="t" r="r" b="b"/>
            <a:pathLst>
              <a:path w="10309178" h="6568295">
                <a:moveTo>
                  <a:pt x="0" y="0"/>
                </a:moveTo>
                <a:lnTo>
                  <a:pt x="10309179" y="0"/>
                </a:lnTo>
                <a:lnTo>
                  <a:pt x="10309179" y="6568295"/>
                </a:lnTo>
                <a:lnTo>
                  <a:pt x="0" y="6568295"/>
                </a:lnTo>
                <a:lnTo>
                  <a:pt x="0" y="0"/>
                </a:lnTo>
                <a:close/>
              </a:path>
            </a:pathLst>
          </a:custGeom>
          <a:blipFill>
            <a:blip r:embed="rId2"/>
            <a:stretch>
              <a:fillRect/>
            </a:stretch>
          </a:blipFill>
        </p:spPr>
      </p:sp>
      <p:sp>
        <p:nvSpPr>
          <p:cNvPr id="4" name="TextBox 4"/>
          <p:cNvSpPr txBox="1"/>
          <p:nvPr/>
        </p:nvSpPr>
        <p:spPr>
          <a:xfrm>
            <a:off x="2314168" y="1028700"/>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频率分析--创新对瑞幸的可形容程度</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284309" y="2798133"/>
            <a:ext cx="6508560" cy="6460167"/>
          </a:xfrm>
          <a:custGeom>
            <a:avLst/>
            <a:gdLst/>
            <a:ahLst/>
            <a:cxnLst/>
            <a:rect l="l" t="t" r="r" b="b"/>
            <a:pathLst>
              <a:path w="6508560" h="6460167">
                <a:moveTo>
                  <a:pt x="0" y="0"/>
                </a:moveTo>
                <a:lnTo>
                  <a:pt x="6508560" y="0"/>
                </a:lnTo>
                <a:lnTo>
                  <a:pt x="6508560" y="6460167"/>
                </a:lnTo>
                <a:lnTo>
                  <a:pt x="0" y="6460167"/>
                </a:lnTo>
                <a:lnTo>
                  <a:pt x="0" y="0"/>
                </a:lnTo>
                <a:close/>
              </a:path>
            </a:pathLst>
          </a:custGeom>
          <a:blipFill>
            <a:blip r:embed="rId1"/>
            <a:stretch>
              <a:fillRect t="-1880" b="-1762"/>
            </a:stretch>
          </a:blipFill>
        </p:spPr>
      </p:sp>
      <p:sp>
        <p:nvSpPr>
          <p:cNvPr id="3" name="Freeform 3"/>
          <p:cNvSpPr/>
          <p:nvPr/>
        </p:nvSpPr>
        <p:spPr>
          <a:xfrm>
            <a:off x="7069533" y="2798133"/>
            <a:ext cx="11036665" cy="6460167"/>
          </a:xfrm>
          <a:custGeom>
            <a:avLst/>
            <a:gdLst/>
            <a:ahLst/>
            <a:cxnLst/>
            <a:rect l="l" t="t" r="r" b="b"/>
            <a:pathLst>
              <a:path w="11036665" h="6460167">
                <a:moveTo>
                  <a:pt x="0" y="0"/>
                </a:moveTo>
                <a:lnTo>
                  <a:pt x="11036666" y="0"/>
                </a:lnTo>
                <a:lnTo>
                  <a:pt x="11036666" y="6460167"/>
                </a:lnTo>
                <a:lnTo>
                  <a:pt x="0" y="6460167"/>
                </a:lnTo>
                <a:lnTo>
                  <a:pt x="0" y="0"/>
                </a:lnTo>
                <a:close/>
              </a:path>
            </a:pathLst>
          </a:custGeom>
          <a:blipFill>
            <a:blip r:embed="rId2"/>
            <a:stretch>
              <a:fillRect t="-3553"/>
            </a:stretch>
          </a:blipFill>
        </p:spPr>
      </p:sp>
      <p:sp>
        <p:nvSpPr>
          <p:cNvPr id="4" name="TextBox 4"/>
          <p:cNvSpPr txBox="1"/>
          <p:nvPr/>
        </p:nvSpPr>
        <p:spPr>
          <a:xfrm>
            <a:off x="2314168" y="1161729"/>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频率分析--性价比对瑞幸的可形容程度</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305255" y="2836471"/>
            <a:ext cx="7542552" cy="6218090"/>
          </a:xfrm>
          <a:custGeom>
            <a:avLst/>
            <a:gdLst/>
            <a:ahLst/>
            <a:cxnLst/>
            <a:rect l="l" t="t" r="r" b="b"/>
            <a:pathLst>
              <a:path w="7542552" h="6218090">
                <a:moveTo>
                  <a:pt x="0" y="0"/>
                </a:moveTo>
                <a:lnTo>
                  <a:pt x="7542552" y="0"/>
                </a:lnTo>
                <a:lnTo>
                  <a:pt x="7542552" y="6218090"/>
                </a:lnTo>
                <a:lnTo>
                  <a:pt x="0" y="6218090"/>
                </a:lnTo>
                <a:lnTo>
                  <a:pt x="0" y="0"/>
                </a:lnTo>
                <a:close/>
              </a:path>
            </a:pathLst>
          </a:custGeom>
          <a:blipFill>
            <a:blip r:embed="rId1"/>
            <a:stretch>
              <a:fillRect/>
            </a:stretch>
          </a:blipFill>
        </p:spPr>
      </p:sp>
      <p:sp>
        <p:nvSpPr>
          <p:cNvPr id="3" name="Freeform 3"/>
          <p:cNvSpPr/>
          <p:nvPr/>
        </p:nvSpPr>
        <p:spPr>
          <a:xfrm>
            <a:off x="8237416" y="2836471"/>
            <a:ext cx="9725731" cy="6218090"/>
          </a:xfrm>
          <a:custGeom>
            <a:avLst/>
            <a:gdLst/>
            <a:ahLst/>
            <a:cxnLst/>
            <a:rect l="l" t="t" r="r" b="b"/>
            <a:pathLst>
              <a:path w="9725731" h="6218090">
                <a:moveTo>
                  <a:pt x="0" y="0"/>
                </a:moveTo>
                <a:lnTo>
                  <a:pt x="9725730" y="0"/>
                </a:lnTo>
                <a:lnTo>
                  <a:pt x="9725730" y="6218090"/>
                </a:lnTo>
                <a:lnTo>
                  <a:pt x="0" y="6218090"/>
                </a:lnTo>
                <a:lnTo>
                  <a:pt x="0" y="0"/>
                </a:lnTo>
                <a:close/>
              </a:path>
            </a:pathLst>
          </a:custGeom>
          <a:blipFill>
            <a:blip r:embed="rId2"/>
            <a:stretch>
              <a:fillRect/>
            </a:stretch>
          </a:blipFill>
        </p:spPr>
      </p:sp>
      <p:sp>
        <p:nvSpPr>
          <p:cNvPr id="4" name="TextBox 4"/>
          <p:cNvSpPr txBox="1"/>
          <p:nvPr/>
        </p:nvSpPr>
        <p:spPr>
          <a:xfrm>
            <a:off x="2314168" y="1161729"/>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频率分析--大众化对瑞幸的可形容程度</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a:off x="324854" y="3068567"/>
            <a:ext cx="7826904" cy="6189733"/>
          </a:xfrm>
          <a:custGeom>
            <a:avLst/>
            <a:gdLst/>
            <a:ahLst/>
            <a:cxnLst/>
            <a:rect l="l" t="t" r="r" b="b"/>
            <a:pathLst>
              <a:path w="7826904" h="6189733">
                <a:moveTo>
                  <a:pt x="0" y="0"/>
                </a:moveTo>
                <a:lnTo>
                  <a:pt x="7826904" y="0"/>
                </a:lnTo>
                <a:lnTo>
                  <a:pt x="7826904" y="6189733"/>
                </a:lnTo>
                <a:lnTo>
                  <a:pt x="0" y="6189733"/>
                </a:lnTo>
                <a:lnTo>
                  <a:pt x="0" y="0"/>
                </a:lnTo>
                <a:close/>
              </a:path>
            </a:pathLst>
          </a:custGeom>
          <a:blipFill>
            <a:blip r:embed="rId1"/>
            <a:stretch>
              <a:fillRect/>
            </a:stretch>
          </a:blipFill>
        </p:spPr>
      </p:sp>
      <p:sp>
        <p:nvSpPr>
          <p:cNvPr id="3" name="Freeform 3"/>
          <p:cNvSpPr/>
          <p:nvPr/>
        </p:nvSpPr>
        <p:spPr>
          <a:xfrm>
            <a:off x="8321121" y="3068567"/>
            <a:ext cx="9772783" cy="6189733"/>
          </a:xfrm>
          <a:custGeom>
            <a:avLst/>
            <a:gdLst/>
            <a:ahLst/>
            <a:cxnLst/>
            <a:rect l="l" t="t" r="r" b="b"/>
            <a:pathLst>
              <a:path w="9772783" h="6189733">
                <a:moveTo>
                  <a:pt x="0" y="0"/>
                </a:moveTo>
                <a:lnTo>
                  <a:pt x="9772783" y="0"/>
                </a:lnTo>
                <a:lnTo>
                  <a:pt x="9772783" y="6189733"/>
                </a:lnTo>
                <a:lnTo>
                  <a:pt x="0" y="6189733"/>
                </a:lnTo>
                <a:lnTo>
                  <a:pt x="0" y="0"/>
                </a:lnTo>
                <a:close/>
              </a:path>
            </a:pathLst>
          </a:custGeom>
          <a:blipFill>
            <a:blip r:embed="rId2"/>
            <a:stretch>
              <a:fillRect l="-1714" r="-1714"/>
            </a:stretch>
          </a:blipFill>
        </p:spPr>
      </p:sp>
      <p:sp>
        <p:nvSpPr>
          <p:cNvPr id="4" name="TextBox 4"/>
          <p:cNvSpPr txBox="1"/>
          <p:nvPr/>
        </p:nvSpPr>
        <p:spPr>
          <a:xfrm>
            <a:off x="2314168" y="1486583"/>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频率分析--品质优良对瑞幸的可形容程度</a:t>
            </a:r>
            <a:endParaRPr lang="en-US" sz="5600" b="1">
              <a:solidFill>
                <a:srgbClr val="EFE6D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TextBox 2"/>
          <p:cNvSpPr txBox="1"/>
          <p:nvPr/>
        </p:nvSpPr>
        <p:spPr>
          <a:xfrm>
            <a:off x="371261" y="242432"/>
            <a:ext cx="18116678" cy="10497185"/>
          </a:xfrm>
          <a:prstGeom prst="rect">
            <a:avLst/>
          </a:prstGeom>
        </p:spPr>
        <p:txBody>
          <a:bodyPr lIns="0" tIns="0" rIns="0" bIns="0" rtlCol="0" anchor="t">
            <a:spAutoFit/>
          </a:bodyPr>
          <a:lstStyle/>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 年轻（形容词的对瑞幸咖啡的可形容程度）</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7分（30.8%）和8分（29.9%）是最常见的评分，表明大多数消费者认为瑞幸咖啡具有较高的年轻形象。</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9分（18.7%）也占有相当比例，显示瑞幸咖啡在年轻消费者中的形象非常积极。</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2. 创新（形容词的对瑞幸咖啡的可形容程度）</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7分（35.5%）是最常见的评分，显示消费者普遍认为瑞幸咖啡具有创新性。</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6分（17.8%）和5分（18.7%）也占有较大比例，进一步支持瑞幸咖啡的创新形象。</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3. 性价比高（形容词的对瑞幸咖啡的可形容程度）</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7分（49.5%）是最常见的评分，表明消费者高度认可瑞幸咖啡的性价比。</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6分（24.3%）和5分（12.5%）也显示了积极的反馈。</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 大众化（形容词的对瑞幸咖啡的可形容程度）</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9分（26.2%）是最常见的评分，显示瑞幸咖啡在大众化方面得到了很高的评价。</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8分（23.4%）和7分（29.0%）也显示了积极的反馈。</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 品质优良（形容词的对瑞幸咖啡的可形容程度）</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7分（28.0%）和6分（29.0%）是最常见的评分，表明消费者普遍认为瑞幸咖啡品质优良。</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8分（9.3%）和9分（9.3%）也显示了一部分消费者对瑞幸咖啡品质的高度认可。</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总结</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瑞幸咖啡在所有维度上都得到了积极的反馈，尤其是在性价比和年轻形象方面。</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大多数消费者对瑞幸咖啡的创新性、大众化和品质优良也给予了高度评价。</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这些数据为瑞幸咖啡的市场定位和品牌建设提供了有力的支持，同时也指出了其在年轻消费者中的强烈吸引力。</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这些分析可以帮助瑞幸咖啡更好地理解其品牌形象，并在市场营销和产品开发中利用这些优势。</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spcBef>
                <a:spcPct val="0"/>
              </a:spcBef>
            </a:p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74067" flipH="1">
            <a:off x="-785446" y="6416462"/>
            <a:ext cx="6891089" cy="6865247"/>
          </a:xfrm>
          <a:custGeom>
            <a:avLst/>
            <a:gdLst/>
            <a:ahLst/>
            <a:cxnLst/>
            <a:rect l="l" t="t" r="r" b="b"/>
            <a:pathLst>
              <a:path w="6891089" h="6865247">
                <a:moveTo>
                  <a:pt x="6891089" y="0"/>
                </a:moveTo>
                <a:lnTo>
                  <a:pt x="0" y="0"/>
                </a:lnTo>
                <a:lnTo>
                  <a:pt x="0" y="6865247"/>
                </a:lnTo>
                <a:lnTo>
                  <a:pt x="6891089" y="6865247"/>
                </a:lnTo>
                <a:lnTo>
                  <a:pt x="6891089"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3" name="Freeform 3"/>
          <p:cNvSpPr/>
          <p:nvPr/>
        </p:nvSpPr>
        <p:spPr>
          <a:xfrm rot="-9180021">
            <a:off x="-12468719" y="-20684773"/>
            <a:ext cx="19022799" cy="27233594"/>
          </a:xfrm>
          <a:custGeom>
            <a:avLst/>
            <a:gdLst/>
            <a:ahLst/>
            <a:cxnLst/>
            <a:rect l="l" t="t" r="r" b="b"/>
            <a:pathLst>
              <a:path w="19022799" h="27233594">
                <a:moveTo>
                  <a:pt x="0" y="0"/>
                </a:moveTo>
                <a:lnTo>
                  <a:pt x="19022799" y="0"/>
                </a:lnTo>
                <a:lnTo>
                  <a:pt x="19022799" y="27233594"/>
                </a:lnTo>
                <a:lnTo>
                  <a:pt x="0" y="27233594"/>
                </a:lnTo>
                <a:lnTo>
                  <a:pt x="0" y="0"/>
                </a:lnTo>
                <a:close/>
              </a:path>
            </a:pathLst>
          </a:custGeom>
          <a:blipFill>
            <a:blip r:embed="rId3"/>
            <a:stretch>
              <a:fillRect l="-1458" t="-2106" b="-6923"/>
            </a:stretch>
          </a:blipFill>
        </p:spPr>
      </p:sp>
      <p:sp>
        <p:nvSpPr>
          <p:cNvPr id="4" name="Freeform 4"/>
          <p:cNvSpPr/>
          <p:nvPr/>
        </p:nvSpPr>
        <p:spPr>
          <a:xfrm rot="294428" flipH="1">
            <a:off x="15382963" y="-2577137"/>
            <a:ext cx="3752675" cy="3738602"/>
          </a:xfrm>
          <a:custGeom>
            <a:avLst/>
            <a:gdLst/>
            <a:ahLst/>
            <a:cxnLst/>
            <a:rect l="l" t="t" r="r" b="b"/>
            <a:pathLst>
              <a:path w="3752675" h="3738602">
                <a:moveTo>
                  <a:pt x="3752674" y="0"/>
                </a:moveTo>
                <a:lnTo>
                  <a:pt x="0" y="0"/>
                </a:lnTo>
                <a:lnTo>
                  <a:pt x="0" y="3738603"/>
                </a:lnTo>
                <a:lnTo>
                  <a:pt x="3752674" y="3738603"/>
                </a:lnTo>
                <a:lnTo>
                  <a:pt x="3752674"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2660098" y="3380824"/>
            <a:ext cx="2510944" cy="2752735"/>
          </a:xfrm>
          <a:prstGeom prst="rect">
            <a:avLst/>
          </a:prstGeom>
        </p:spPr>
        <p:txBody>
          <a:bodyPr lIns="0" tIns="0" rIns="0" bIns="0" rtlCol="0" anchor="t">
            <a:spAutoFit/>
          </a:bodyPr>
          <a:lstStyle/>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频率分析</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7468101" y="2899789"/>
            <a:ext cx="8896432" cy="6358511"/>
          </a:xfrm>
          <a:prstGeom prst="rect">
            <a:avLst/>
          </a:prstGeom>
        </p:spPr>
        <p:txBody>
          <a:bodyPr lIns="0" tIns="0" rIns="0" bIns="0" rtlCol="0" anchor="t">
            <a:spAutoFit/>
          </a:bodyPr>
          <a:lstStyle/>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15. 为什么不选择瑞幸的原因频率分析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16. 选择的哪一家咖啡店频率分析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17. 通过什么方式知道这家咖啡店频率分析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18.这家咖啡店最吸引人的地方频率分析</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290"/>
              </a:lnSpc>
            </a:pPr>
          </a:p>
          <a:p>
            <a:pPr algn="l">
              <a:lnSpc>
                <a:spcPts val="7290"/>
              </a:lnSpc>
            </a:pPr>
          </a:p>
          <a:p>
            <a:pPr algn="l">
              <a:lnSpc>
                <a:spcPts val="7290"/>
              </a:lnSpc>
            </a:pPr>
          </a:p>
        </p:txBody>
      </p:sp>
      <p:sp>
        <p:nvSpPr>
          <p:cNvPr id="7" name="Freeform 7"/>
          <p:cNvSpPr/>
          <p:nvPr/>
        </p:nvSpPr>
        <p:spPr>
          <a:xfrm rot="1671160">
            <a:off x="13216229" y="3232152"/>
            <a:ext cx="14988201" cy="21149016"/>
          </a:xfrm>
          <a:custGeom>
            <a:avLst/>
            <a:gdLst/>
            <a:ahLst/>
            <a:cxnLst/>
            <a:rect l="l" t="t" r="r" b="b"/>
            <a:pathLst>
              <a:path w="14988201" h="21149016">
                <a:moveTo>
                  <a:pt x="0" y="0"/>
                </a:moveTo>
                <a:lnTo>
                  <a:pt x="14988201" y="0"/>
                </a:lnTo>
                <a:lnTo>
                  <a:pt x="14988201" y="21149015"/>
                </a:lnTo>
                <a:lnTo>
                  <a:pt x="0" y="21149015"/>
                </a:lnTo>
                <a:lnTo>
                  <a:pt x="0" y="0"/>
                </a:lnTo>
                <a:close/>
              </a:path>
            </a:pathLst>
          </a:custGeom>
          <a:blipFill>
            <a:blip r:embed="rId3"/>
            <a:stretch>
              <a:fillRect t="-2106" b="-6923"/>
            </a:stretch>
          </a:blipFill>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90365"/>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662452" y="3039860"/>
            <a:ext cx="8241029" cy="4273571"/>
          </a:xfrm>
          <a:custGeom>
            <a:avLst/>
            <a:gdLst/>
            <a:ahLst/>
            <a:cxnLst/>
            <a:rect l="l" t="t" r="r" b="b"/>
            <a:pathLst>
              <a:path w="8241029" h="4273571">
                <a:moveTo>
                  <a:pt x="0" y="0"/>
                </a:moveTo>
                <a:lnTo>
                  <a:pt x="8241030" y="0"/>
                </a:lnTo>
                <a:lnTo>
                  <a:pt x="8241030" y="4273571"/>
                </a:lnTo>
                <a:lnTo>
                  <a:pt x="0" y="4273571"/>
                </a:lnTo>
                <a:lnTo>
                  <a:pt x="0" y="0"/>
                </a:lnTo>
                <a:close/>
              </a:path>
            </a:pathLst>
          </a:custGeom>
          <a:blipFill>
            <a:blip r:embed="rId2"/>
            <a:stretch>
              <a:fillRect/>
            </a:stretch>
          </a:blipFill>
        </p:spPr>
      </p:sp>
      <p:sp>
        <p:nvSpPr>
          <p:cNvPr id="4" name="Freeform 4"/>
          <p:cNvSpPr/>
          <p:nvPr/>
        </p:nvSpPr>
        <p:spPr>
          <a:xfrm>
            <a:off x="9373369" y="3039860"/>
            <a:ext cx="8299564" cy="4273571"/>
          </a:xfrm>
          <a:custGeom>
            <a:avLst/>
            <a:gdLst/>
            <a:ahLst/>
            <a:cxnLst/>
            <a:rect l="l" t="t" r="r" b="b"/>
            <a:pathLst>
              <a:path w="8299564" h="4273571">
                <a:moveTo>
                  <a:pt x="0" y="0"/>
                </a:moveTo>
                <a:lnTo>
                  <a:pt x="8299564" y="0"/>
                </a:lnTo>
                <a:lnTo>
                  <a:pt x="8299564" y="4273571"/>
                </a:lnTo>
                <a:lnTo>
                  <a:pt x="0" y="4273571"/>
                </a:lnTo>
                <a:lnTo>
                  <a:pt x="0" y="0"/>
                </a:lnTo>
                <a:close/>
              </a:path>
            </a:pathLst>
          </a:custGeom>
          <a:blipFill>
            <a:blip r:embed="rId3"/>
            <a:stretch>
              <a:fillRect/>
            </a:stretch>
          </a:blipFill>
        </p:spPr>
      </p:sp>
      <p:sp>
        <p:nvSpPr>
          <p:cNvPr id="5" name="TextBox 5"/>
          <p:cNvSpPr txBox="1"/>
          <p:nvPr/>
        </p:nvSpPr>
        <p:spPr>
          <a:xfrm>
            <a:off x="1413824" y="7709088"/>
            <a:ext cx="16150825" cy="3324225"/>
          </a:xfrm>
          <a:prstGeom prst="rect">
            <a:avLst/>
          </a:prstGeom>
        </p:spPr>
        <p:txBody>
          <a:bodyPr lIns="0" tIns="0" rIns="0" bIns="0" rtlCol="0" anchor="t">
            <a:spAutoFit/>
          </a:bodyPr>
          <a:lstStyle/>
          <a:p>
            <a:pPr algn="ctr">
              <a:lnSpc>
                <a:spcPts val="3765"/>
              </a:lnSpc>
            </a:pPr>
            <a:r>
              <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受访者未选择瑞幸咖啡的原因主要集中在以下几方面：</a:t>
            </a:r>
            <a:endPar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765"/>
              </a:lnSpc>
            </a:pPr>
            <a:r>
              <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“没有吸引我的产品”：9人，占56.3%，是最主要的原因；</a:t>
            </a:r>
            <a:endPar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765"/>
              </a:lnSpc>
            </a:pPr>
            <a:r>
              <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“周围有更好的选择”：2人，占12.5%；</a:t>
            </a:r>
            <a:endPar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765"/>
              </a:lnSpc>
            </a:pPr>
            <a:r>
              <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“其他”原因：5人，占31.3%，包括受访者未具体说明的个性化理由。</a:t>
            </a:r>
            <a:endPar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765"/>
              </a:lnSpc>
            </a:pPr>
            <a:r>
              <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瑞幸咖啡未被选择的原因主要在于产品本身的吸引力不足，其次是市场竞争的影响</a:t>
            </a:r>
            <a:endPar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765"/>
              </a:lnSpc>
            </a:pPr>
            <a:r>
              <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endParaRPr lang="en-US" sz="314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765"/>
              </a:lnSpc>
              <a:spcBef>
                <a:spcPct val="0"/>
              </a:spcBef>
            </a:pPr>
          </a:p>
        </p:txBody>
      </p:sp>
      <p:sp>
        <p:nvSpPr>
          <p:cNvPr id="6" name="TextBox 6"/>
          <p:cNvSpPr txBox="1"/>
          <p:nvPr/>
        </p:nvSpPr>
        <p:spPr>
          <a:xfrm>
            <a:off x="2314168" y="490359"/>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为什么不选择瑞幸的原因-频率分析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90365"/>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0241084" y="2960093"/>
            <a:ext cx="6532628" cy="3930510"/>
          </a:xfrm>
          <a:custGeom>
            <a:avLst/>
            <a:gdLst/>
            <a:ahLst/>
            <a:cxnLst/>
            <a:rect l="l" t="t" r="r" b="b"/>
            <a:pathLst>
              <a:path w="6532628" h="3930510">
                <a:moveTo>
                  <a:pt x="0" y="0"/>
                </a:moveTo>
                <a:lnTo>
                  <a:pt x="6532629" y="0"/>
                </a:lnTo>
                <a:lnTo>
                  <a:pt x="6532629" y="3930510"/>
                </a:lnTo>
                <a:lnTo>
                  <a:pt x="0" y="3930510"/>
                </a:lnTo>
                <a:lnTo>
                  <a:pt x="0" y="0"/>
                </a:lnTo>
                <a:close/>
              </a:path>
            </a:pathLst>
          </a:custGeom>
          <a:blipFill>
            <a:blip r:embed="rId2"/>
            <a:stretch>
              <a:fillRect/>
            </a:stretch>
          </a:blipFill>
        </p:spPr>
      </p:sp>
      <p:sp>
        <p:nvSpPr>
          <p:cNvPr id="4" name="Freeform 4"/>
          <p:cNvSpPr/>
          <p:nvPr/>
        </p:nvSpPr>
        <p:spPr>
          <a:xfrm>
            <a:off x="498504" y="3278307"/>
            <a:ext cx="8365848" cy="6269222"/>
          </a:xfrm>
          <a:custGeom>
            <a:avLst/>
            <a:gdLst/>
            <a:ahLst/>
            <a:cxnLst/>
            <a:rect l="l" t="t" r="r" b="b"/>
            <a:pathLst>
              <a:path w="8365848" h="6269222">
                <a:moveTo>
                  <a:pt x="0" y="0"/>
                </a:moveTo>
                <a:lnTo>
                  <a:pt x="8365848" y="0"/>
                </a:lnTo>
                <a:lnTo>
                  <a:pt x="8365848" y="6269222"/>
                </a:lnTo>
                <a:lnTo>
                  <a:pt x="0" y="6269222"/>
                </a:lnTo>
                <a:lnTo>
                  <a:pt x="0" y="0"/>
                </a:lnTo>
                <a:close/>
              </a:path>
            </a:pathLst>
          </a:custGeom>
          <a:blipFill>
            <a:blip r:embed="rId3"/>
            <a:stretch>
              <a:fillRect/>
            </a:stretch>
          </a:blipFill>
        </p:spPr>
      </p:sp>
      <p:sp>
        <p:nvSpPr>
          <p:cNvPr id="5" name="TextBox 5"/>
          <p:cNvSpPr txBox="1"/>
          <p:nvPr/>
        </p:nvSpPr>
        <p:spPr>
          <a:xfrm>
            <a:off x="9144000" y="7114221"/>
            <a:ext cx="8726797" cy="3505200"/>
          </a:xfrm>
          <a:prstGeom prst="rect">
            <a:avLst/>
          </a:prstGeom>
        </p:spPr>
        <p:txBody>
          <a:bodyPr lIns="0" tIns="0" rIns="0" bIns="0" rtlCol="0" anchor="t">
            <a:spAutoFit/>
          </a:bodyPr>
          <a:lstStyle/>
          <a:p>
            <a:pPr algn="ctr">
              <a:lnSpc>
                <a:spcPts val="3500"/>
              </a:lnSpc>
            </a:pPr>
            <a:r>
              <a:rPr lang="en-US" sz="29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对于未选择瑞幸咖啡的14名受访者，他们选择的咖啡品牌分布如下：</a:t>
            </a:r>
            <a:endParaRPr lang="en-US" sz="29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500"/>
              </a:lnSpc>
            </a:pPr>
            <a:r>
              <a:rPr lang="en-US" sz="2915" b="1" u="sng">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星巴克</a:t>
            </a:r>
            <a:r>
              <a:rPr lang="en-US" sz="29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：5人，占35.7%，是最常被选择的品牌；</a:t>
            </a:r>
            <a:endParaRPr lang="en-US" sz="29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500"/>
              </a:lnSpc>
            </a:pPr>
            <a:r>
              <a:rPr lang="en-US" sz="2915" b="1" u="sng">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雀巢</a:t>
            </a:r>
            <a:r>
              <a:rPr lang="en-US" sz="29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：3人，占21.4%；</a:t>
            </a:r>
            <a:endParaRPr lang="en-US" sz="29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500"/>
              </a:lnSpc>
            </a:pPr>
            <a:r>
              <a:rPr lang="en-US" sz="2915" b="1" u="sng">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幸运咖</a:t>
            </a:r>
            <a:r>
              <a:rPr lang="en-US" sz="29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：1人，占7.1%；</a:t>
            </a:r>
            <a:endParaRPr lang="en-US" sz="29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500"/>
              </a:lnSpc>
            </a:pPr>
            <a:r>
              <a:rPr lang="en-US" sz="2915" b="1" u="sng">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其他品牌</a:t>
            </a:r>
            <a:r>
              <a:rPr lang="en-US" sz="29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：5人，占35.7%，可能是当地独立咖啡店或小众品牌。</a:t>
            </a:r>
            <a:endParaRPr lang="en-US" sz="29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500"/>
              </a:lnSpc>
              <a:spcBef>
                <a:spcPct val="0"/>
              </a:spcBef>
            </a:pPr>
          </a:p>
        </p:txBody>
      </p:sp>
      <p:sp>
        <p:nvSpPr>
          <p:cNvPr id="6" name="TextBox 6"/>
          <p:cNvSpPr txBox="1"/>
          <p:nvPr/>
        </p:nvSpPr>
        <p:spPr>
          <a:xfrm>
            <a:off x="2314168" y="490359"/>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选择的哪一家咖啡店-频率分析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90365"/>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16685" y="3057434"/>
            <a:ext cx="6749489" cy="3864790"/>
          </a:xfrm>
          <a:custGeom>
            <a:avLst/>
            <a:gdLst/>
            <a:ahLst/>
            <a:cxnLst/>
            <a:rect l="l" t="t" r="r" b="b"/>
            <a:pathLst>
              <a:path w="6749489" h="3864790">
                <a:moveTo>
                  <a:pt x="0" y="0"/>
                </a:moveTo>
                <a:lnTo>
                  <a:pt x="6749489" y="0"/>
                </a:lnTo>
                <a:lnTo>
                  <a:pt x="6749489" y="3864790"/>
                </a:lnTo>
                <a:lnTo>
                  <a:pt x="0" y="3864790"/>
                </a:lnTo>
                <a:lnTo>
                  <a:pt x="0" y="0"/>
                </a:lnTo>
                <a:close/>
              </a:path>
            </a:pathLst>
          </a:custGeom>
          <a:blipFill>
            <a:blip r:embed="rId2"/>
            <a:stretch>
              <a:fillRect/>
            </a:stretch>
          </a:blipFill>
        </p:spPr>
      </p:sp>
      <p:sp>
        <p:nvSpPr>
          <p:cNvPr id="4" name="Freeform 4"/>
          <p:cNvSpPr/>
          <p:nvPr/>
        </p:nvSpPr>
        <p:spPr>
          <a:xfrm>
            <a:off x="8224115" y="3057434"/>
            <a:ext cx="9035185" cy="4415057"/>
          </a:xfrm>
          <a:custGeom>
            <a:avLst/>
            <a:gdLst/>
            <a:ahLst/>
            <a:cxnLst/>
            <a:rect l="l" t="t" r="r" b="b"/>
            <a:pathLst>
              <a:path w="9035185" h="4415057">
                <a:moveTo>
                  <a:pt x="0" y="0"/>
                </a:moveTo>
                <a:lnTo>
                  <a:pt x="9035185" y="0"/>
                </a:lnTo>
                <a:lnTo>
                  <a:pt x="9035185" y="4415057"/>
                </a:lnTo>
                <a:lnTo>
                  <a:pt x="0" y="4415057"/>
                </a:lnTo>
                <a:lnTo>
                  <a:pt x="0" y="0"/>
                </a:lnTo>
                <a:close/>
              </a:path>
            </a:pathLst>
          </a:custGeom>
          <a:blipFill>
            <a:blip r:embed="rId3"/>
            <a:stretch>
              <a:fillRect/>
            </a:stretch>
          </a:blipFill>
        </p:spPr>
      </p:sp>
      <p:sp>
        <p:nvSpPr>
          <p:cNvPr id="5" name="TextBox 5"/>
          <p:cNvSpPr txBox="1"/>
          <p:nvPr/>
        </p:nvSpPr>
        <p:spPr>
          <a:xfrm>
            <a:off x="316685" y="7144469"/>
            <a:ext cx="17345247" cy="3505200"/>
          </a:xfrm>
          <a:prstGeom prst="rect">
            <a:avLst/>
          </a:prstGeom>
        </p:spPr>
        <p:txBody>
          <a:bodyPr lIns="0" tIns="0" rIns="0" bIns="0" rtlCol="0" anchor="t">
            <a:spAutoFit/>
          </a:bodyPr>
          <a:lstStyle/>
          <a:p>
            <a:pPr algn="l">
              <a:lnSpc>
                <a:spcPts val="3455"/>
              </a:lnSpc>
            </a:pPr>
            <a:r>
              <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受访者了解所选咖啡店的渠道包括以下几种：</a:t>
            </a:r>
            <a:endPar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55"/>
              </a:lnSpc>
            </a:pPr>
            <a:r>
              <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官方宣传（如公众号、小程序、官网等）：5人，占29.4%，是最主要的信息来源；</a:t>
            </a:r>
            <a:endPar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55"/>
              </a:lnSpc>
            </a:pPr>
            <a:r>
              <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朋友推荐：4人，占23.5%；</a:t>
            </a:r>
            <a:endPar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55"/>
              </a:lnSpc>
            </a:pPr>
            <a:r>
              <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社交媒体（如微博、小红书、抖音等）：4人，占23.5%；</a:t>
            </a:r>
            <a:endPar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55"/>
              </a:lnSpc>
            </a:pPr>
            <a:r>
              <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其他方式：4人，占23.5%。</a:t>
            </a:r>
            <a:endPar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55"/>
              </a:lnSpc>
            </a:pPr>
            <a:r>
              <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消费者获取咖啡店信息的主要来源集中在官方宣传与社交媒体，但朋友推荐的效果也不容忽视，显示出口碑传播的重要性。</a:t>
            </a:r>
            <a:endParaRPr lang="en-US" sz="28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55"/>
              </a:lnSpc>
              <a:spcBef>
                <a:spcPct val="0"/>
              </a:spcBef>
            </a:pPr>
          </a:p>
        </p:txBody>
      </p:sp>
      <p:sp>
        <p:nvSpPr>
          <p:cNvPr id="6" name="TextBox 6"/>
          <p:cNvSpPr txBox="1"/>
          <p:nvPr/>
        </p:nvSpPr>
        <p:spPr>
          <a:xfrm>
            <a:off x="2314168" y="490359"/>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通过什么方式知道这家咖啡店-频率分析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90365"/>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9983141" y="2968849"/>
            <a:ext cx="6678111" cy="4657636"/>
          </a:xfrm>
          <a:custGeom>
            <a:avLst/>
            <a:gdLst/>
            <a:ahLst/>
            <a:cxnLst/>
            <a:rect l="l" t="t" r="r" b="b"/>
            <a:pathLst>
              <a:path w="6678111" h="4657636">
                <a:moveTo>
                  <a:pt x="0" y="0"/>
                </a:moveTo>
                <a:lnTo>
                  <a:pt x="6678111" y="0"/>
                </a:lnTo>
                <a:lnTo>
                  <a:pt x="6678111" y="4657636"/>
                </a:lnTo>
                <a:lnTo>
                  <a:pt x="0" y="4657636"/>
                </a:lnTo>
                <a:lnTo>
                  <a:pt x="0" y="0"/>
                </a:lnTo>
                <a:close/>
              </a:path>
            </a:pathLst>
          </a:custGeom>
          <a:blipFill>
            <a:blip r:embed="rId2"/>
            <a:stretch>
              <a:fillRect b="-2044"/>
            </a:stretch>
          </a:blipFill>
        </p:spPr>
      </p:sp>
      <p:sp>
        <p:nvSpPr>
          <p:cNvPr id="4" name="Freeform 4"/>
          <p:cNvSpPr/>
          <p:nvPr/>
        </p:nvSpPr>
        <p:spPr>
          <a:xfrm>
            <a:off x="1137421" y="3022471"/>
            <a:ext cx="7300064" cy="4550392"/>
          </a:xfrm>
          <a:custGeom>
            <a:avLst/>
            <a:gdLst/>
            <a:ahLst/>
            <a:cxnLst/>
            <a:rect l="l" t="t" r="r" b="b"/>
            <a:pathLst>
              <a:path w="7300064" h="4550392">
                <a:moveTo>
                  <a:pt x="0" y="0"/>
                </a:moveTo>
                <a:lnTo>
                  <a:pt x="7300064" y="0"/>
                </a:lnTo>
                <a:lnTo>
                  <a:pt x="7300064" y="4550392"/>
                </a:lnTo>
                <a:lnTo>
                  <a:pt x="0" y="4550392"/>
                </a:lnTo>
                <a:lnTo>
                  <a:pt x="0" y="0"/>
                </a:lnTo>
                <a:close/>
              </a:path>
            </a:pathLst>
          </a:custGeom>
          <a:blipFill>
            <a:blip r:embed="rId3"/>
            <a:stretch>
              <a:fillRect/>
            </a:stretch>
          </a:blipFill>
        </p:spPr>
      </p:sp>
      <p:sp>
        <p:nvSpPr>
          <p:cNvPr id="5" name="TextBox 5"/>
          <p:cNvSpPr txBox="1"/>
          <p:nvPr/>
        </p:nvSpPr>
        <p:spPr>
          <a:xfrm>
            <a:off x="1137421" y="7578860"/>
            <a:ext cx="15634091" cy="3051717"/>
          </a:xfrm>
          <a:prstGeom prst="rect">
            <a:avLst/>
          </a:prstGeom>
        </p:spPr>
        <p:txBody>
          <a:bodyPr lIns="0" tIns="0" rIns="0" bIns="0" rtlCol="0" anchor="t">
            <a:spAutoFit/>
          </a:bodyPr>
          <a:lstStyle/>
          <a:p>
            <a:pPr algn="l">
              <a:lnSpc>
                <a:spcPts val="3470"/>
              </a:lnSpc>
            </a:pPr>
            <a:r>
              <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对于未选择瑞幸的受访者，他们认为所选咖啡店最吸引人的地方主要包括：</a:t>
            </a:r>
            <a:endPar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70"/>
              </a:lnSpc>
            </a:pPr>
            <a:r>
              <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产品品质更好：6人，占42.9%，是最受关注的因素；</a:t>
            </a:r>
            <a:endPar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70"/>
              </a:lnSpc>
            </a:pPr>
            <a:r>
              <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品牌更高端：3人，占21.4%；</a:t>
            </a:r>
            <a:endPar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70"/>
              </a:lnSpc>
            </a:pPr>
            <a:r>
              <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营销活动更吸引：2人，占14.3%；</a:t>
            </a:r>
            <a:endPar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70"/>
              </a:lnSpc>
            </a:pPr>
            <a:r>
              <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其他原因：3人，占21.4%。</a:t>
            </a:r>
            <a:endPar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70"/>
              </a:lnSpc>
            </a:pPr>
            <a:r>
              <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产品品质是消费者选择咖啡品牌的核心驱动力，说明在品牌营销之外，产品本身的改进依然是品牌竞争的关键。</a:t>
            </a:r>
            <a:endParaRPr lang="en-US" sz="248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470"/>
              </a:lnSpc>
            </a:pPr>
          </a:p>
        </p:txBody>
      </p:sp>
      <p:sp>
        <p:nvSpPr>
          <p:cNvPr id="6" name="TextBox 6"/>
          <p:cNvSpPr txBox="1"/>
          <p:nvPr/>
        </p:nvSpPr>
        <p:spPr>
          <a:xfrm>
            <a:off x="2124634" y="604838"/>
            <a:ext cx="13659664"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这家咖啡店最吸引人的地方-频率分析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74067" flipH="1">
            <a:off x="-785446" y="6416462"/>
            <a:ext cx="6891089" cy="6865247"/>
          </a:xfrm>
          <a:custGeom>
            <a:avLst/>
            <a:gdLst/>
            <a:ahLst/>
            <a:cxnLst/>
            <a:rect l="l" t="t" r="r" b="b"/>
            <a:pathLst>
              <a:path w="6891089" h="6865247">
                <a:moveTo>
                  <a:pt x="6891089" y="0"/>
                </a:moveTo>
                <a:lnTo>
                  <a:pt x="0" y="0"/>
                </a:lnTo>
                <a:lnTo>
                  <a:pt x="0" y="6865247"/>
                </a:lnTo>
                <a:lnTo>
                  <a:pt x="6891089" y="6865247"/>
                </a:lnTo>
                <a:lnTo>
                  <a:pt x="6891089"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3" name="Freeform 3"/>
          <p:cNvSpPr/>
          <p:nvPr/>
        </p:nvSpPr>
        <p:spPr>
          <a:xfrm rot="-9180021">
            <a:off x="-12468719" y="-20684773"/>
            <a:ext cx="19022799" cy="27233594"/>
          </a:xfrm>
          <a:custGeom>
            <a:avLst/>
            <a:gdLst/>
            <a:ahLst/>
            <a:cxnLst/>
            <a:rect l="l" t="t" r="r" b="b"/>
            <a:pathLst>
              <a:path w="19022799" h="27233594">
                <a:moveTo>
                  <a:pt x="0" y="0"/>
                </a:moveTo>
                <a:lnTo>
                  <a:pt x="19022799" y="0"/>
                </a:lnTo>
                <a:lnTo>
                  <a:pt x="19022799" y="27233594"/>
                </a:lnTo>
                <a:lnTo>
                  <a:pt x="0" y="27233594"/>
                </a:lnTo>
                <a:lnTo>
                  <a:pt x="0" y="0"/>
                </a:lnTo>
                <a:close/>
              </a:path>
            </a:pathLst>
          </a:custGeom>
          <a:blipFill>
            <a:blip r:embed="rId3"/>
            <a:stretch>
              <a:fillRect l="-1458" t="-2106" b="-6923"/>
            </a:stretch>
          </a:blipFill>
        </p:spPr>
      </p:sp>
      <p:sp>
        <p:nvSpPr>
          <p:cNvPr id="4" name="Freeform 4"/>
          <p:cNvSpPr/>
          <p:nvPr/>
        </p:nvSpPr>
        <p:spPr>
          <a:xfrm rot="294428" flipH="1">
            <a:off x="15382963" y="-2577137"/>
            <a:ext cx="3752675" cy="3738602"/>
          </a:xfrm>
          <a:custGeom>
            <a:avLst/>
            <a:gdLst/>
            <a:ahLst/>
            <a:cxnLst/>
            <a:rect l="l" t="t" r="r" b="b"/>
            <a:pathLst>
              <a:path w="3752675" h="3738602">
                <a:moveTo>
                  <a:pt x="3752674" y="0"/>
                </a:moveTo>
                <a:lnTo>
                  <a:pt x="0" y="0"/>
                </a:lnTo>
                <a:lnTo>
                  <a:pt x="0" y="3738603"/>
                </a:lnTo>
                <a:lnTo>
                  <a:pt x="3752674" y="3738603"/>
                </a:lnTo>
                <a:lnTo>
                  <a:pt x="3752674"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2660098" y="2009219"/>
            <a:ext cx="2510944" cy="5495925"/>
          </a:xfrm>
          <a:prstGeom prst="rect">
            <a:avLst/>
          </a:prstGeom>
        </p:spPr>
        <p:txBody>
          <a:bodyPr lIns="0" tIns="0" rIns="0" bIns="0" rtlCol="0" anchor="t">
            <a:spAutoFit/>
          </a:bodyPr>
          <a:lstStyle/>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性别</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有关</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交叉</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6429250" y="1072134"/>
            <a:ext cx="10539996" cy="7933182"/>
          </a:xfrm>
          <a:prstGeom prst="rect">
            <a:avLst/>
          </a:prstGeom>
        </p:spPr>
        <p:txBody>
          <a:bodyPr lIns="0" tIns="0" rIns="0" bIns="0" rtlCol="0" anchor="t">
            <a:spAutoFit/>
          </a:bodyPr>
          <a:lstStyle/>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01.</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填写问卷人的性别 * 第一个想到的咖啡品牌交叉分析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02.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除了第一品牌外认识的品牌交叉分析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03.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第一次听说瑞幸的方式交叉分析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填写问卷人的性别 * 促使进入门店的主要原因交叉分析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填写问卷人的性别 * 促使留在瑞幸消费的原因交叉分析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6.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认为瑞幸“值了”的原因交叉分析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7.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下次还去瑞幸的原因交叉分析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8.</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填写问卷人的性别 * 您有多大可能向亲戚朋友推荐瑞幸交叉分析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9.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推荐瑞幸的方式交叉分析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10.</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填写问卷人的性别 * 向他人推荐瑞幸的主要原因交叉分析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11.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未选择瑞幸的原因交叉分析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12.</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填写问卷人的性别 * 选择的哪一家咖啡店（没有选瑞幸）交叉分析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7" name="Freeform 7"/>
          <p:cNvSpPr/>
          <p:nvPr/>
        </p:nvSpPr>
        <p:spPr>
          <a:xfrm rot="1671160">
            <a:off x="15076762" y="2755902"/>
            <a:ext cx="14988201" cy="21149016"/>
          </a:xfrm>
          <a:custGeom>
            <a:avLst/>
            <a:gdLst/>
            <a:ahLst/>
            <a:cxnLst/>
            <a:rect l="l" t="t" r="r" b="b"/>
            <a:pathLst>
              <a:path w="14988201" h="21149016">
                <a:moveTo>
                  <a:pt x="0" y="0"/>
                </a:moveTo>
                <a:lnTo>
                  <a:pt x="14988201" y="0"/>
                </a:lnTo>
                <a:lnTo>
                  <a:pt x="14988201" y="21149015"/>
                </a:lnTo>
                <a:lnTo>
                  <a:pt x="0" y="21149015"/>
                </a:lnTo>
                <a:lnTo>
                  <a:pt x="0" y="0"/>
                </a:lnTo>
                <a:close/>
              </a:path>
            </a:pathLst>
          </a:custGeom>
          <a:blipFill>
            <a:blip r:embed="rId3"/>
            <a:stretch>
              <a:fillRect t="-2106" b="-6923"/>
            </a:stretch>
          </a:blipFill>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8798" y="-14612885"/>
            <a:ext cx="15188328" cy="21149016"/>
          </a:xfrm>
          <a:custGeom>
            <a:avLst/>
            <a:gdLst/>
            <a:ahLst/>
            <a:cxnLst/>
            <a:rect l="l" t="t" r="r" b="b"/>
            <a:pathLst>
              <a:path w="15188328" h="21149016">
                <a:moveTo>
                  <a:pt x="0" y="0"/>
                </a:moveTo>
                <a:lnTo>
                  <a:pt x="15188327" y="0"/>
                </a:lnTo>
                <a:lnTo>
                  <a:pt x="15188327" y="21149016"/>
                </a:lnTo>
                <a:lnTo>
                  <a:pt x="0" y="21149016"/>
                </a:lnTo>
                <a:lnTo>
                  <a:pt x="0" y="0"/>
                </a:lnTo>
                <a:close/>
              </a:path>
            </a:pathLst>
          </a:custGeom>
          <a:blipFill>
            <a:blip r:embed="rId1"/>
            <a:stretch>
              <a:fillRect t="-2802" b="-7683"/>
            </a:stretch>
          </a:blipFill>
        </p:spPr>
      </p:sp>
      <p:sp>
        <p:nvSpPr>
          <p:cNvPr id="3" name="Freeform 3"/>
          <p:cNvSpPr/>
          <p:nvPr/>
        </p:nvSpPr>
        <p:spPr>
          <a:xfrm>
            <a:off x="750921" y="3769992"/>
            <a:ext cx="10335453" cy="5825851"/>
          </a:xfrm>
          <a:custGeom>
            <a:avLst/>
            <a:gdLst/>
            <a:ahLst/>
            <a:cxnLst/>
            <a:rect l="l" t="t" r="r" b="b"/>
            <a:pathLst>
              <a:path w="10335453" h="5825851">
                <a:moveTo>
                  <a:pt x="0" y="0"/>
                </a:moveTo>
                <a:lnTo>
                  <a:pt x="10335453" y="0"/>
                </a:lnTo>
                <a:lnTo>
                  <a:pt x="10335453" y="5825852"/>
                </a:lnTo>
                <a:lnTo>
                  <a:pt x="0" y="5825852"/>
                </a:lnTo>
                <a:lnTo>
                  <a:pt x="0" y="0"/>
                </a:lnTo>
                <a:close/>
              </a:path>
            </a:pathLst>
          </a:custGeom>
          <a:blipFill>
            <a:blip r:embed="rId2"/>
            <a:stretch>
              <a:fillRect l="-442" t="-675" r="-442"/>
            </a:stretch>
          </a:blipFill>
        </p:spPr>
      </p:sp>
      <p:sp>
        <p:nvSpPr>
          <p:cNvPr id="4" name="Freeform 4"/>
          <p:cNvSpPr/>
          <p:nvPr/>
        </p:nvSpPr>
        <p:spPr>
          <a:xfrm>
            <a:off x="11741028" y="5078875"/>
            <a:ext cx="5518272" cy="3208086"/>
          </a:xfrm>
          <a:custGeom>
            <a:avLst/>
            <a:gdLst/>
            <a:ahLst/>
            <a:cxnLst/>
            <a:rect l="l" t="t" r="r" b="b"/>
            <a:pathLst>
              <a:path w="5518272" h="3208086">
                <a:moveTo>
                  <a:pt x="0" y="0"/>
                </a:moveTo>
                <a:lnTo>
                  <a:pt x="5518272" y="0"/>
                </a:lnTo>
                <a:lnTo>
                  <a:pt x="5518272" y="3208086"/>
                </a:lnTo>
                <a:lnTo>
                  <a:pt x="0" y="3208086"/>
                </a:lnTo>
                <a:lnTo>
                  <a:pt x="0" y="0"/>
                </a:lnTo>
                <a:close/>
              </a:path>
            </a:pathLst>
          </a:custGeom>
          <a:blipFill>
            <a:blip r:embed="rId3"/>
            <a:stretch>
              <a:fillRect l="-1197" r="-4781"/>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第一个想到的咖啡品牌交叉分析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第一个想到的咖啡品牌交叉分析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028700" y="7962123"/>
            <a:ext cx="10271767" cy="13531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男性：更倾向于选择星巴克（46.2%）和瑞幸（37.7%）。</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女性：更倾向于选择瑞幸（62.3%）和星巴克（53.8%）。</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解析：女性对瑞幸的偏好略高于男性，而男性对星巴克的偏好稍高。</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372432" y="4618070"/>
            <a:ext cx="9703001" cy="22675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假设H0：第一个想到的咖啡品牌与性别无关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H1:第一个想到的咖啡品牌与性别相关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因为p=0.377＞0.025</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所以假设不成立，第一个想到的咖啡品牌与男女有关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7" name="TextBox 7"/>
          <p:cNvSpPr txBox="1"/>
          <p:nvPr/>
        </p:nvSpPr>
        <p:spPr>
          <a:xfrm>
            <a:off x="1028700" y="7066773"/>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1028700" y="372073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检验：</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573933" y="3375085"/>
            <a:ext cx="11140134" cy="6043955"/>
          </a:xfrm>
          <a:custGeom>
            <a:avLst/>
            <a:gdLst/>
            <a:ahLst/>
            <a:cxnLst/>
            <a:rect l="l" t="t" r="r" b="b"/>
            <a:pathLst>
              <a:path w="11140134" h="6043955">
                <a:moveTo>
                  <a:pt x="0" y="0"/>
                </a:moveTo>
                <a:lnTo>
                  <a:pt x="11140134" y="0"/>
                </a:lnTo>
                <a:lnTo>
                  <a:pt x="11140134" y="6043955"/>
                </a:lnTo>
                <a:lnTo>
                  <a:pt x="0" y="6043955"/>
                </a:lnTo>
                <a:lnTo>
                  <a:pt x="0" y="0"/>
                </a:lnTo>
                <a:close/>
              </a:path>
            </a:pathLst>
          </a:custGeom>
          <a:blipFill>
            <a:blip r:embed="rId2"/>
            <a:stretch>
              <a:fillRect b="-4370"/>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除了第一品牌外认识的品牌交叉分析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258970" y="-1443841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303699" y="3533380"/>
            <a:ext cx="4419107" cy="5042549"/>
          </a:xfrm>
          <a:custGeom>
            <a:avLst/>
            <a:gdLst/>
            <a:ahLst/>
            <a:cxnLst/>
            <a:rect l="l" t="t" r="r" b="b"/>
            <a:pathLst>
              <a:path w="4419107" h="5042549">
                <a:moveTo>
                  <a:pt x="0" y="0"/>
                </a:moveTo>
                <a:lnTo>
                  <a:pt x="4419107" y="0"/>
                </a:lnTo>
                <a:lnTo>
                  <a:pt x="4419107" y="5042550"/>
                </a:lnTo>
                <a:lnTo>
                  <a:pt x="0" y="5042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355980"/>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除了第一品牌外认识的品牌交叉分析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028700" y="4816111"/>
            <a:ext cx="10271767" cy="3067685"/>
          </a:xfrm>
          <a:prstGeom prst="rect">
            <a:avLst/>
          </a:prstGeom>
        </p:spPr>
        <p:txBody>
          <a:bodyPr lIns="0" tIns="0" rIns="0" bIns="0" rtlCol="0" anchor="t">
            <a:spAutoFit/>
          </a:bodyPr>
          <a:lstStyle/>
          <a:p>
            <a:pPr algn="ctr">
              <a:lnSpc>
                <a:spcPts val="3640"/>
              </a:lnSpc>
            </a:p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男性：除了第一品牌外对星巴克的认知度较高。</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女性：除了第一品牌外，对瑞幸的认知度较高。</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解析：无论男女，星巴克和瑞幸都是认知度最高的品牌，但女性对瑞幸的认知度略高于男性。</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6" name="TextBox 6"/>
          <p:cNvSpPr txBox="1"/>
          <p:nvPr/>
        </p:nvSpPr>
        <p:spPr>
          <a:xfrm>
            <a:off x="1925600" y="391761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24738"/>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507408" y="2979234"/>
            <a:ext cx="11273184" cy="6160985"/>
          </a:xfrm>
          <a:custGeom>
            <a:avLst/>
            <a:gdLst/>
            <a:ahLst/>
            <a:cxnLst/>
            <a:rect l="l" t="t" r="r" b="b"/>
            <a:pathLst>
              <a:path w="11273184" h="6160985">
                <a:moveTo>
                  <a:pt x="0" y="0"/>
                </a:moveTo>
                <a:lnTo>
                  <a:pt x="11273184" y="0"/>
                </a:lnTo>
                <a:lnTo>
                  <a:pt x="11273184" y="6160985"/>
                </a:lnTo>
                <a:lnTo>
                  <a:pt x="0" y="6160985"/>
                </a:lnTo>
                <a:lnTo>
                  <a:pt x="0" y="0"/>
                </a:lnTo>
                <a:close/>
              </a:path>
            </a:pathLst>
          </a:custGeom>
          <a:blipFill>
            <a:blip r:embed="rId2"/>
            <a:stretch>
              <a:fillRect b="-4525"/>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填写问卷人的性别 * 第一次听说瑞幸的方式交叉分析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258970" y="-1443841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303699" y="3533380"/>
            <a:ext cx="4419107" cy="5042549"/>
          </a:xfrm>
          <a:custGeom>
            <a:avLst/>
            <a:gdLst/>
            <a:ahLst/>
            <a:cxnLst/>
            <a:rect l="l" t="t" r="r" b="b"/>
            <a:pathLst>
              <a:path w="4419107" h="5042549">
                <a:moveTo>
                  <a:pt x="0" y="0"/>
                </a:moveTo>
                <a:lnTo>
                  <a:pt x="4419107" y="0"/>
                </a:lnTo>
                <a:lnTo>
                  <a:pt x="4419107" y="5042550"/>
                </a:lnTo>
                <a:lnTo>
                  <a:pt x="0" y="5042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355980"/>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第一次听说瑞幸的方式交叉分析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028700" y="4565316"/>
            <a:ext cx="10271767" cy="4696460"/>
          </a:xfrm>
          <a:prstGeom prst="rect">
            <a:avLst/>
          </a:prstGeom>
        </p:spPr>
        <p:txBody>
          <a:bodyPr lIns="0" tIns="0" rIns="0" bIns="0" rtlCol="0" anchor="t">
            <a:spAutoFit/>
          </a:bodyPr>
          <a:lstStyle/>
          <a:p>
            <a:pPr algn="ctr">
              <a:lnSpc>
                <a:spcPts val="3640"/>
              </a:lnSpc>
            </a:p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男性：更多通过朋友推荐（45.3%）和社交媒体（32.1%）了解瑞幸。</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女性：更多通过瑞幸官方宣传（27.3%）和社交媒体（33.3%）了解瑞幸。</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解析：社交媒体是男女了解瑞幸的共同渠道，但男性更依赖朋友推荐，女性更依赖官方宣传。</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p>
          <a:p>
            <a:pPr algn="ctr">
              <a:lnSpc>
                <a:spcPts val="3640"/>
              </a:lnSpc>
            </a:pPr>
          </a:p>
        </p:txBody>
      </p:sp>
      <p:sp>
        <p:nvSpPr>
          <p:cNvPr id="6" name="TextBox 6"/>
          <p:cNvSpPr txBox="1"/>
          <p:nvPr/>
        </p:nvSpPr>
        <p:spPr>
          <a:xfrm>
            <a:off x="1925600" y="391761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1881772" y="-14642512"/>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787664" y="3526160"/>
            <a:ext cx="10216902" cy="6321708"/>
          </a:xfrm>
          <a:custGeom>
            <a:avLst/>
            <a:gdLst/>
            <a:ahLst/>
            <a:cxnLst/>
            <a:rect l="l" t="t" r="r" b="b"/>
            <a:pathLst>
              <a:path w="10216902" h="6321708">
                <a:moveTo>
                  <a:pt x="0" y="0"/>
                </a:moveTo>
                <a:lnTo>
                  <a:pt x="10216903" y="0"/>
                </a:lnTo>
                <a:lnTo>
                  <a:pt x="10216903" y="6321708"/>
                </a:lnTo>
                <a:lnTo>
                  <a:pt x="0" y="6321708"/>
                </a:lnTo>
                <a:lnTo>
                  <a:pt x="0" y="0"/>
                </a:lnTo>
                <a:close/>
              </a:path>
            </a:pathLst>
          </a:custGeom>
          <a:blipFill>
            <a:blip r:embed="rId2"/>
            <a:stretch>
              <a:fillRect/>
            </a:stretch>
          </a:blipFill>
        </p:spPr>
      </p:sp>
      <p:sp>
        <p:nvSpPr>
          <p:cNvPr id="4" name="Freeform 4"/>
          <p:cNvSpPr/>
          <p:nvPr/>
        </p:nvSpPr>
        <p:spPr>
          <a:xfrm>
            <a:off x="11528527" y="4888548"/>
            <a:ext cx="5865511" cy="3596933"/>
          </a:xfrm>
          <a:custGeom>
            <a:avLst/>
            <a:gdLst/>
            <a:ahLst/>
            <a:cxnLst/>
            <a:rect l="l" t="t" r="r" b="b"/>
            <a:pathLst>
              <a:path w="5865511" h="3596933">
                <a:moveTo>
                  <a:pt x="0" y="0"/>
                </a:moveTo>
                <a:lnTo>
                  <a:pt x="5865511" y="0"/>
                </a:lnTo>
                <a:lnTo>
                  <a:pt x="5865511" y="3596933"/>
                </a:lnTo>
                <a:lnTo>
                  <a:pt x="0" y="3596933"/>
                </a:lnTo>
                <a:lnTo>
                  <a:pt x="0" y="0"/>
                </a:lnTo>
                <a:close/>
              </a:path>
            </a:pathLst>
          </a:custGeom>
          <a:blipFill>
            <a:blip r:embed="rId3"/>
            <a:stretch>
              <a:fillRect r="-2584"/>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促使进入门店的主要原因交叉分析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促使进入门店的主要原因交叉分析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028700" y="7962123"/>
            <a:ext cx="10271767" cy="18103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男性：更多因为门店位置便利（22.6%）和有优惠（24.5%）进店。</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女性：更多因为门店位置便利（47.8%）和有优惠（58.1%）进店。</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解析：门店位置和优惠对女性吸引力更大，而男性则相对均衡。</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6" name="TextBox 6"/>
          <p:cNvSpPr txBox="1"/>
          <p:nvPr/>
        </p:nvSpPr>
        <p:spPr>
          <a:xfrm>
            <a:off x="372432" y="4618070"/>
            <a:ext cx="9703001" cy="27247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假设H0:促使进入门店的主要原因与性别无关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H1:进入门店的主要原因与性别有关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因为p=0.95＞0.025</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所以假设不成立，即促使进入门店的主要原因与性别有关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a:p>
            <a:pPr algn="ctr">
              <a:lnSpc>
                <a:spcPts val="3640"/>
              </a:lnSpc>
            </a:pPr>
          </a:p>
        </p:txBody>
      </p:sp>
      <p:sp>
        <p:nvSpPr>
          <p:cNvPr id="7" name="TextBox 7"/>
          <p:cNvSpPr txBox="1"/>
          <p:nvPr/>
        </p:nvSpPr>
        <p:spPr>
          <a:xfrm>
            <a:off x="1028700" y="7066773"/>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1028700" y="372073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检验：</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24738"/>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721138" y="3148074"/>
            <a:ext cx="10845724" cy="6466763"/>
          </a:xfrm>
          <a:custGeom>
            <a:avLst/>
            <a:gdLst/>
            <a:ahLst/>
            <a:cxnLst/>
            <a:rect l="l" t="t" r="r" b="b"/>
            <a:pathLst>
              <a:path w="10845724" h="6466763">
                <a:moveTo>
                  <a:pt x="0" y="0"/>
                </a:moveTo>
                <a:lnTo>
                  <a:pt x="10845724" y="0"/>
                </a:lnTo>
                <a:lnTo>
                  <a:pt x="10845724" y="6466762"/>
                </a:lnTo>
                <a:lnTo>
                  <a:pt x="0" y="6466762"/>
                </a:lnTo>
                <a:lnTo>
                  <a:pt x="0" y="0"/>
                </a:lnTo>
                <a:close/>
              </a:path>
            </a:pathLst>
          </a:custGeom>
          <a:blipFill>
            <a:blip r:embed="rId2"/>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促使留在瑞幸消费的原因交叉分析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258970" y="-1443841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303699" y="3533380"/>
            <a:ext cx="4419107" cy="5042549"/>
          </a:xfrm>
          <a:custGeom>
            <a:avLst/>
            <a:gdLst/>
            <a:ahLst/>
            <a:cxnLst/>
            <a:rect l="l" t="t" r="r" b="b"/>
            <a:pathLst>
              <a:path w="4419107" h="5042549">
                <a:moveTo>
                  <a:pt x="0" y="0"/>
                </a:moveTo>
                <a:lnTo>
                  <a:pt x="4419107" y="0"/>
                </a:lnTo>
                <a:lnTo>
                  <a:pt x="4419107" y="5042550"/>
                </a:lnTo>
                <a:lnTo>
                  <a:pt x="0" y="5042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355980"/>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促使留在瑞幸消费的原因交叉分析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422461" y="4937201"/>
            <a:ext cx="10271767" cy="4153535"/>
          </a:xfrm>
          <a:prstGeom prst="rect">
            <a:avLst/>
          </a:prstGeom>
        </p:spPr>
        <p:txBody>
          <a:bodyPr lIns="0" tIns="0" rIns="0" bIns="0" rtlCol="0" anchor="t">
            <a:spAutoFit/>
          </a:bodyPr>
          <a:lstStyle/>
          <a:p>
            <a:pPr algn="ctr">
              <a:lnSpc>
                <a:spcPts val="3640"/>
              </a:lnSpc>
            </a:p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男性：更多因为价格（63.8%）和性价比（61.7%）留下。</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女性：更多因为性价比（62.3%）和新口味（39.3%）留下。</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解析：性价比是共同的关注点，但女性更看重新口味。</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p>
          <a:p>
            <a:pPr algn="ctr">
              <a:lnSpc>
                <a:spcPts val="3640"/>
              </a:lnSpc>
            </a:pPr>
          </a:p>
        </p:txBody>
      </p:sp>
      <p:sp>
        <p:nvSpPr>
          <p:cNvPr id="6" name="TextBox 6"/>
          <p:cNvSpPr txBox="1"/>
          <p:nvPr/>
        </p:nvSpPr>
        <p:spPr>
          <a:xfrm>
            <a:off x="1925600" y="391761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363865" y="3295957"/>
            <a:ext cx="11560269" cy="6123083"/>
          </a:xfrm>
          <a:custGeom>
            <a:avLst/>
            <a:gdLst/>
            <a:ahLst/>
            <a:cxnLst/>
            <a:rect l="l" t="t" r="r" b="b"/>
            <a:pathLst>
              <a:path w="11560269" h="6123083">
                <a:moveTo>
                  <a:pt x="0" y="0"/>
                </a:moveTo>
                <a:lnTo>
                  <a:pt x="11560270" y="0"/>
                </a:lnTo>
                <a:lnTo>
                  <a:pt x="11560270" y="6123083"/>
                </a:lnTo>
                <a:lnTo>
                  <a:pt x="0" y="6123083"/>
                </a:lnTo>
                <a:lnTo>
                  <a:pt x="0" y="0"/>
                </a:lnTo>
                <a:close/>
              </a:path>
            </a:pathLst>
          </a:custGeom>
          <a:blipFill>
            <a:blip r:embed="rId2"/>
            <a:stretch>
              <a:fillRect b="-6434"/>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认为瑞幸“值了”的原因交叉分析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258970" y="-1443841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303699" y="3533380"/>
            <a:ext cx="4419107" cy="5042549"/>
          </a:xfrm>
          <a:custGeom>
            <a:avLst/>
            <a:gdLst/>
            <a:ahLst/>
            <a:cxnLst/>
            <a:rect l="l" t="t" r="r" b="b"/>
            <a:pathLst>
              <a:path w="4419107" h="5042549">
                <a:moveTo>
                  <a:pt x="0" y="0"/>
                </a:moveTo>
                <a:lnTo>
                  <a:pt x="4419107" y="0"/>
                </a:lnTo>
                <a:lnTo>
                  <a:pt x="4419107" y="5042550"/>
                </a:lnTo>
                <a:lnTo>
                  <a:pt x="0" y="5042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355980"/>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认为瑞幸“值了”的原因交叉分析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422461" y="4937201"/>
            <a:ext cx="10271767" cy="4153535"/>
          </a:xfrm>
          <a:prstGeom prst="rect">
            <a:avLst/>
          </a:prstGeom>
        </p:spPr>
        <p:txBody>
          <a:bodyPr lIns="0" tIns="0" rIns="0" bIns="0" rtlCol="0" anchor="t">
            <a:spAutoFit/>
          </a:bodyPr>
          <a:lstStyle/>
          <a:p>
            <a:pPr algn="ctr">
              <a:lnSpc>
                <a:spcPts val="3640"/>
              </a:lnSpc>
            </a:p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男性：更多认为性价比高（42.1%）和口味独特（35.7%）。</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女性：更多认为性价比高（64.3%）和包装设计精美（77.4%）。</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解析：性价比是共同的关注点，但女性更看重包装设计。</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p>
          <a:p>
            <a:pPr algn="ctr">
              <a:lnSpc>
                <a:spcPts val="3640"/>
              </a:lnSpc>
            </a:pPr>
          </a:p>
        </p:txBody>
      </p:sp>
      <p:sp>
        <p:nvSpPr>
          <p:cNvPr id="6" name="TextBox 6"/>
          <p:cNvSpPr txBox="1"/>
          <p:nvPr/>
        </p:nvSpPr>
        <p:spPr>
          <a:xfrm>
            <a:off x="1925600" y="391761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510244" y="3191260"/>
            <a:ext cx="11267512" cy="6067040"/>
          </a:xfrm>
          <a:custGeom>
            <a:avLst/>
            <a:gdLst/>
            <a:ahLst/>
            <a:cxnLst/>
            <a:rect l="l" t="t" r="r" b="b"/>
            <a:pathLst>
              <a:path w="11267512" h="6067040">
                <a:moveTo>
                  <a:pt x="0" y="0"/>
                </a:moveTo>
                <a:lnTo>
                  <a:pt x="11267512" y="0"/>
                </a:lnTo>
                <a:lnTo>
                  <a:pt x="11267512" y="6067040"/>
                </a:lnTo>
                <a:lnTo>
                  <a:pt x="0" y="6067040"/>
                </a:lnTo>
                <a:lnTo>
                  <a:pt x="0" y="0"/>
                </a:lnTo>
                <a:close/>
              </a:path>
            </a:pathLst>
          </a:custGeom>
          <a:blipFill>
            <a:blip r:embed="rId2"/>
            <a:stretch>
              <a:fillRect b="-6555"/>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填写问卷人的性别 * 下次还去瑞幸的原因交叉分析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258970" y="-1443841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303699" y="3533380"/>
            <a:ext cx="4419107" cy="5042549"/>
          </a:xfrm>
          <a:custGeom>
            <a:avLst/>
            <a:gdLst/>
            <a:ahLst/>
            <a:cxnLst/>
            <a:rect l="l" t="t" r="r" b="b"/>
            <a:pathLst>
              <a:path w="4419107" h="5042549">
                <a:moveTo>
                  <a:pt x="0" y="0"/>
                </a:moveTo>
                <a:lnTo>
                  <a:pt x="4419107" y="0"/>
                </a:lnTo>
                <a:lnTo>
                  <a:pt x="4419107" y="5042550"/>
                </a:lnTo>
                <a:lnTo>
                  <a:pt x="0" y="5042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355980"/>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下次还去瑞幸的原因交叉分析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466212" y="4565316"/>
            <a:ext cx="10271767" cy="5782310"/>
          </a:xfrm>
          <a:prstGeom prst="rect">
            <a:avLst/>
          </a:prstGeom>
        </p:spPr>
        <p:txBody>
          <a:bodyPr lIns="0" tIns="0" rIns="0" bIns="0" rtlCol="0" anchor="t">
            <a:spAutoFit/>
          </a:bodyPr>
          <a:lstStyle/>
          <a:p>
            <a:pPr algn="ctr">
              <a:lnSpc>
                <a:spcPts val="3640"/>
              </a:lnSpc>
            </a:p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男性：更多因为优惠券吸引（70.5%）和新品促销（52.3%）。</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女性：更多因为新品促销（64.5%）和限时折扣活动（46.8%）。</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解析：新品促销对男女都有很强的吸引力，但男性更倾向</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于优惠券，而女性更倾向于限时折扣活动。</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p>
          <a:p>
            <a:pPr algn="ctr">
              <a:lnSpc>
                <a:spcPts val="4340"/>
              </a:lnSpc>
            </a:pPr>
          </a:p>
          <a:p>
            <a:pPr algn="ctr">
              <a:lnSpc>
                <a:spcPts val="3640"/>
              </a:lnSpc>
            </a:pPr>
          </a:p>
        </p:txBody>
      </p:sp>
      <p:sp>
        <p:nvSpPr>
          <p:cNvPr id="6" name="TextBox 6"/>
          <p:cNvSpPr txBox="1"/>
          <p:nvPr/>
        </p:nvSpPr>
        <p:spPr>
          <a:xfrm>
            <a:off x="1925600" y="391761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545411" y="3497063"/>
            <a:ext cx="10415148" cy="6170975"/>
          </a:xfrm>
          <a:custGeom>
            <a:avLst/>
            <a:gdLst/>
            <a:ahLst/>
            <a:cxnLst/>
            <a:rect l="l" t="t" r="r" b="b"/>
            <a:pathLst>
              <a:path w="10415148" h="6170975">
                <a:moveTo>
                  <a:pt x="0" y="0"/>
                </a:moveTo>
                <a:lnTo>
                  <a:pt x="10415148" y="0"/>
                </a:lnTo>
                <a:lnTo>
                  <a:pt x="10415148" y="6170976"/>
                </a:lnTo>
                <a:lnTo>
                  <a:pt x="0" y="6170976"/>
                </a:lnTo>
                <a:lnTo>
                  <a:pt x="0" y="0"/>
                </a:lnTo>
                <a:close/>
              </a:path>
            </a:pathLst>
          </a:custGeom>
          <a:blipFill>
            <a:blip r:embed="rId2"/>
            <a:stretch>
              <a:fillRect/>
            </a:stretch>
          </a:blipFill>
        </p:spPr>
      </p:sp>
      <p:sp>
        <p:nvSpPr>
          <p:cNvPr id="4" name="Freeform 4"/>
          <p:cNvSpPr/>
          <p:nvPr/>
        </p:nvSpPr>
        <p:spPr>
          <a:xfrm>
            <a:off x="11321090" y="4713456"/>
            <a:ext cx="6358415" cy="3738189"/>
          </a:xfrm>
          <a:custGeom>
            <a:avLst/>
            <a:gdLst/>
            <a:ahLst/>
            <a:cxnLst/>
            <a:rect l="l" t="t" r="r" b="b"/>
            <a:pathLst>
              <a:path w="6358415" h="3738189">
                <a:moveTo>
                  <a:pt x="0" y="0"/>
                </a:moveTo>
                <a:lnTo>
                  <a:pt x="6358415" y="0"/>
                </a:lnTo>
                <a:lnTo>
                  <a:pt x="6358415" y="3738189"/>
                </a:lnTo>
                <a:lnTo>
                  <a:pt x="0" y="3738189"/>
                </a:lnTo>
                <a:lnTo>
                  <a:pt x="0" y="0"/>
                </a:lnTo>
                <a:close/>
              </a:path>
            </a:pathLst>
          </a:custGeom>
          <a:blipFill>
            <a:blip r:embed="rId3"/>
            <a:stretch>
              <a:fillRect/>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您有多大可能向亲戚朋友推荐瑞幸交叉分析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583338"/>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您有多大可能向亲戚朋友推荐瑞幸交叉分析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110725" y="7523830"/>
            <a:ext cx="10271767" cy="31819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男性：有较高比例（20.5%）的人选择“9”和“10”表示非常可能推荐瑞幸。</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女性：选择“6”到“8”的比例较高，表示她们可能推荐瑞幸的可能性略低于男性。</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解析：男性更倾向于强烈推荐瑞幸，而女性则稍微保守一些。</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a:p>
            <a:pPr algn="ctr">
              <a:lnSpc>
                <a:spcPts val="3640"/>
              </a:lnSpc>
            </a:pPr>
          </a:p>
        </p:txBody>
      </p:sp>
      <p:sp>
        <p:nvSpPr>
          <p:cNvPr id="6" name="TextBox 6"/>
          <p:cNvSpPr txBox="1"/>
          <p:nvPr/>
        </p:nvSpPr>
        <p:spPr>
          <a:xfrm>
            <a:off x="459934" y="4370420"/>
            <a:ext cx="9703001" cy="22675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假设H0:推荐的可能与性别无关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H1:推荐的可能与性别有关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因为P=0.179大于0.025</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所以假设不成立，即推荐的可能性与性别有关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7" name="TextBox 7"/>
          <p:cNvSpPr txBox="1"/>
          <p:nvPr/>
        </p:nvSpPr>
        <p:spPr>
          <a:xfrm>
            <a:off x="1028700" y="6628480"/>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1028700" y="347308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检验：</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777881" y="3328495"/>
            <a:ext cx="10732238" cy="5767699"/>
          </a:xfrm>
          <a:custGeom>
            <a:avLst/>
            <a:gdLst/>
            <a:ahLst/>
            <a:cxnLst/>
            <a:rect l="l" t="t" r="r" b="b"/>
            <a:pathLst>
              <a:path w="10732238" h="5767699">
                <a:moveTo>
                  <a:pt x="0" y="0"/>
                </a:moveTo>
                <a:lnTo>
                  <a:pt x="10732238" y="0"/>
                </a:lnTo>
                <a:lnTo>
                  <a:pt x="10732238" y="5767699"/>
                </a:lnTo>
                <a:lnTo>
                  <a:pt x="0" y="5767699"/>
                </a:lnTo>
                <a:lnTo>
                  <a:pt x="0" y="0"/>
                </a:lnTo>
                <a:close/>
              </a:path>
            </a:pathLst>
          </a:custGeom>
          <a:blipFill>
            <a:blip r:embed="rId2"/>
            <a:stretch>
              <a:fillRect b="-5597"/>
            </a:stretch>
          </a:blipFill>
        </p:spPr>
      </p:sp>
      <p:sp>
        <p:nvSpPr>
          <p:cNvPr id="4" name="TextBox 4"/>
          <p:cNvSpPr txBox="1"/>
          <p:nvPr/>
        </p:nvSpPr>
        <p:spPr>
          <a:xfrm>
            <a:off x="2194528" y="604838"/>
            <a:ext cx="14967202"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推荐瑞幸的方式交叉分析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258970" y="-1443841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303699" y="3533380"/>
            <a:ext cx="4419107" cy="5042549"/>
          </a:xfrm>
          <a:custGeom>
            <a:avLst/>
            <a:gdLst/>
            <a:ahLst/>
            <a:cxnLst/>
            <a:rect l="l" t="t" r="r" b="b"/>
            <a:pathLst>
              <a:path w="4419107" h="5042549">
                <a:moveTo>
                  <a:pt x="0" y="0"/>
                </a:moveTo>
                <a:lnTo>
                  <a:pt x="4419107" y="0"/>
                </a:lnTo>
                <a:lnTo>
                  <a:pt x="4419107" y="5042550"/>
                </a:lnTo>
                <a:lnTo>
                  <a:pt x="0" y="5042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749741"/>
            <a:ext cx="14408638"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推荐瑞幸的方式交叉分析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531839" y="4765341"/>
            <a:ext cx="10271767" cy="4696460"/>
          </a:xfrm>
          <a:prstGeom prst="rect">
            <a:avLst/>
          </a:prstGeom>
        </p:spPr>
        <p:txBody>
          <a:bodyPr lIns="0" tIns="0" rIns="0" bIns="0" rtlCol="0" anchor="t">
            <a:spAutoFit/>
          </a:bodyPr>
          <a:lstStyle/>
          <a:p>
            <a:pPr algn="ctr">
              <a:lnSpc>
                <a:spcPts val="3640"/>
              </a:lnSpc>
            </a:p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男性：更多通过口头推荐（86.0%）和微信或朋友圈推荐（34.9%）。</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女性：更多通过口头推荐（86.9%）和社交媒体发布体验（11.5%）。</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解析：口头推荐是主要的推荐方式，女性更倾向于使用社交媒体。</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p>
          <a:p>
            <a:pPr algn="ctr">
              <a:lnSpc>
                <a:spcPts val="3640"/>
              </a:lnSpc>
            </a:pPr>
          </a:p>
        </p:txBody>
      </p:sp>
      <p:sp>
        <p:nvSpPr>
          <p:cNvPr id="6" name="TextBox 6"/>
          <p:cNvSpPr txBox="1"/>
          <p:nvPr/>
        </p:nvSpPr>
        <p:spPr>
          <a:xfrm>
            <a:off x="1531839" y="3919188"/>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833126" y="3343934"/>
            <a:ext cx="10621747" cy="6253554"/>
          </a:xfrm>
          <a:custGeom>
            <a:avLst/>
            <a:gdLst/>
            <a:ahLst/>
            <a:cxnLst/>
            <a:rect l="l" t="t" r="r" b="b"/>
            <a:pathLst>
              <a:path w="10621747" h="6253554">
                <a:moveTo>
                  <a:pt x="0" y="0"/>
                </a:moveTo>
                <a:lnTo>
                  <a:pt x="10621748" y="0"/>
                </a:lnTo>
                <a:lnTo>
                  <a:pt x="10621748" y="6253554"/>
                </a:lnTo>
                <a:lnTo>
                  <a:pt x="0" y="6253554"/>
                </a:lnTo>
                <a:lnTo>
                  <a:pt x="0" y="0"/>
                </a:lnTo>
                <a:close/>
              </a:path>
            </a:pathLst>
          </a:custGeom>
          <a:blipFill>
            <a:blip r:embed="rId2"/>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向他人推荐瑞幸的主要原因交叉分析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258970" y="-1443841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303699" y="3533380"/>
            <a:ext cx="4419107" cy="5042549"/>
          </a:xfrm>
          <a:custGeom>
            <a:avLst/>
            <a:gdLst/>
            <a:ahLst/>
            <a:cxnLst/>
            <a:rect l="l" t="t" r="r" b="b"/>
            <a:pathLst>
              <a:path w="4419107" h="5042549">
                <a:moveTo>
                  <a:pt x="0" y="0"/>
                </a:moveTo>
                <a:lnTo>
                  <a:pt x="4419107" y="0"/>
                </a:lnTo>
                <a:lnTo>
                  <a:pt x="4419107" y="5042550"/>
                </a:lnTo>
                <a:lnTo>
                  <a:pt x="0" y="5042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749741"/>
            <a:ext cx="14408638"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推荐瑞幸的方式交叉分析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531839" y="4765341"/>
            <a:ext cx="10271767" cy="4696460"/>
          </a:xfrm>
          <a:prstGeom prst="rect">
            <a:avLst/>
          </a:prstGeom>
        </p:spPr>
        <p:txBody>
          <a:bodyPr lIns="0" tIns="0" rIns="0" bIns="0" rtlCol="0" anchor="t">
            <a:spAutoFit/>
          </a:bodyPr>
          <a:lstStyle/>
          <a:p>
            <a:pPr algn="ctr">
              <a:lnSpc>
                <a:spcPts val="3640"/>
              </a:lnSpc>
            </a:p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男性：更多因为产品品质不错（25.0%）和性价比高（56.8%）。</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女性：更多因为性价比高（65.1%）和营销活动吸引人（7.9%）。</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解析：性价比是共同的关注点，但女性更看重营销活动。</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340"/>
              </a:lnSpc>
            </a:pPr>
          </a:p>
          <a:p>
            <a:pPr algn="ctr">
              <a:lnSpc>
                <a:spcPts val="4340"/>
              </a:lnSpc>
            </a:pPr>
          </a:p>
          <a:p>
            <a:pPr algn="ctr">
              <a:lnSpc>
                <a:spcPts val="3640"/>
              </a:lnSpc>
            </a:pPr>
          </a:p>
        </p:txBody>
      </p:sp>
      <p:sp>
        <p:nvSpPr>
          <p:cNvPr id="6" name="TextBox 6"/>
          <p:cNvSpPr txBox="1"/>
          <p:nvPr/>
        </p:nvSpPr>
        <p:spPr>
          <a:xfrm>
            <a:off x="1531839" y="3919188"/>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363157" y="3290535"/>
            <a:ext cx="11561686" cy="6214230"/>
          </a:xfrm>
          <a:custGeom>
            <a:avLst/>
            <a:gdLst/>
            <a:ahLst/>
            <a:cxnLst/>
            <a:rect l="l" t="t" r="r" b="b"/>
            <a:pathLst>
              <a:path w="11561686" h="6214230">
                <a:moveTo>
                  <a:pt x="0" y="0"/>
                </a:moveTo>
                <a:lnTo>
                  <a:pt x="11561686" y="0"/>
                </a:lnTo>
                <a:lnTo>
                  <a:pt x="11561686" y="6214230"/>
                </a:lnTo>
                <a:lnTo>
                  <a:pt x="0" y="6214230"/>
                </a:lnTo>
                <a:lnTo>
                  <a:pt x="0" y="0"/>
                </a:lnTo>
                <a:close/>
              </a:path>
            </a:pathLst>
          </a:custGeom>
          <a:blipFill>
            <a:blip r:embed="rId2"/>
            <a:stretch>
              <a:fillRect l="-2378"/>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未选择瑞幸的原因交叉分析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258970" y="-1443841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303699" y="3533380"/>
            <a:ext cx="4419107" cy="5042549"/>
          </a:xfrm>
          <a:custGeom>
            <a:avLst/>
            <a:gdLst/>
            <a:ahLst/>
            <a:cxnLst/>
            <a:rect l="l" t="t" r="r" b="b"/>
            <a:pathLst>
              <a:path w="4419107" h="5042549">
                <a:moveTo>
                  <a:pt x="0" y="0"/>
                </a:moveTo>
                <a:lnTo>
                  <a:pt x="4419107" y="0"/>
                </a:lnTo>
                <a:lnTo>
                  <a:pt x="4419107" y="5042550"/>
                </a:lnTo>
                <a:lnTo>
                  <a:pt x="0" y="5042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749741"/>
            <a:ext cx="14408638" cy="847725"/>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推荐瑞幸的方式交叉分析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531839" y="4689141"/>
            <a:ext cx="10271767" cy="5746623"/>
          </a:xfrm>
          <a:prstGeom prst="rect">
            <a:avLst/>
          </a:prstGeom>
        </p:spPr>
        <p:txBody>
          <a:bodyPr lIns="0" tIns="0" rIns="0" bIns="0" rtlCol="0" anchor="t">
            <a:spAutoFit/>
          </a:bodyPr>
          <a:lstStyle/>
          <a:p>
            <a:pPr algn="ctr">
              <a:lnSpc>
                <a:spcPts val="4445"/>
              </a:lnSpc>
            </a:pPr>
          </a:p>
          <a:p>
            <a:pPr algn="ctr">
              <a:lnSpc>
                <a:spcPts val="530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男性：更多因为没有吸引我的产品（55.6%）。</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530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女性：更多因为周围有更好的选择（80.0%）。</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5300"/>
              </a:lnSpc>
            </a:pPr>
            <a:r>
              <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解析：男性未选择瑞幸主要是因为产品吸引力不足，而女性则因为有更好的选择。</a:t>
            </a:r>
            <a:endParaRPr lang="en-US" sz="3100" b="1" spc="37">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5300"/>
              </a:lnSpc>
            </a:pPr>
          </a:p>
          <a:p>
            <a:pPr algn="ctr">
              <a:lnSpc>
                <a:spcPts val="5300"/>
              </a:lnSpc>
            </a:pPr>
          </a:p>
          <a:p>
            <a:pPr algn="ctr">
              <a:lnSpc>
                <a:spcPts val="5300"/>
              </a:lnSpc>
            </a:pPr>
          </a:p>
          <a:p>
            <a:pPr algn="ctr">
              <a:lnSpc>
                <a:spcPts val="4445"/>
              </a:lnSpc>
            </a:pPr>
          </a:p>
        </p:txBody>
      </p:sp>
      <p:sp>
        <p:nvSpPr>
          <p:cNvPr id="6" name="TextBox 6"/>
          <p:cNvSpPr txBox="1"/>
          <p:nvPr/>
        </p:nvSpPr>
        <p:spPr>
          <a:xfrm>
            <a:off x="1531839" y="3919188"/>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416568" y="3586836"/>
            <a:ext cx="10467578" cy="5822590"/>
          </a:xfrm>
          <a:custGeom>
            <a:avLst/>
            <a:gdLst/>
            <a:ahLst/>
            <a:cxnLst/>
            <a:rect l="l" t="t" r="r" b="b"/>
            <a:pathLst>
              <a:path w="10467578" h="5822590">
                <a:moveTo>
                  <a:pt x="0" y="0"/>
                </a:moveTo>
                <a:lnTo>
                  <a:pt x="10467577" y="0"/>
                </a:lnTo>
                <a:lnTo>
                  <a:pt x="10467577" y="5822590"/>
                </a:lnTo>
                <a:lnTo>
                  <a:pt x="0" y="5822590"/>
                </a:lnTo>
                <a:lnTo>
                  <a:pt x="0" y="0"/>
                </a:lnTo>
                <a:close/>
              </a:path>
            </a:pathLst>
          </a:custGeom>
          <a:blipFill>
            <a:blip r:embed="rId2"/>
            <a:stretch>
              <a:fillRect/>
            </a:stretch>
          </a:blipFill>
        </p:spPr>
      </p:sp>
      <p:sp>
        <p:nvSpPr>
          <p:cNvPr id="4" name="Freeform 4"/>
          <p:cNvSpPr/>
          <p:nvPr/>
        </p:nvSpPr>
        <p:spPr>
          <a:xfrm>
            <a:off x="11240144" y="4657268"/>
            <a:ext cx="6607271" cy="3681725"/>
          </a:xfrm>
          <a:custGeom>
            <a:avLst/>
            <a:gdLst/>
            <a:ahLst/>
            <a:cxnLst/>
            <a:rect l="l" t="t" r="r" b="b"/>
            <a:pathLst>
              <a:path w="6607271" h="3681725">
                <a:moveTo>
                  <a:pt x="0" y="0"/>
                </a:moveTo>
                <a:lnTo>
                  <a:pt x="6607271" y="0"/>
                </a:lnTo>
                <a:lnTo>
                  <a:pt x="6607271" y="3681725"/>
                </a:lnTo>
                <a:lnTo>
                  <a:pt x="0" y="3681725"/>
                </a:lnTo>
                <a:lnTo>
                  <a:pt x="0" y="0"/>
                </a:lnTo>
                <a:close/>
              </a:path>
            </a:pathLst>
          </a:custGeom>
          <a:blipFill>
            <a:blip r:embed="rId3"/>
            <a:stretch>
              <a:fillRect/>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选择的哪一家咖啡店</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填写问卷人的性别 * 您有多大可能向亲戚朋友推荐瑞幸交叉分析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110725" y="7872095"/>
            <a:ext cx="10271767" cy="27247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男性：更多选择了星巴克（22.2%）和雀巢（33.3%）。</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女性：更多选择了星巴克（60.0%）。</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解析：星巴克是未选择瑞幸时的主要选择，女性对星巴克的偏好更高。</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a:p>
            <a:pPr algn="ctr">
              <a:lnSpc>
                <a:spcPts val="3640"/>
              </a:lnSpc>
            </a:pPr>
          </a:p>
        </p:txBody>
      </p:sp>
      <p:sp>
        <p:nvSpPr>
          <p:cNvPr id="6" name="TextBox 6"/>
          <p:cNvSpPr txBox="1"/>
          <p:nvPr/>
        </p:nvSpPr>
        <p:spPr>
          <a:xfrm>
            <a:off x="459934" y="4370420"/>
            <a:ext cx="9703001" cy="22675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假设H0:选择的咖啡店与性别无关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H1:选择的咖啡店与性别有关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因为p=0.152＞0.025</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所以假设不成立，选择的咖啡店与性别有关</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7" name="TextBox 7"/>
          <p:cNvSpPr txBox="1"/>
          <p:nvPr/>
        </p:nvSpPr>
        <p:spPr>
          <a:xfrm>
            <a:off x="1028700" y="6628480"/>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1028700" y="347308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检验：</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38654" y="-14008898"/>
            <a:ext cx="14772691" cy="21149016"/>
          </a:xfrm>
          <a:custGeom>
            <a:avLst/>
            <a:gdLst/>
            <a:ahLst/>
            <a:cxnLst/>
            <a:rect l="l" t="t" r="r" b="b"/>
            <a:pathLst>
              <a:path w="14772691" h="21149016">
                <a:moveTo>
                  <a:pt x="0" y="0"/>
                </a:moveTo>
                <a:lnTo>
                  <a:pt x="14772692" y="0"/>
                </a:lnTo>
                <a:lnTo>
                  <a:pt x="14772692" y="21149015"/>
                </a:lnTo>
                <a:lnTo>
                  <a:pt x="0" y="21149015"/>
                </a:lnTo>
                <a:lnTo>
                  <a:pt x="0" y="0"/>
                </a:lnTo>
                <a:close/>
              </a:path>
            </a:pathLst>
          </a:custGeom>
          <a:blipFill>
            <a:blip r:embed="rId1"/>
            <a:stretch>
              <a:fillRect l="-1458" t="-2106" b="-6923"/>
            </a:stretch>
          </a:blipFill>
        </p:spPr>
      </p:sp>
      <p:sp>
        <p:nvSpPr>
          <p:cNvPr id="3" name="TextBox 3"/>
          <p:cNvSpPr txBox="1"/>
          <p:nvPr/>
        </p:nvSpPr>
        <p:spPr>
          <a:xfrm>
            <a:off x="3312151" y="1028700"/>
            <a:ext cx="12024611" cy="1171553"/>
          </a:xfrm>
          <a:prstGeom prst="rect">
            <a:avLst/>
          </a:prstGeom>
        </p:spPr>
        <p:txBody>
          <a:bodyPr lIns="0" tIns="0" rIns="0" bIns="0" rtlCol="0" anchor="t">
            <a:spAutoFit/>
          </a:bodyPr>
          <a:lstStyle/>
          <a:p>
            <a:pPr algn="ctr">
              <a:lnSpc>
                <a:spcPts val="9240"/>
              </a:lnSpc>
            </a:pPr>
            <a:r>
              <a:rPr lang="en-US" sz="77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性别*四环节简单分析</a:t>
            </a:r>
            <a:endParaRPr lang="en-US" sz="77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4" name="TextBox 4"/>
          <p:cNvSpPr txBox="1"/>
          <p:nvPr/>
        </p:nvSpPr>
        <p:spPr>
          <a:xfrm>
            <a:off x="1619916" y="6018880"/>
            <a:ext cx="7704540" cy="4096385"/>
          </a:xfrm>
          <a:prstGeom prst="rect">
            <a:avLst/>
          </a:prstGeom>
        </p:spPr>
        <p:txBody>
          <a:bodyPr lIns="0" tIns="0" rIns="0" bIns="0" rtlCol="0" anchor="t">
            <a:spAutoFit/>
          </a:bodyPr>
          <a:lstStyle/>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男性：较多的男性（40%）是因为朋友推荐而进店，其次是广告吸引（38.5%）和门店位置便利（52.2%）。</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女性：女性中，门店位置便利（47.8%）和有优惠（58.1%）是主要原因，其次是朋友推荐（60%）。</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分析：女性似乎更可能因为门店的地理位置和优惠而进店，而男性则更多是因为朋友推荐和广告吸引。</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p>
        </p:txBody>
      </p:sp>
      <p:sp>
        <p:nvSpPr>
          <p:cNvPr id="5" name="TextBox 5"/>
          <p:cNvSpPr txBox="1"/>
          <p:nvPr/>
        </p:nvSpPr>
        <p:spPr>
          <a:xfrm>
            <a:off x="10039028" y="6018880"/>
            <a:ext cx="7719215" cy="3181985"/>
          </a:xfrm>
          <a:prstGeom prst="rect">
            <a:avLst/>
          </a:prstGeom>
        </p:spPr>
        <p:txBody>
          <a:bodyPr lIns="0" tIns="0" rIns="0" bIns="0" rtlCol="0" anchor="t">
            <a:spAutoFit/>
          </a:bodyPr>
          <a:lstStyle/>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男性：男性中，价格（63.8%）和性价比（61.7%）是主要的转化因素。</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女性：女性则更看重性价比（62.3%）和新口味（39.3%）。</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分析：性价比是男性和女性共同关注的重点，但女性对新口味的关注度高于男性。</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p>
        </p:txBody>
      </p:sp>
      <p:sp>
        <p:nvSpPr>
          <p:cNvPr id="6" name="TextBox 6"/>
          <p:cNvSpPr txBox="1"/>
          <p:nvPr/>
        </p:nvSpPr>
        <p:spPr>
          <a:xfrm>
            <a:off x="3075787" y="5036758"/>
            <a:ext cx="4866173" cy="695325"/>
          </a:xfrm>
          <a:prstGeom prst="rect">
            <a:avLst/>
          </a:prstGeom>
        </p:spPr>
        <p:txBody>
          <a:bodyPr lIns="0" tIns="0" rIns="0" bIns="0" rtlCol="0" anchor="t">
            <a:spAutoFit/>
          </a:bodyPr>
          <a:lstStyle/>
          <a:p>
            <a:pPr algn="ctr">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进店</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7" name="TextBox 7"/>
          <p:cNvSpPr txBox="1"/>
          <p:nvPr/>
        </p:nvSpPr>
        <p:spPr>
          <a:xfrm>
            <a:off x="10292996" y="5133975"/>
            <a:ext cx="6418841" cy="695325"/>
          </a:xfrm>
          <a:prstGeom prst="rect">
            <a:avLst/>
          </a:prstGeom>
        </p:spPr>
        <p:txBody>
          <a:bodyPr lIns="0" tIns="0" rIns="0" bIns="0" rtlCol="0" anchor="t">
            <a:spAutoFit/>
          </a:bodyPr>
          <a:lstStyle/>
          <a:p>
            <a:pPr algn="ctr">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转化</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3728660" y="3762375"/>
            <a:ext cx="3560426" cy="1381125"/>
          </a:xfrm>
          <a:prstGeom prst="rect">
            <a:avLst/>
          </a:prstGeom>
        </p:spPr>
        <p:txBody>
          <a:bodyPr lIns="0" tIns="0" rIns="0" bIns="0" rtlCol="0" anchor="t">
            <a:spAutoFit/>
          </a:bodyPr>
          <a:lstStyle/>
          <a:p>
            <a:pPr algn="ctr">
              <a:lnSpc>
                <a:spcPts val="10800"/>
              </a:lnSpc>
              <a:spcBef>
                <a:spcPct val="0"/>
              </a:spcBef>
            </a:pPr>
            <a:r>
              <a:rPr lang="en-US" sz="9000" b="1" i="1">
                <a:solidFill>
                  <a:srgbClr val="66493A"/>
                </a:solidFill>
                <a:latin typeface="Aileron Bold Italics" panose="00000800000000000000"/>
                <a:ea typeface="Aileron Bold Italics" panose="00000800000000000000"/>
                <a:cs typeface="Aileron Bold Italics" panose="00000800000000000000"/>
                <a:sym typeface="Aileron Bold Italics" panose="00000800000000000000"/>
              </a:rPr>
              <a:t>01</a:t>
            </a:r>
            <a:endParaRPr lang="en-US" sz="9000" b="1" i="1">
              <a:solidFill>
                <a:srgbClr val="66493A"/>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
        <p:nvSpPr>
          <p:cNvPr id="9" name="TextBox 9"/>
          <p:cNvSpPr txBox="1"/>
          <p:nvPr/>
        </p:nvSpPr>
        <p:spPr>
          <a:xfrm>
            <a:off x="11722203" y="3762375"/>
            <a:ext cx="3560426" cy="1381125"/>
          </a:xfrm>
          <a:prstGeom prst="rect">
            <a:avLst/>
          </a:prstGeom>
        </p:spPr>
        <p:txBody>
          <a:bodyPr lIns="0" tIns="0" rIns="0" bIns="0" rtlCol="0" anchor="t">
            <a:spAutoFit/>
          </a:bodyPr>
          <a:lstStyle/>
          <a:p>
            <a:pPr algn="ctr">
              <a:lnSpc>
                <a:spcPts val="10800"/>
              </a:lnSpc>
              <a:spcBef>
                <a:spcPct val="0"/>
              </a:spcBef>
            </a:pPr>
            <a:r>
              <a:rPr lang="en-US" sz="9000" b="1" i="1">
                <a:solidFill>
                  <a:srgbClr val="66493A"/>
                </a:solidFill>
                <a:latin typeface="Aileron Bold Italics" panose="00000800000000000000"/>
                <a:ea typeface="Aileron Bold Italics" panose="00000800000000000000"/>
                <a:cs typeface="Aileron Bold Italics" panose="00000800000000000000"/>
                <a:sym typeface="Aileron Bold Italics" panose="00000800000000000000"/>
              </a:rPr>
              <a:t>02</a:t>
            </a:r>
            <a:endParaRPr lang="en-US" sz="9000" b="1" i="1">
              <a:solidFill>
                <a:srgbClr val="66493A"/>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38654" y="-14008898"/>
            <a:ext cx="14772691" cy="21149016"/>
          </a:xfrm>
          <a:custGeom>
            <a:avLst/>
            <a:gdLst/>
            <a:ahLst/>
            <a:cxnLst/>
            <a:rect l="l" t="t" r="r" b="b"/>
            <a:pathLst>
              <a:path w="14772691" h="21149016">
                <a:moveTo>
                  <a:pt x="0" y="0"/>
                </a:moveTo>
                <a:lnTo>
                  <a:pt x="14772692" y="0"/>
                </a:lnTo>
                <a:lnTo>
                  <a:pt x="14772692" y="21149015"/>
                </a:lnTo>
                <a:lnTo>
                  <a:pt x="0" y="21149015"/>
                </a:lnTo>
                <a:lnTo>
                  <a:pt x="0" y="0"/>
                </a:lnTo>
                <a:close/>
              </a:path>
            </a:pathLst>
          </a:custGeom>
          <a:blipFill>
            <a:blip r:embed="rId1"/>
            <a:stretch>
              <a:fillRect l="-1458" t="-2106" b="-6923"/>
            </a:stretch>
          </a:blipFill>
        </p:spPr>
      </p:sp>
      <p:sp>
        <p:nvSpPr>
          <p:cNvPr id="3" name="TextBox 3"/>
          <p:cNvSpPr txBox="1"/>
          <p:nvPr/>
        </p:nvSpPr>
        <p:spPr>
          <a:xfrm>
            <a:off x="3312151" y="1028700"/>
            <a:ext cx="12024611" cy="1171575"/>
          </a:xfrm>
          <a:prstGeom prst="rect">
            <a:avLst/>
          </a:prstGeom>
        </p:spPr>
        <p:txBody>
          <a:bodyPr lIns="0" tIns="0" rIns="0" bIns="0" rtlCol="0" anchor="t">
            <a:spAutoFit/>
          </a:bodyPr>
          <a:lstStyle/>
          <a:p>
            <a:pPr algn="ctr">
              <a:lnSpc>
                <a:spcPts val="9240"/>
              </a:lnSpc>
            </a:pPr>
            <a:r>
              <a:rPr lang="en-US" sz="77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性别*四环节简单分析</a:t>
            </a:r>
            <a:endParaRPr lang="en-US" sz="77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4" name="TextBox 4"/>
          <p:cNvSpPr txBox="1"/>
          <p:nvPr/>
        </p:nvSpPr>
        <p:spPr>
          <a:xfrm>
            <a:off x="1619916" y="6018880"/>
            <a:ext cx="7704540" cy="3181985"/>
          </a:xfrm>
          <a:prstGeom prst="rect">
            <a:avLst/>
          </a:prstGeom>
        </p:spPr>
        <p:txBody>
          <a:bodyPr lIns="0" tIns="0" rIns="0" bIns="0" rtlCol="0" anchor="t">
            <a:spAutoFit/>
          </a:bodyPr>
          <a:lstStyle/>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男性：男性更可能因为优惠券吸引（70.5%）和新品促销（52.3%）而复购。</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女性：女性则更可能因为新品促销（64.5%）和限时折扣活动（46.8%）而复购。</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分析：新品促销对男女都有很强的吸引力，但男性更倾向于优惠券，而女性更倾向于限时折扣活动。</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p>
        </p:txBody>
      </p:sp>
      <p:sp>
        <p:nvSpPr>
          <p:cNvPr id="5" name="TextBox 5"/>
          <p:cNvSpPr txBox="1"/>
          <p:nvPr/>
        </p:nvSpPr>
        <p:spPr>
          <a:xfrm>
            <a:off x="10039028" y="6018880"/>
            <a:ext cx="7719215" cy="3181985"/>
          </a:xfrm>
          <a:prstGeom prst="rect">
            <a:avLst/>
          </a:prstGeom>
        </p:spPr>
        <p:txBody>
          <a:bodyPr lIns="0" tIns="0" rIns="0" bIns="0" rtlCol="0" anchor="t">
            <a:spAutoFit/>
          </a:bodyPr>
          <a:lstStyle/>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男性：男性中，有较高比例（20.5%）的人选择“9”和“10”表示非常可能推荐瑞幸。</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女性：女性中，选择“6”到“8”的比例较高，表示她们可能推荐瑞幸的可能性略低于男性。</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分析：男性似乎更倾向于强烈推荐瑞幸，而女性则稍微保守一些。</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p>
        </p:txBody>
      </p:sp>
      <p:sp>
        <p:nvSpPr>
          <p:cNvPr id="6" name="TextBox 6"/>
          <p:cNvSpPr txBox="1"/>
          <p:nvPr/>
        </p:nvSpPr>
        <p:spPr>
          <a:xfrm>
            <a:off x="3075787" y="5036758"/>
            <a:ext cx="4866173" cy="695325"/>
          </a:xfrm>
          <a:prstGeom prst="rect">
            <a:avLst/>
          </a:prstGeom>
        </p:spPr>
        <p:txBody>
          <a:bodyPr lIns="0" tIns="0" rIns="0" bIns="0" rtlCol="0" anchor="t">
            <a:spAutoFit/>
          </a:bodyPr>
          <a:lstStyle/>
          <a:p>
            <a:pPr algn="ctr">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复购</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7" name="TextBox 7"/>
          <p:cNvSpPr txBox="1"/>
          <p:nvPr/>
        </p:nvSpPr>
        <p:spPr>
          <a:xfrm>
            <a:off x="10292996" y="5133975"/>
            <a:ext cx="6418841" cy="695325"/>
          </a:xfrm>
          <a:prstGeom prst="rect">
            <a:avLst/>
          </a:prstGeom>
        </p:spPr>
        <p:txBody>
          <a:bodyPr lIns="0" tIns="0" rIns="0" bIns="0" rtlCol="0" anchor="t">
            <a:spAutoFit/>
          </a:bodyPr>
          <a:lstStyle/>
          <a:p>
            <a:pPr algn="ctr">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推荐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3728660" y="3762375"/>
            <a:ext cx="3560426" cy="1381125"/>
          </a:xfrm>
          <a:prstGeom prst="rect">
            <a:avLst/>
          </a:prstGeom>
        </p:spPr>
        <p:txBody>
          <a:bodyPr lIns="0" tIns="0" rIns="0" bIns="0" rtlCol="0" anchor="t">
            <a:spAutoFit/>
          </a:bodyPr>
          <a:lstStyle/>
          <a:p>
            <a:pPr algn="ctr">
              <a:lnSpc>
                <a:spcPts val="10800"/>
              </a:lnSpc>
              <a:spcBef>
                <a:spcPct val="0"/>
              </a:spcBef>
            </a:pPr>
            <a:r>
              <a:rPr lang="en-US" sz="9000" b="1" i="1">
                <a:solidFill>
                  <a:srgbClr val="66493A"/>
                </a:solidFill>
                <a:latin typeface="Aileron Bold Italics" panose="00000800000000000000"/>
                <a:ea typeface="Aileron Bold Italics" panose="00000800000000000000"/>
                <a:cs typeface="Aileron Bold Italics" panose="00000800000000000000"/>
                <a:sym typeface="Aileron Bold Italics" panose="00000800000000000000"/>
              </a:rPr>
              <a:t>03</a:t>
            </a:r>
            <a:endParaRPr lang="en-US" sz="9000" b="1" i="1">
              <a:solidFill>
                <a:srgbClr val="66493A"/>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
        <p:nvSpPr>
          <p:cNvPr id="9" name="TextBox 9"/>
          <p:cNvSpPr txBox="1"/>
          <p:nvPr/>
        </p:nvSpPr>
        <p:spPr>
          <a:xfrm>
            <a:off x="11722203" y="3762375"/>
            <a:ext cx="3560426" cy="1381125"/>
          </a:xfrm>
          <a:prstGeom prst="rect">
            <a:avLst/>
          </a:prstGeom>
        </p:spPr>
        <p:txBody>
          <a:bodyPr lIns="0" tIns="0" rIns="0" bIns="0" rtlCol="0" anchor="t">
            <a:spAutoFit/>
          </a:bodyPr>
          <a:lstStyle/>
          <a:p>
            <a:pPr algn="ctr">
              <a:lnSpc>
                <a:spcPts val="10800"/>
              </a:lnSpc>
              <a:spcBef>
                <a:spcPct val="0"/>
              </a:spcBef>
            </a:pPr>
            <a:r>
              <a:rPr lang="en-US" sz="9000" b="1" i="1">
                <a:solidFill>
                  <a:srgbClr val="66493A"/>
                </a:solidFill>
                <a:latin typeface="Aileron Bold Italics" panose="00000800000000000000"/>
                <a:ea typeface="Aileron Bold Italics" panose="00000800000000000000"/>
                <a:cs typeface="Aileron Bold Italics" panose="00000800000000000000"/>
                <a:sym typeface="Aileron Bold Italics" panose="00000800000000000000"/>
              </a:rPr>
              <a:t>04</a:t>
            </a:r>
            <a:endParaRPr lang="en-US" sz="9000" b="1" i="1">
              <a:solidFill>
                <a:srgbClr val="66493A"/>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74067" flipH="1">
            <a:off x="-785446" y="6416462"/>
            <a:ext cx="6891089" cy="6865247"/>
          </a:xfrm>
          <a:custGeom>
            <a:avLst/>
            <a:gdLst/>
            <a:ahLst/>
            <a:cxnLst/>
            <a:rect l="l" t="t" r="r" b="b"/>
            <a:pathLst>
              <a:path w="6891089" h="6865247">
                <a:moveTo>
                  <a:pt x="6891089" y="0"/>
                </a:moveTo>
                <a:lnTo>
                  <a:pt x="0" y="0"/>
                </a:lnTo>
                <a:lnTo>
                  <a:pt x="0" y="6865247"/>
                </a:lnTo>
                <a:lnTo>
                  <a:pt x="6891089" y="6865247"/>
                </a:lnTo>
                <a:lnTo>
                  <a:pt x="6891089"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3" name="Freeform 3"/>
          <p:cNvSpPr/>
          <p:nvPr/>
        </p:nvSpPr>
        <p:spPr>
          <a:xfrm rot="-9180021">
            <a:off x="-12468719" y="-20684773"/>
            <a:ext cx="19022799" cy="27233594"/>
          </a:xfrm>
          <a:custGeom>
            <a:avLst/>
            <a:gdLst/>
            <a:ahLst/>
            <a:cxnLst/>
            <a:rect l="l" t="t" r="r" b="b"/>
            <a:pathLst>
              <a:path w="19022799" h="27233594">
                <a:moveTo>
                  <a:pt x="0" y="0"/>
                </a:moveTo>
                <a:lnTo>
                  <a:pt x="19022799" y="0"/>
                </a:lnTo>
                <a:lnTo>
                  <a:pt x="19022799" y="27233594"/>
                </a:lnTo>
                <a:lnTo>
                  <a:pt x="0" y="27233594"/>
                </a:lnTo>
                <a:lnTo>
                  <a:pt x="0" y="0"/>
                </a:lnTo>
                <a:close/>
              </a:path>
            </a:pathLst>
          </a:custGeom>
          <a:blipFill>
            <a:blip r:embed="rId3"/>
            <a:stretch>
              <a:fillRect l="-1458" t="-2106" b="-6923"/>
            </a:stretch>
          </a:blipFill>
        </p:spPr>
      </p:sp>
      <p:sp>
        <p:nvSpPr>
          <p:cNvPr id="4" name="Freeform 4"/>
          <p:cNvSpPr/>
          <p:nvPr/>
        </p:nvSpPr>
        <p:spPr>
          <a:xfrm rot="294428" flipH="1">
            <a:off x="15382963" y="-2577137"/>
            <a:ext cx="3752675" cy="3738602"/>
          </a:xfrm>
          <a:custGeom>
            <a:avLst/>
            <a:gdLst/>
            <a:ahLst/>
            <a:cxnLst/>
            <a:rect l="l" t="t" r="r" b="b"/>
            <a:pathLst>
              <a:path w="3752675" h="3738602">
                <a:moveTo>
                  <a:pt x="3752674" y="0"/>
                </a:moveTo>
                <a:lnTo>
                  <a:pt x="0" y="0"/>
                </a:lnTo>
                <a:lnTo>
                  <a:pt x="0" y="3738603"/>
                </a:lnTo>
                <a:lnTo>
                  <a:pt x="3752674" y="3738603"/>
                </a:lnTo>
                <a:lnTo>
                  <a:pt x="3752674"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2660098" y="2009219"/>
            <a:ext cx="2510944" cy="5495925"/>
          </a:xfrm>
          <a:prstGeom prst="rect">
            <a:avLst/>
          </a:prstGeom>
        </p:spPr>
        <p:txBody>
          <a:bodyPr lIns="0" tIns="0" rIns="0" bIns="0" rtlCol="0" anchor="t">
            <a:spAutoFit/>
          </a:bodyPr>
          <a:lstStyle/>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专业</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有关</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交叉</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10800"/>
              </a:lnSpc>
            </a:pPr>
            <a:r>
              <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9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6628266" y="2072259"/>
            <a:ext cx="10539996" cy="5932932"/>
          </a:xfrm>
          <a:prstGeom prst="rect">
            <a:avLst/>
          </a:prstGeom>
        </p:spPr>
        <p:txBody>
          <a:bodyPr lIns="0" tIns="0" rIns="0" bIns="0" rtlCol="0" anchor="t">
            <a:spAutoFit/>
          </a:bodyPr>
          <a:lstStyle/>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01.</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填写问卷人的专业 * 第一个想到的咖啡品牌交叉分析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02.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促使进入门店的主要原因交叉分析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03.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第一次听说瑞幸的方式交叉分析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填写问卷人的专业 * 促使留在瑞幸消费的主要原因交叉分析 </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05</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认为瑞幸“值了”的原因交叉分析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06</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下次还去瑞幸的原因交叉分析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07</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推荐瑞幸的方式交叉分析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08</a:t>
            </a:r>
            <a:r>
              <a:rPr lang="en-US" sz="2600" b="1" spc="3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填写问卷人的专业 * 向他人推荐瑞幸的主要原因交叉分析</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5305"/>
              </a:lnSpc>
            </a:pPr>
          </a:p>
        </p:txBody>
      </p:sp>
      <p:sp>
        <p:nvSpPr>
          <p:cNvPr id="7" name="Freeform 7"/>
          <p:cNvSpPr/>
          <p:nvPr/>
        </p:nvSpPr>
        <p:spPr>
          <a:xfrm rot="1671160">
            <a:off x="15076762" y="2755902"/>
            <a:ext cx="14988201" cy="21149016"/>
          </a:xfrm>
          <a:custGeom>
            <a:avLst/>
            <a:gdLst/>
            <a:ahLst/>
            <a:cxnLst/>
            <a:rect l="l" t="t" r="r" b="b"/>
            <a:pathLst>
              <a:path w="14988201" h="21149016">
                <a:moveTo>
                  <a:pt x="0" y="0"/>
                </a:moveTo>
                <a:lnTo>
                  <a:pt x="14988201" y="0"/>
                </a:lnTo>
                <a:lnTo>
                  <a:pt x="14988201" y="21149015"/>
                </a:lnTo>
                <a:lnTo>
                  <a:pt x="0" y="21149015"/>
                </a:lnTo>
                <a:lnTo>
                  <a:pt x="0" y="0"/>
                </a:lnTo>
                <a:close/>
              </a:path>
            </a:pathLst>
          </a:custGeom>
          <a:blipFill>
            <a:blip r:embed="rId3"/>
            <a:stretch>
              <a:fillRect t="-2106" b="-6923"/>
            </a:stretch>
          </a:blipFill>
        </p:spPr>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028700" y="3795220"/>
            <a:ext cx="8261747" cy="5463080"/>
          </a:xfrm>
          <a:custGeom>
            <a:avLst/>
            <a:gdLst/>
            <a:ahLst/>
            <a:cxnLst/>
            <a:rect l="l" t="t" r="r" b="b"/>
            <a:pathLst>
              <a:path w="8261747" h="5463080">
                <a:moveTo>
                  <a:pt x="0" y="0"/>
                </a:moveTo>
                <a:lnTo>
                  <a:pt x="8261747" y="0"/>
                </a:lnTo>
                <a:lnTo>
                  <a:pt x="8261747" y="5463080"/>
                </a:lnTo>
                <a:lnTo>
                  <a:pt x="0" y="5463080"/>
                </a:lnTo>
                <a:lnTo>
                  <a:pt x="0" y="0"/>
                </a:lnTo>
                <a:close/>
              </a:path>
            </a:pathLst>
          </a:custGeom>
          <a:blipFill>
            <a:blip r:embed="rId2"/>
            <a:stretch>
              <a:fillRect/>
            </a:stretch>
          </a:blipFill>
        </p:spPr>
      </p:sp>
      <p:sp>
        <p:nvSpPr>
          <p:cNvPr id="4" name="Freeform 4"/>
          <p:cNvSpPr/>
          <p:nvPr/>
        </p:nvSpPr>
        <p:spPr>
          <a:xfrm>
            <a:off x="10295706" y="4827676"/>
            <a:ext cx="6164272" cy="3398167"/>
          </a:xfrm>
          <a:custGeom>
            <a:avLst/>
            <a:gdLst/>
            <a:ahLst/>
            <a:cxnLst/>
            <a:rect l="l" t="t" r="r" b="b"/>
            <a:pathLst>
              <a:path w="6164272" h="3398167">
                <a:moveTo>
                  <a:pt x="0" y="0"/>
                </a:moveTo>
                <a:lnTo>
                  <a:pt x="6164272" y="0"/>
                </a:lnTo>
                <a:lnTo>
                  <a:pt x="6164272" y="3398167"/>
                </a:lnTo>
                <a:lnTo>
                  <a:pt x="0" y="3398167"/>
                </a:lnTo>
                <a:lnTo>
                  <a:pt x="0" y="0"/>
                </a:lnTo>
                <a:close/>
              </a:path>
            </a:pathLst>
          </a:custGeom>
          <a:blipFill>
            <a:blip r:embed="rId3"/>
            <a:stretch>
              <a:fillRect t="-5930" r="-3908" b="-26468"/>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第一个想到的咖啡品牌交叉分析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第一个想到的咖啡品牌交叉分析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924011" y="7876825"/>
            <a:ext cx="10271767" cy="8959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60.7%商科同学选择瑞幸，表明瑞幸在商科学生心智中占重要地位。</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6" name="TextBox 6"/>
          <p:cNvSpPr txBox="1"/>
          <p:nvPr/>
        </p:nvSpPr>
        <p:spPr>
          <a:xfrm>
            <a:off x="924011" y="4370420"/>
            <a:ext cx="9703001" cy="22675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H0:不同专业第一个想到的咖啡品牌没有显著性差异 H1: 不同专业第一个想到的咖啡品牌有显著性差异</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P🟰0.209 &gt; 0.025，</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所以，不同专业的人第一个想到的咖啡品牌之间没有显著差异。</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7" name="TextBox 7"/>
          <p:cNvSpPr txBox="1"/>
          <p:nvPr/>
        </p:nvSpPr>
        <p:spPr>
          <a:xfrm>
            <a:off x="1028700" y="6628480"/>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1028700" y="347308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检验：</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390731" y="3669408"/>
            <a:ext cx="9126756" cy="5373378"/>
          </a:xfrm>
          <a:custGeom>
            <a:avLst/>
            <a:gdLst/>
            <a:ahLst/>
            <a:cxnLst/>
            <a:rect l="l" t="t" r="r" b="b"/>
            <a:pathLst>
              <a:path w="9126756" h="5373378">
                <a:moveTo>
                  <a:pt x="0" y="0"/>
                </a:moveTo>
                <a:lnTo>
                  <a:pt x="9126756" y="0"/>
                </a:lnTo>
                <a:lnTo>
                  <a:pt x="9126756" y="5373378"/>
                </a:lnTo>
                <a:lnTo>
                  <a:pt x="0" y="5373378"/>
                </a:lnTo>
                <a:lnTo>
                  <a:pt x="0" y="0"/>
                </a:lnTo>
                <a:close/>
              </a:path>
            </a:pathLst>
          </a:custGeom>
          <a:blipFill>
            <a:blip r:embed="rId2"/>
            <a:stretch>
              <a:fillRect/>
            </a:stretch>
          </a:blipFill>
        </p:spPr>
      </p:sp>
      <p:sp>
        <p:nvSpPr>
          <p:cNvPr id="4" name="Freeform 4"/>
          <p:cNvSpPr/>
          <p:nvPr/>
        </p:nvSpPr>
        <p:spPr>
          <a:xfrm>
            <a:off x="9926020" y="4905818"/>
            <a:ext cx="7796696" cy="2900557"/>
          </a:xfrm>
          <a:custGeom>
            <a:avLst/>
            <a:gdLst/>
            <a:ahLst/>
            <a:cxnLst/>
            <a:rect l="l" t="t" r="r" b="b"/>
            <a:pathLst>
              <a:path w="7796696" h="2900557">
                <a:moveTo>
                  <a:pt x="0" y="0"/>
                </a:moveTo>
                <a:lnTo>
                  <a:pt x="7796696" y="0"/>
                </a:lnTo>
                <a:lnTo>
                  <a:pt x="7796696" y="2900557"/>
                </a:lnTo>
                <a:lnTo>
                  <a:pt x="0" y="2900557"/>
                </a:lnTo>
                <a:lnTo>
                  <a:pt x="0" y="0"/>
                </a:lnTo>
                <a:close/>
              </a:path>
            </a:pathLst>
          </a:custGeom>
          <a:blipFill>
            <a:blip r:embed="rId3"/>
            <a:stretch>
              <a:fillRect/>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促使进入门店的主要原因交叉分析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促使进入门店的主要原因交叉分析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110725" y="7872095"/>
            <a:ext cx="10271767" cy="13531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36.1%的理工科学生和38.7%的艺术类学生选择有优惠，这表明优惠更能让理工科和艺术类学生进店。</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6" name="TextBox 6"/>
          <p:cNvSpPr txBox="1"/>
          <p:nvPr/>
        </p:nvSpPr>
        <p:spPr>
          <a:xfrm>
            <a:off x="459934" y="4370420"/>
            <a:ext cx="9703001" cy="22675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H0:促使不同专业的人进入门店的主要原因没有显著性差异</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H1: 促使不同专业的人进入门店的主要原因有显著性差异</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因为P🟰 0.075 &gt;0.025，</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所以促使不同专业的人进入门店的主要原因没有显著性差异</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7" name="TextBox 7"/>
          <p:cNvSpPr txBox="1"/>
          <p:nvPr/>
        </p:nvSpPr>
        <p:spPr>
          <a:xfrm>
            <a:off x="1028700" y="6628480"/>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1028700" y="347308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检验：</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028700" y="3236657"/>
            <a:ext cx="6238067" cy="6285206"/>
          </a:xfrm>
          <a:custGeom>
            <a:avLst/>
            <a:gdLst/>
            <a:ahLst/>
            <a:cxnLst/>
            <a:rect l="l" t="t" r="r" b="b"/>
            <a:pathLst>
              <a:path w="6238067" h="6285206">
                <a:moveTo>
                  <a:pt x="0" y="0"/>
                </a:moveTo>
                <a:lnTo>
                  <a:pt x="6238067" y="0"/>
                </a:lnTo>
                <a:lnTo>
                  <a:pt x="6238067" y="6285206"/>
                </a:lnTo>
                <a:lnTo>
                  <a:pt x="0" y="6285206"/>
                </a:lnTo>
                <a:lnTo>
                  <a:pt x="0" y="0"/>
                </a:lnTo>
                <a:close/>
              </a:path>
            </a:pathLst>
          </a:custGeom>
          <a:blipFill>
            <a:blip r:embed="rId2"/>
            <a:stretch>
              <a:fillRect/>
            </a:stretch>
          </a:blipFill>
        </p:spPr>
      </p:sp>
      <p:sp>
        <p:nvSpPr>
          <p:cNvPr id="4" name="Freeform 4"/>
          <p:cNvSpPr/>
          <p:nvPr/>
        </p:nvSpPr>
        <p:spPr>
          <a:xfrm>
            <a:off x="7750674" y="3236657"/>
            <a:ext cx="9991598" cy="6285206"/>
          </a:xfrm>
          <a:custGeom>
            <a:avLst/>
            <a:gdLst/>
            <a:ahLst/>
            <a:cxnLst/>
            <a:rect l="l" t="t" r="r" b="b"/>
            <a:pathLst>
              <a:path w="9991598" h="6285206">
                <a:moveTo>
                  <a:pt x="0" y="0"/>
                </a:moveTo>
                <a:lnTo>
                  <a:pt x="9991598" y="0"/>
                </a:lnTo>
                <a:lnTo>
                  <a:pt x="9991598" y="6285206"/>
                </a:lnTo>
                <a:lnTo>
                  <a:pt x="0" y="6285206"/>
                </a:lnTo>
                <a:lnTo>
                  <a:pt x="0" y="0"/>
                </a:lnTo>
                <a:close/>
              </a:path>
            </a:pathLst>
          </a:custGeom>
          <a:blipFill>
            <a:blip r:embed="rId3"/>
            <a:stretch>
              <a:fillRect t="-19105" r="-34872" b="-9002"/>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第一次听说瑞幸的方式交叉分析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9678129" y="3487538"/>
            <a:ext cx="2755702" cy="476250"/>
          </a:xfrm>
          <a:prstGeom prst="rect">
            <a:avLst/>
          </a:prstGeom>
        </p:spPr>
        <p:txBody>
          <a:bodyPr lIns="0" tIns="0" rIns="0" bIns="0" rtlCol="0" anchor="t">
            <a:spAutoFit/>
          </a:bodyPr>
          <a:lstStyle/>
          <a:p>
            <a:pPr algn="ctr">
              <a:lnSpc>
                <a:spcPts val="3720"/>
              </a:lnSpc>
              <a:spcBef>
                <a:spcPct val="0"/>
              </a:spcBef>
            </a:pPr>
            <a:r>
              <a:rPr lang="en-US" sz="31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没有显著性差异</a:t>
            </a:r>
            <a:endParaRPr lang="en-US" sz="31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86944" y="3186042"/>
            <a:ext cx="5734468" cy="3347496"/>
          </a:xfrm>
          <a:custGeom>
            <a:avLst/>
            <a:gdLst/>
            <a:ahLst/>
            <a:cxnLst/>
            <a:rect l="l" t="t" r="r" b="b"/>
            <a:pathLst>
              <a:path w="5734468" h="3347496">
                <a:moveTo>
                  <a:pt x="0" y="0"/>
                </a:moveTo>
                <a:lnTo>
                  <a:pt x="5734468" y="0"/>
                </a:lnTo>
                <a:lnTo>
                  <a:pt x="5734468" y="3347496"/>
                </a:lnTo>
                <a:lnTo>
                  <a:pt x="0" y="3347496"/>
                </a:lnTo>
                <a:lnTo>
                  <a:pt x="0" y="0"/>
                </a:lnTo>
                <a:close/>
              </a:path>
            </a:pathLst>
          </a:custGeom>
          <a:blipFill>
            <a:blip r:embed="rId2"/>
            <a:stretch>
              <a:fillRect/>
            </a:stretch>
          </a:blipFill>
        </p:spPr>
      </p:sp>
      <p:sp>
        <p:nvSpPr>
          <p:cNvPr id="4" name="Freeform 4"/>
          <p:cNvSpPr/>
          <p:nvPr/>
        </p:nvSpPr>
        <p:spPr>
          <a:xfrm>
            <a:off x="6354217" y="3186042"/>
            <a:ext cx="5734468" cy="3347496"/>
          </a:xfrm>
          <a:custGeom>
            <a:avLst/>
            <a:gdLst/>
            <a:ahLst/>
            <a:cxnLst/>
            <a:rect l="l" t="t" r="r" b="b"/>
            <a:pathLst>
              <a:path w="5734468" h="3347496">
                <a:moveTo>
                  <a:pt x="0" y="0"/>
                </a:moveTo>
                <a:lnTo>
                  <a:pt x="5734469" y="0"/>
                </a:lnTo>
                <a:lnTo>
                  <a:pt x="5734469" y="3347496"/>
                </a:lnTo>
                <a:lnTo>
                  <a:pt x="0" y="3347496"/>
                </a:lnTo>
                <a:lnTo>
                  <a:pt x="0" y="0"/>
                </a:lnTo>
                <a:close/>
              </a:path>
            </a:pathLst>
          </a:custGeom>
          <a:blipFill>
            <a:blip r:embed="rId3"/>
            <a:stretch>
              <a:fillRect/>
            </a:stretch>
          </a:blipFill>
        </p:spPr>
      </p:sp>
      <p:sp>
        <p:nvSpPr>
          <p:cNvPr id="5" name="Freeform 5"/>
          <p:cNvSpPr/>
          <p:nvPr/>
        </p:nvSpPr>
        <p:spPr>
          <a:xfrm>
            <a:off x="186944" y="6690631"/>
            <a:ext cx="5734468" cy="3347496"/>
          </a:xfrm>
          <a:custGeom>
            <a:avLst/>
            <a:gdLst/>
            <a:ahLst/>
            <a:cxnLst/>
            <a:rect l="l" t="t" r="r" b="b"/>
            <a:pathLst>
              <a:path w="5734468" h="3347496">
                <a:moveTo>
                  <a:pt x="0" y="0"/>
                </a:moveTo>
                <a:lnTo>
                  <a:pt x="5734468" y="0"/>
                </a:lnTo>
                <a:lnTo>
                  <a:pt x="5734468" y="3347496"/>
                </a:lnTo>
                <a:lnTo>
                  <a:pt x="0" y="3347496"/>
                </a:lnTo>
                <a:lnTo>
                  <a:pt x="0" y="0"/>
                </a:lnTo>
                <a:close/>
              </a:path>
            </a:pathLst>
          </a:custGeom>
          <a:blipFill>
            <a:blip r:embed="rId4"/>
            <a:stretch>
              <a:fillRect/>
            </a:stretch>
          </a:blipFill>
        </p:spPr>
      </p:sp>
      <p:sp>
        <p:nvSpPr>
          <p:cNvPr id="6" name="Freeform 6"/>
          <p:cNvSpPr/>
          <p:nvPr/>
        </p:nvSpPr>
        <p:spPr>
          <a:xfrm>
            <a:off x="6354217" y="6709681"/>
            <a:ext cx="5734468" cy="3347496"/>
          </a:xfrm>
          <a:custGeom>
            <a:avLst/>
            <a:gdLst/>
            <a:ahLst/>
            <a:cxnLst/>
            <a:rect l="l" t="t" r="r" b="b"/>
            <a:pathLst>
              <a:path w="5734468" h="3347496">
                <a:moveTo>
                  <a:pt x="0" y="0"/>
                </a:moveTo>
                <a:lnTo>
                  <a:pt x="5734469" y="0"/>
                </a:lnTo>
                <a:lnTo>
                  <a:pt x="5734469" y="3347496"/>
                </a:lnTo>
                <a:lnTo>
                  <a:pt x="0" y="3347496"/>
                </a:lnTo>
                <a:lnTo>
                  <a:pt x="0" y="0"/>
                </a:lnTo>
                <a:close/>
              </a:path>
            </a:pathLst>
          </a:custGeom>
          <a:blipFill>
            <a:blip r:embed="rId5"/>
            <a:stretch>
              <a:fillRect/>
            </a:stretch>
          </a:blipFill>
        </p:spPr>
      </p:sp>
      <p:sp>
        <p:nvSpPr>
          <p:cNvPr id="7" name="Freeform 7"/>
          <p:cNvSpPr/>
          <p:nvPr/>
        </p:nvSpPr>
        <p:spPr>
          <a:xfrm>
            <a:off x="12378593" y="3190558"/>
            <a:ext cx="5726732" cy="3342980"/>
          </a:xfrm>
          <a:custGeom>
            <a:avLst/>
            <a:gdLst/>
            <a:ahLst/>
            <a:cxnLst/>
            <a:rect l="l" t="t" r="r" b="b"/>
            <a:pathLst>
              <a:path w="5726732" h="3342980">
                <a:moveTo>
                  <a:pt x="0" y="0"/>
                </a:moveTo>
                <a:lnTo>
                  <a:pt x="5726732" y="0"/>
                </a:lnTo>
                <a:lnTo>
                  <a:pt x="5726732" y="3342980"/>
                </a:lnTo>
                <a:lnTo>
                  <a:pt x="0" y="3342980"/>
                </a:lnTo>
                <a:lnTo>
                  <a:pt x="0" y="0"/>
                </a:lnTo>
                <a:close/>
              </a:path>
            </a:pathLst>
          </a:custGeom>
          <a:blipFill>
            <a:blip r:embed="rId6"/>
            <a:stretch>
              <a:fillRect/>
            </a:stretch>
          </a:blipFill>
        </p:spPr>
      </p:sp>
      <p:sp>
        <p:nvSpPr>
          <p:cNvPr id="8" name="Freeform 8"/>
          <p:cNvSpPr/>
          <p:nvPr/>
        </p:nvSpPr>
        <p:spPr>
          <a:xfrm>
            <a:off x="12378593" y="6733247"/>
            <a:ext cx="5726732" cy="3342980"/>
          </a:xfrm>
          <a:custGeom>
            <a:avLst/>
            <a:gdLst/>
            <a:ahLst/>
            <a:cxnLst/>
            <a:rect l="l" t="t" r="r" b="b"/>
            <a:pathLst>
              <a:path w="5726732" h="3342980">
                <a:moveTo>
                  <a:pt x="0" y="0"/>
                </a:moveTo>
                <a:lnTo>
                  <a:pt x="5726732" y="0"/>
                </a:lnTo>
                <a:lnTo>
                  <a:pt x="5726732" y="3342980"/>
                </a:lnTo>
                <a:lnTo>
                  <a:pt x="0" y="3342980"/>
                </a:lnTo>
                <a:lnTo>
                  <a:pt x="0" y="0"/>
                </a:lnTo>
                <a:close/>
              </a:path>
            </a:pathLst>
          </a:custGeom>
          <a:blipFill>
            <a:blip r:embed="rId7"/>
            <a:stretch>
              <a:fillRect/>
            </a:stretch>
          </a:blipFill>
        </p:spPr>
      </p:sp>
      <p:sp>
        <p:nvSpPr>
          <p:cNvPr id="9" name="TextBox 9"/>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第一次听说瑞幸的方式交叉分析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第一次听说瑞幸的方式交叉分析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028700" y="5923216"/>
            <a:ext cx="10271767" cy="1552575"/>
          </a:xfrm>
          <a:prstGeom prst="rect">
            <a:avLst/>
          </a:prstGeom>
        </p:spPr>
        <p:txBody>
          <a:bodyPr lIns="0" tIns="0" rIns="0" bIns="0" rtlCol="0" anchor="t">
            <a:spAutoFit/>
          </a:bodyPr>
          <a:lstStyle/>
          <a:p>
            <a:pPr algn="l">
              <a:lnSpc>
                <a:spcPts val="4200"/>
              </a:lnSpc>
            </a:pPr>
            <a:r>
              <a:rPr lang="en-US" sz="3000" b="1" spc="35">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有61.5%的人文与法律专业同学第一次听说瑞幸的原因是朋友推荐，这说明在该专业群体中，朋友之间的口碑传播对瑞幸品牌的认知起到了重要作用。</a:t>
            </a:r>
            <a:endParaRPr lang="en-US" sz="3000" b="1" spc="35">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028700" y="4791075"/>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873655" y="3296710"/>
            <a:ext cx="5836218" cy="6267080"/>
          </a:xfrm>
          <a:custGeom>
            <a:avLst/>
            <a:gdLst/>
            <a:ahLst/>
            <a:cxnLst/>
            <a:rect l="l" t="t" r="r" b="b"/>
            <a:pathLst>
              <a:path w="5836218" h="6267080">
                <a:moveTo>
                  <a:pt x="0" y="0"/>
                </a:moveTo>
                <a:lnTo>
                  <a:pt x="5836217" y="0"/>
                </a:lnTo>
                <a:lnTo>
                  <a:pt x="5836217" y="6267080"/>
                </a:lnTo>
                <a:lnTo>
                  <a:pt x="0" y="6267080"/>
                </a:lnTo>
                <a:lnTo>
                  <a:pt x="0" y="0"/>
                </a:lnTo>
                <a:close/>
              </a:path>
            </a:pathLst>
          </a:custGeom>
          <a:blipFill>
            <a:blip r:embed="rId2"/>
            <a:stretch>
              <a:fillRect/>
            </a:stretch>
          </a:blipFill>
        </p:spPr>
      </p:sp>
      <p:sp>
        <p:nvSpPr>
          <p:cNvPr id="4" name="Freeform 4"/>
          <p:cNvSpPr/>
          <p:nvPr/>
        </p:nvSpPr>
        <p:spPr>
          <a:xfrm>
            <a:off x="7380549" y="3296710"/>
            <a:ext cx="10106563" cy="6267080"/>
          </a:xfrm>
          <a:custGeom>
            <a:avLst/>
            <a:gdLst/>
            <a:ahLst/>
            <a:cxnLst/>
            <a:rect l="l" t="t" r="r" b="b"/>
            <a:pathLst>
              <a:path w="10106563" h="6267080">
                <a:moveTo>
                  <a:pt x="0" y="0"/>
                </a:moveTo>
                <a:lnTo>
                  <a:pt x="10106563" y="0"/>
                </a:lnTo>
                <a:lnTo>
                  <a:pt x="10106563" y="6267080"/>
                </a:lnTo>
                <a:lnTo>
                  <a:pt x="0" y="6267080"/>
                </a:lnTo>
                <a:lnTo>
                  <a:pt x="0" y="0"/>
                </a:lnTo>
                <a:close/>
              </a:path>
            </a:pathLst>
          </a:custGeom>
          <a:blipFill>
            <a:blip r:embed="rId3"/>
            <a:stretch>
              <a:fillRect b="-3007"/>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促使留在瑞幸消费的主要原因交叉分析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9678129" y="3487538"/>
            <a:ext cx="2755702" cy="476250"/>
          </a:xfrm>
          <a:prstGeom prst="rect">
            <a:avLst/>
          </a:prstGeom>
        </p:spPr>
        <p:txBody>
          <a:bodyPr lIns="0" tIns="0" rIns="0" bIns="0" rtlCol="0" anchor="t">
            <a:spAutoFit/>
          </a:bodyPr>
          <a:lstStyle/>
          <a:p>
            <a:pPr algn="ctr">
              <a:lnSpc>
                <a:spcPts val="3720"/>
              </a:lnSpc>
              <a:spcBef>
                <a:spcPct val="0"/>
              </a:spcBef>
            </a:pPr>
            <a:r>
              <a:rPr lang="en-US" sz="31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没有显著性差异</a:t>
            </a:r>
            <a:endParaRPr lang="en-US" sz="31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28843" y="-15151154"/>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820364" y="2453595"/>
            <a:ext cx="6334240" cy="3697613"/>
          </a:xfrm>
          <a:custGeom>
            <a:avLst/>
            <a:gdLst/>
            <a:ahLst/>
            <a:cxnLst/>
            <a:rect l="l" t="t" r="r" b="b"/>
            <a:pathLst>
              <a:path w="6334240" h="3697613">
                <a:moveTo>
                  <a:pt x="0" y="0"/>
                </a:moveTo>
                <a:lnTo>
                  <a:pt x="6334240" y="0"/>
                </a:lnTo>
                <a:lnTo>
                  <a:pt x="6334240" y="3697613"/>
                </a:lnTo>
                <a:lnTo>
                  <a:pt x="0" y="3697613"/>
                </a:lnTo>
                <a:lnTo>
                  <a:pt x="0" y="0"/>
                </a:lnTo>
                <a:close/>
              </a:path>
            </a:pathLst>
          </a:custGeom>
          <a:blipFill>
            <a:blip r:embed="rId2"/>
            <a:stretch>
              <a:fillRect/>
            </a:stretch>
          </a:blipFill>
        </p:spPr>
      </p:sp>
      <p:sp>
        <p:nvSpPr>
          <p:cNvPr id="4" name="Freeform 4"/>
          <p:cNvSpPr/>
          <p:nvPr/>
        </p:nvSpPr>
        <p:spPr>
          <a:xfrm>
            <a:off x="9621563" y="2453595"/>
            <a:ext cx="6352269" cy="3708137"/>
          </a:xfrm>
          <a:custGeom>
            <a:avLst/>
            <a:gdLst/>
            <a:ahLst/>
            <a:cxnLst/>
            <a:rect l="l" t="t" r="r" b="b"/>
            <a:pathLst>
              <a:path w="6352269" h="3708137">
                <a:moveTo>
                  <a:pt x="0" y="0"/>
                </a:moveTo>
                <a:lnTo>
                  <a:pt x="6352269" y="0"/>
                </a:lnTo>
                <a:lnTo>
                  <a:pt x="6352269" y="3708137"/>
                </a:lnTo>
                <a:lnTo>
                  <a:pt x="0" y="3708137"/>
                </a:lnTo>
                <a:lnTo>
                  <a:pt x="0" y="0"/>
                </a:lnTo>
                <a:close/>
              </a:path>
            </a:pathLst>
          </a:custGeom>
          <a:blipFill>
            <a:blip r:embed="rId3"/>
            <a:stretch>
              <a:fillRect/>
            </a:stretch>
          </a:blipFill>
        </p:spPr>
      </p:sp>
      <p:sp>
        <p:nvSpPr>
          <p:cNvPr id="5" name="Freeform 5"/>
          <p:cNvSpPr/>
          <p:nvPr/>
        </p:nvSpPr>
        <p:spPr>
          <a:xfrm>
            <a:off x="1820364" y="6372737"/>
            <a:ext cx="6350825" cy="3707294"/>
          </a:xfrm>
          <a:custGeom>
            <a:avLst/>
            <a:gdLst/>
            <a:ahLst/>
            <a:cxnLst/>
            <a:rect l="l" t="t" r="r" b="b"/>
            <a:pathLst>
              <a:path w="6350825" h="3707294">
                <a:moveTo>
                  <a:pt x="0" y="0"/>
                </a:moveTo>
                <a:lnTo>
                  <a:pt x="6350825" y="0"/>
                </a:lnTo>
                <a:lnTo>
                  <a:pt x="6350825" y="3707294"/>
                </a:lnTo>
                <a:lnTo>
                  <a:pt x="0" y="3707294"/>
                </a:lnTo>
                <a:lnTo>
                  <a:pt x="0" y="0"/>
                </a:lnTo>
                <a:close/>
              </a:path>
            </a:pathLst>
          </a:custGeom>
          <a:blipFill>
            <a:blip r:embed="rId4"/>
            <a:stretch>
              <a:fillRect/>
            </a:stretch>
          </a:blipFill>
        </p:spPr>
      </p:sp>
      <p:sp>
        <p:nvSpPr>
          <p:cNvPr id="6" name="Freeform 6"/>
          <p:cNvSpPr/>
          <p:nvPr/>
        </p:nvSpPr>
        <p:spPr>
          <a:xfrm>
            <a:off x="9623007" y="6372737"/>
            <a:ext cx="6350825" cy="3707294"/>
          </a:xfrm>
          <a:custGeom>
            <a:avLst/>
            <a:gdLst/>
            <a:ahLst/>
            <a:cxnLst/>
            <a:rect l="l" t="t" r="r" b="b"/>
            <a:pathLst>
              <a:path w="6350825" h="3707294">
                <a:moveTo>
                  <a:pt x="0" y="0"/>
                </a:moveTo>
                <a:lnTo>
                  <a:pt x="6350825" y="0"/>
                </a:lnTo>
                <a:lnTo>
                  <a:pt x="6350825" y="3707294"/>
                </a:lnTo>
                <a:lnTo>
                  <a:pt x="0" y="3707294"/>
                </a:lnTo>
                <a:lnTo>
                  <a:pt x="0" y="0"/>
                </a:lnTo>
                <a:close/>
              </a:path>
            </a:pathLst>
          </a:custGeom>
          <a:blipFill>
            <a:blip r:embed="rId5"/>
            <a:stretch>
              <a:fillRect/>
            </a:stretch>
          </a:blipFill>
        </p:spPr>
      </p:sp>
      <p:sp>
        <p:nvSpPr>
          <p:cNvPr id="7" name="TextBox 7"/>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促使留在瑞幸消费的主要原因交叉分析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促使留在瑞幸消费的主要原因交叉分析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265417" y="5706647"/>
            <a:ext cx="9993321" cy="2076450"/>
          </a:xfrm>
          <a:prstGeom prst="rect">
            <a:avLst/>
          </a:prstGeom>
        </p:spPr>
        <p:txBody>
          <a:bodyPr lIns="0" tIns="0" rIns="0" bIns="0" rtlCol="0" anchor="t">
            <a:spAutoFit/>
          </a:bodyPr>
          <a:lstStyle/>
          <a:p>
            <a:pPr algn="l">
              <a:lnSpc>
                <a:spcPts val="4200"/>
              </a:lnSpc>
            </a:pPr>
            <a:r>
              <a:rPr lang="en-US" sz="3000" b="1" spc="35">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69.7%的理工科同学、69.6%的人文与法律同学和62.5%的商科同学，选择留在瑞幸的原因是价格，说明除了艺术类专业的同学，其他专业更可能因为价格留在瑞幸。</a:t>
            </a:r>
            <a:endParaRPr lang="en-US" sz="3000" b="1" spc="35">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265417" y="4448175"/>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769569" y="3434512"/>
            <a:ext cx="5616902" cy="5904759"/>
          </a:xfrm>
          <a:custGeom>
            <a:avLst/>
            <a:gdLst/>
            <a:ahLst/>
            <a:cxnLst/>
            <a:rect l="l" t="t" r="r" b="b"/>
            <a:pathLst>
              <a:path w="5616902" h="5904759">
                <a:moveTo>
                  <a:pt x="0" y="0"/>
                </a:moveTo>
                <a:lnTo>
                  <a:pt x="5616902" y="0"/>
                </a:lnTo>
                <a:lnTo>
                  <a:pt x="5616902" y="5904759"/>
                </a:lnTo>
                <a:lnTo>
                  <a:pt x="0" y="5904759"/>
                </a:lnTo>
                <a:lnTo>
                  <a:pt x="0" y="0"/>
                </a:lnTo>
                <a:close/>
              </a:path>
            </a:pathLst>
          </a:custGeom>
          <a:blipFill>
            <a:blip r:embed="rId2"/>
            <a:stretch>
              <a:fillRect/>
            </a:stretch>
          </a:blipFill>
        </p:spPr>
      </p:sp>
      <p:sp>
        <p:nvSpPr>
          <p:cNvPr id="4" name="Freeform 4"/>
          <p:cNvSpPr/>
          <p:nvPr/>
        </p:nvSpPr>
        <p:spPr>
          <a:xfrm>
            <a:off x="8150389" y="3434512"/>
            <a:ext cx="9562362" cy="5904759"/>
          </a:xfrm>
          <a:custGeom>
            <a:avLst/>
            <a:gdLst/>
            <a:ahLst/>
            <a:cxnLst/>
            <a:rect l="l" t="t" r="r" b="b"/>
            <a:pathLst>
              <a:path w="9562362" h="5904759">
                <a:moveTo>
                  <a:pt x="0" y="0"/>
                </a:moveTo>
                <a:lnTo>
                  <a:pt x="9562363" y="0"/>
                </a:lnTo>
                <a:lnTo>
                  <a:pt x="9562363" y="5904759"/>
                </a:lnTo>
                <a:lnTo>
                  <a:pt x="0" y="5904759"/>
                </a:lnTo>
                <a:lnTo>
                  <a:pt x="0" y="0"/>
                </a:lnTo>
                <a:close/>
              </a:path>
            </a:pathLst>
          </a:custGeom>
          <a:blipFill>
            <a:blip r:embed="rId3"/>
            <a:stretch>
              <a:fillRect/>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认为瑞幸“值了”的原因交叉分析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9678129" y="3487538"/>
            <a:ext cx="2755702" cy="476250"/>
          </a:xfrm>
          <a:prstGeom prst="rect">
            <a:avLst/>
          </a:prstGeom>
        </p:spPr>
        <p:txBody>
          <a:bodyPr lIns="0" tIns="0" rIns="0" bIns="0" rtlCol="0" anchor="t">
            <a:spAutoFit/>
          </a:bodyPr>
          <a:lstStyle/>
          <a:p>
            <a:pPr algn="ctr">
              <a:lnSpc>
                <a:spcPts val="3720"/>
              </a:lnSpc>
              <a:spcBef>
                <a:spcPct val="0"/>
              </a:spcBef>
            </a:pPr>
            <a:r>
              <a:rPr lang="en-US" sz="31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没有显著性差异</a:t>
            </a:r>
            <a:endParaRPr lang="en-US" sz="31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65061" y="-14704734"/>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886138" y="3222080"/>
            <a:ext cx="5343572" cy="3119310"/>
          </a:xfrm>
          <a:custGeom>
            <a:avLst/>
            <a:gdLst/>
            <a:ahLst/>
            <a:cxnLst/>
            <a:rect l="l" t="t" r="r" b="b"/>
            <a:pathLst>
              <a:path w="5343572" h="3119310">
                <a:moveTo>
                  <a:pt x="0" y="0"/>
                </a:moveTo>
                <a:lnTo>
                  <a:pt x="5343572" y="0"/>
                </a:lnTo>
                <a:lnTo>
                  <a:pt x="5343572" y="3119310"/>
                </a:lnTo>
                <a:lnTo>
                  <a:pt x="0" y="3119310"/>
                </a:lnTo>
                <a:lnTo>
                  <a:pt x="0" y="0"/>
                </a:lnTo>
                <a:close/>
              </a:path>
            </a:pathLst>
          </a:custGeom>
          <a:blipFill>
            <a:blip r:embed="rId2"/>
            <a:stretch>
              <a:fillRect/>
            </a:stretch>
          </a:blipFill>
        </p:spPr>
      </p:sp>
      <p:sp>
        <p:nvSpPr>
          <p:cNvPr id="4" name="Freeform 4"/>
          <p:cNvSpPr/>
          <p:nvPr/>
        </p:nvSpPr>
        <p:spPr>
          <a:xfrm>
            <a:off x="6656951" y="3222080"/>
            <a:ext cx="5343572" cy="3119310"/>
          </a:xfrm>
          <a:custGeom>
            <a:avLst/>
            <a:gdLst/>
            <a:ahLst/>
            <a:cxnLst/>
            <a:rect l="l" t="t" r="r" b="b"/>
            <a:pathLst>
              <a:path w="5343572" h="3119310">
                <a:moveTo>
                  <a:pt x="0" y="0"/>
                </a:moveTo>
                <a:lnTo>
                  <a:pt x="5343572" y="0"/>
                </a:lnTo>
                <a:lnTo>
                  <a:pt x="5343572" y="3119310"/>
                </a:lnTo>
                <a:lnTo>
                  <a:pt x="0" y="3119310"/>
                </a:lnTo>
                <a:lnTo>
                  <a:pt x="0" y="0"/>
                </a:lnTo>
                <a:close/>
              </a:path>
            </a:pathLst>
          </a:custGeom>
          <a:blipFill>
            <a:blip r:embed="rId3"/>
            <a:stretch>
              <a:fillRect/>
            </a:stretch>
          </a:blipFill>
        </p:spPr>
      </p:sp>
      <p:sp>
        <p:nvSpPr>
          <p:cNvPr id="5" name="Freeform 5"/>
          <p:cNvSpPr/>
          <p:nvPr/>
        </p:nvSpPr>
        <p:spPr>
          <a:xfrm>
            <a:off x="12427763" y="3222080"/>
            <a:ext cx="5343572" cy="3119310"/>
          </a:xfrm>
          <a:custGeom>
            <a:avLst/>
            <a:gdLst/>
            <a:ahLst/>
            <a:cxnLst/>
            <a:rect l="l" t="t" r="r" b="b"/>
            <a:pathLst>
              <a:path w="5343572" h="3119310">
                <a:moveTo>
                  <a:pt x="0" y="0"/>
                </a:moveTo>
                <a:lnTo>
                  <a:pt x="5343572" y="0"/>
                </a:lnTo>
                <a:lnTo>
                  <a:pt x="5343572" y="3119310"/>
                </a:lnTo>
                <a:lnTo>
                  <a:pt x="0" y="3119310"/>
                </a:lnTo>
                <a:lnTo>
                  <a:pt x="0" y="0"/>
                </a:lnTo>
                <a:close/>
              </a:path>
            </a:pathLst>
          </a:custGeom>
          <a:blipFill>
            <a:blip r:embed="rId4"/>
            <a:stretch>
              <a:fillRect/>
            </a:stretch>
          </a:blipFill>
        </p:spPr>
      </p:sp>
      <p:sp>
        <p:nvSpPr>
          <p:cNvPr id="6" name="Freeform 6"/>
          <p:cNvSpPr/>
          <p:nvPr/>
        </p:nvSpPr>
        <p:spPr>
          <a:xfrm>
            <a:off x="886138" y="6664180"/>
            <a:ext cx="5343572" cy="3119310"/>
          </a:xfrm>
          <a:custGeom>
            <a:avLst/>
            <a:gdLst/>
            <a:ahLst/>
            <a:cxnLst/>
            <a:rect l="l" t="t" r="r" b="b"/>
            <a:pathLst>
              <a:path w="5343572" h="3119310">
                <a:moveTo>
                  <a:pt x="0" y="0"/>
                </a:moveTo>
                <a:lnTo>
                  <a:pt x="5343572" y="0"/>
                </a:lnTo>
                <a:lnTo>
                  <a:pt x="5343572" y="3119310"/>
                </a:lnTo>
                <a:lnTo>
                  <a:pt x="0" y="3119310"/>
                </a:lnTo>
                <a:lnTo>
                  <a:pt x="0" y="0"/>
                </a:lnTo>
                <a:close/>
              </a:path>
            </a:pathLst>
          </a:custGeom>
          <a:blipFill>
            <a:blip r:embed="rId5"/>
            <a:stretch>
              <a:fillRect/>
            </a:stretch>
          </a:blipFill>
        </p:spPr>
      </p:sp>
      <p:sp>
        <p:nvSpPr>
          <p:cNvPr id="7" name="Freeform 7"/>
          <p:cNvSpPr/>
          <p:nvPr/>
        </p:nvSpPr>
        <p:spPr>
          <a:xfrm>
            <a:off x="6656951" y="6664180"/>
            <a:ext cx="5343572" cy="3119310"/>
          </a:xfrm>
          <a:custGeom>
            <a:avLst/>
            <a:gdLst/>
            <a:ahLst/>
            <a:cxnLst/>
            <a:rect l="l" t="t" r="r" b="b"/>
            <a:pathLst>
              <a:path w="5343572" h="3119310">
                <a:moveTo>
                  <a:pt x="0" y="0"/>
                </a:moveTo>
                <a:lnTo>
                  <a:pt x="5343572" y="0"/>
                </a:lnTo>
                <a:lnTo>
                  <a:pt x="5343572" y="3119310"/>
                </a:lnTo>
                <a:lnTo>
                  <a:pt x="0" y="3119310"/>
                </a:lnTo>
                <a:lnTo>
                  <a:pt x="0" y="0"/>
                </a:lnTo>
                <a:close/>
              </a:path>
            </a:pathLst>
          </a:custGeom>
          <a:blipFill>
            <a:blip r:embed="rId6"/>
            <a:stretch>
              <a:fillRect/>
            </a:stretch>
          </a:blipFill>
        </p:spPr>
      </p:sp>
      <p:sp>
        <p:nvSpPr>
          <p:cNvPr id="8" name="Freeform 8"/>
          <p:cNvSpPr/>
          <p:nvPr/>
        </p:nvSpPr>
        <p:spPr>
          <a:xfrm>
            <a:off x="12427763" y="6664180"/>
            <a:ext cx="5343572" cy="3119310"/>
          </a:xfrm>
          <a:custGeom>
            <a:avLst/>
            <a:gdLst/>
            <a:ahLst/>
            <a:cxnLst/>
            <a:rect l="l" t="t" r="r" b="b"/>
            <a:pathLst>
              <a:path w="5343572" h="3119310">
                <a:moveTo>
                  <a:pt x="0" y="0"/>
                </a:moveTo>
                <a:lnTo>
                  <a:pt x="5343572" y="0"/>
                </a:lnTo>
                <a:lnTo>
                  <a:pt x="5343572" y="3119310"/>
                </a:lnTo>
                <a:lnTo>
                  <a:pt x="0" y="3119310"/>
                </a:lnTo>
                <a:lnTo>
                  <a:pt x="0" y="0"/>
                </a:lnTo>
                <a:close/>
              </a:path>
            </a:pathLst>
          </a:custGeom>
          <a:blipFill>
            <a:blip r:embed="rId7"/>
            <a:stretch>
              <a:fillRect/>
            </a:stretch>
          </a:blipFill>
        </p:spPr>
      </p:sp>
      <p:sp>
        <p:nvSpPr>
          <p:cNvPr id="9" name="TextBox 9"/>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认为瑞幸“值了”的原因交叉分析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8700" y="5329441"/>
            <a:ext cx="10271767" cy="2267585"/>
          </a:xfrm>
          <a:prstGeom prst="rect">
            <a:avLst/>
          </a:prstGeom>
        </p:spPr>
        <p:txBody>
          <a:bodyPr lIns="0" tIns="0" rIns="0" bIns="0" rtlCol="0" anchor="t">
            <a:spAutoFit/>
          </a:bodyPr>
          <a:lstStyle/>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不同专业认为瑞幸值了的原因没有显著性差异，但只有12.5%的理工科同学认为瑞幸口味独特是其值了的原因，说明与其他专业同学相比，理工科同学更不赞同瑞幸的口感。</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91.3%的人文与法律同学认为性价比是瑞幸值了的原因，说明他们更可能因为性价比继续购买和支持瑞幸。</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141664" y="4077413"/>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认为瑞幸“值了”的原因交叉分析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71609"/>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656204" y="3380775"/>
            <a:ext cx="6853764" cy="6219791"/>
          </a:xfrm>
          <a:custGeom>
            <a:avLst/>
            <a:gdLst/>
            <a:ahLst/>
            <a:cxnLst/>
            <a:rect l="l" t="t" r="r" b="b"/>
            <a:pathLst>
              <a:path w="6853764" h="6219791">
                <a:moveTo>
                  <a:pt x="0" y="0"/>
                </a:moveTo>
                <a:lnTo>
                  <a:pt x="6853764" y="0"/>
                </a:lnTo>
                <a:lnTo>
                  <a:pt x="6853764" y="6219791"/>
                </a:lnTo>
                <a:lnTo>
                  <a:pt x="0" y="6219791"/>
                </a:lnTo>
                <a:lnTo>
                  <a:pt x="0" y="0"/>
                </a:lnTo>
                <a:close/>
              </a:path>
            </a:pathLst>
          </a:custGeom>
          <a:blipFill>
            <a:blip r:embed="rId2"/>
            <a:stretch>
              <a:fillRect/>
            </a:stretch>
          </a:blipFill>
        </p:spPr>
      </p:sp>
      <p:sp>
        <p:nvSpPr>
          <p:cNvPr id="4" name="Freeform 4"/>
          <p:cNvSpPr/>
          <p:nvPr/>
        </p:nvSpPr>
        <p:spPr>
          <a:xfrm>
            <a:off x="7819069" y="3380775"/>
            <a:ext cx="9991632" cy="6219791"/>
          </a:xfrm>
          <a:custGeom>
            <a:avLst/>
            <a:gdLst/>
            <a:ahLst/>
            <a:cxnLst/>
            <a:rect l="l" t="t" r="r" b="b"/>
            <a:pathLst>
              <a:path w="9991632" h="6219791">
                <a:moveTo>
                  <a:pt x="0" y="0"/>
                </a:moveTo>
                <a:lnTo>
                  <a:pt x="9991632" y="0"/>
                </a:lnTo>
                <a:lnTo>
                  <a:pt x="9991632" y="6219791"/>
                </a:lnTo>
                <a:lnTo>
                  <a:pt x="0" y="6219791"/>
                </a:lnTo>
                <a:lnTo>
                  <a:pt x="0" y="0"/>
                </a:lnTo>
                <a:close/>
              </a:path>
            </a:pathLst>
          </a:custGeom>
          <a:blipFill>
            <a:blip r:embed="rId3"/>
            <a:stretch>
              <a:fillRect/>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下次还去瑞幸的原因交叉分析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256127"/>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16296" y="4887106"/>
            <a:ext cx="5971502" cy="3485864"/>
          </a:xfrm>
          <a:custGeom>
            <a:avLst/>
            <a:gdLst/>
            <a:ahLst/>
            <a:cxnLst/>
            <a:rect l="l" t="t" r="r" b="b"/>
            <a:pathLst>
              <a:path w="5971502" h="3485864">
                <a:moveTo>
                  <a:pt x="0" y="0"/>
                </a:moveTo>
                <a:lnTo>
                  <a:pt x="5971503" y="0"/>
                </a:lnTo>
                <a:lnTo>
                  <a:pt x="5971503" y="3485864"/>
                </a:lnTo>
                <a:lnTo>
                  <a:pt x="0" y="3485864"/>
                </a:lnTo>
                <a:lnTo>
                  <a:pt x="0" y="0"/>
                </a:lnTo>
                <a:close/>
              </a:path>
            </a:pathLst>
          </a:custGeom>
          <a:blipFill>
            <a:blip r:embed="rId2"/>
            <a:stretch>
              <a:fillRect/>
            </a:stretch>
          </a:blipFill>
        </p:spPr>
      </p:sp>
      <p:sp>
        <p:nvSpPr>
          <p:cNvPr id="4" name="Freeform 4"/>
          <p:cNvSpPr/>
          <p:nvPr/>
        </p:nvSpPr>
        <p:spPr>
          <a:xfrm>
            <a:off x="6173524" y="4887106"/>
            <a:ext cx="5971502" cy="3485864"/>
          </a:xfrm>
          <a:custGeom>
            <a:avLst/>
            <a:gdLst/>
            <a:ahLst/>
            <a:cxnLst/>
            <a:rect l="l" t="t" r="r" b="b"/>
            <a:pathLst>
              <a:path w="5971502" h="3485864">
                <a:moveTo>
                  <a:pt x="0" y="0"/>
                </a:moveTo>
                <a:lnTo>
                  <a:pt x="5971502" y="0"/>
                </a:lnTo>
                <a:lnTo>
                  <a:pt x="5971502" y="3485864"/>
                </a:lnTo>
                <a:lnTo>
                  <a:pt x="0" y="3485864"/>
                </a:lnTo>
                <a:lnTo>
                  <a:pt x="0" y="0"/>
                </a:lnTo>
                <a:close/>
              </a:path>
            </a:pathLst>
          </a:custGeom>
          <a:blipFill>
            <a:blip r:embed="rId3"/>
            <a:stretch>
              <a:fillRect/>
            </a:stretch>
          </a:blipFill>
        </p:spPr>
      </p:sp>
      <p:sp>
        <p:nvSpPr>
          <p:cNvPr id="5" name="Freeform 5"/>
          <p:cNvSpPr/>
          <p:nvPr/>
        </p:nvSpPr>
        <p:spPr>
          <a:xfrm>
            <a:off x="12231037" y="4887106"/>
            <a:ext cx="6015957" cy="3511815"/>
          </a:xfrm>
          <a:custGeom>
            <a:avLst/>
            <a:gdLst/>
            <a:ahLst/>
            <a:cxnLst/>
            <a:rect l="l" t="t" r="r" b="b"/>
            <a:pathLst>
              <a:path w="6015957" h="3511815">
                <a:moveTo>
                  <a:pt x="0" y="0"/>
                </a:moveTo>
                <a:lnTo>
                  <a:pt x="6015957" y="0"/>
                </a:lnTo>
                <a:lnTo>
                  <a:pt x="6015957" y="3511815"/>
                </a:lnTo>
                <a:lnTo>
                  <a:pt x="0" y="3511815"/>
                </a:lnTo>
                <a:lnTo>
                  <a:pt x="0" y="0"/>
                </a:lnTo>
                <a:close/>
              </a:path>
            </a:pathLst>
          </a:custGeom>
          <a:blipFill>
            <a:blip r:embed="rId4"/>
            <a:stretch>
              <a:fillRect/>
            </a:stretch>
          </a:blipFill>
        </p:spPr>
      </p:sp>
      <p:sp>
        <p:nvSpPr>
          <p:cNvPr id="6" name="TextBox 6"/>
          <p:cNvSpPr txBox="1"/>
          <p:nvPr/>
        </p:nvSpPr>
        <p:spPr>
          <a:xfrm>
            <a:off x="2314168" y="598644"/>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下次还去瑞幸的原因交叉分析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7" name="TextBox 7"/>
          <p:cNvSpPr txBox="1"/>
          <p:nvPr/>
        </p:nvSpPr>
        <p:spPr>
          <a:xfrm>
            <a:off x="7962974" y="8782050"/>
            <a:ext cx="2362051" cy="476250"/>
          </a:xfrm>
          <a:prstGeom prst="rect">
            <a:avLst/>
          </a:prstGeom>
        </p:spPr>
        <p:txBody>
          <a:bodyPr lIns="0" tIns="0" rIns="0" bIns="0" rtlCol="0" anchor="t">
            <a:spAutoFit/>
          </a:bodyPr>
          <a:lstStyle/>
          <a:p>
            <a:pPr algn="ctr">
              <a:lnSpc>
                <a:spcPts val="3720"/>
              </a:lnSpc>
              <a:spcBef>
                <a:spcPct val="0"/>
              </a:spcBef>
            </a:pPr>
            <a:r>
              <a:rPr lang="en-US" sz="31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没有显著差异</a:t>
            </a:r>
            <a:endParaRPr lang="en-US" sz="31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58326"/>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788327" y="3750602"/>
            <a:ext cx="9719156" cy="5673557"/>
          </a:xfrm>
          <a:custGeom>
            <a:avLst/>
            <a:gdLst/>
            <a:ahLst/>
            <a:cxnLst/>
            <a:rect l="l" t="t" r="r" b="b"/>
            <a:pathLst>
              <a:path w="9719156" h="5673557">
                <a:moveTo>
                  <a:pt x="0" y="0"/>
                </a:moveTo>
                <a:lnTo>
                  <a:pt x="9719156" y="0"/>
                </a:lnTo>
                <a:lnTo>
                  <a:pt x="9719156" y="5673557"/>
                </a:lnTo>
                <a:lnTo>
                  <a:pt x="0" y="5673557"/>
                </a:lnTo>
                <a:lnTo>
                  <a:pt x="0" y="0"/>
                </a:lnTo>
                <a:close/>
              </a:path>
            </a:pathLst>
          </a:custGeom>
          <a:blipFill>
            <a:blip r:embed="rId2"/>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下次还去瑞幸的原因交叉分析--店员推荐选项</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3239520" y="8287460"/>
            <a:ext cx="2222450" cy="533400"/>
          </a:xfrm>
          <a:prstGeom prst="rect">
            <a:avLst/>
          </a:prstGeom>
        </p:spPr>
        <p:txBody>
          <a:bodyPr lIns="0" tIns="0" rIns="0" bIns="0" rtlCol="0" anchor="t">
            <a:spAutoFit/>
          </a:bodyPr>
          <a:lstStyle/>
          <a:p>
            <a:pPr algn="ctr">
              <a:lnSpc>
                <a:spcPts val="4200"/>
              </a:lnSpc>
              <a:spcBef>
                <a:spcPct val="0"/>
              </a:spcBef>
            </a:pPr>
            <a:r>
              <a:rPr lang="en-US" sz="3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有显著差异</a:t>
            </a:r>
            <a:endParaRPr lang="en-US" sz="3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1166337" y="3781487"/>
            <a:ext cx="5759747" cy="5287474"/>
          </a:xfrm>
          <a:prstGeom prst="rect">
            <a:avLst/>
          </a:prstGeom>
        </p:spPr>
        <p:txBody>
          <a:bodyPr lIns="0" tIns="0" rIns="0" bIns="0" rtlCol="0" anchor="t">
            <a:spAutoFit/>
          </a:bodyPr>
          <a:lstStyle/>
          <a:p>
            <a:pPr algn="l">
              <a:lnSpc>
                <a:spcPts val="3835"/>
              </a:lnSpc>
            </a:pPr>
            <a:r>
              <a:rPr lang="en-US" sz="2740" b="1" spc="32">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检验 店员推荐选项：</a:t>
            </a:r>
            <a:endParaRPr lang="en-US" sz="2740" b="1" spc="32">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835"/>
              </a:lnSpc>
            </a:pPr>
          </a:p>
          <a:p>
            <a:pPr algn="l">
              <a:lnSpc>
                <a:spcPts val="3835"/>
              </a:lnSpc>
            </a:pPr>
            <a:r>
              <a:rPr lang="en-US" sz="2740" b="1" spc="32">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H0 促使不同专业因店员推荐，下次还去瑞幸消费没有显著性差异。</a:t>
            </a:r>
            <a:endParaRPr lang="en-US" sz="2740" b="1" spc="32">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835"/>
              </a:lnSpc>
            </a:pPr>
            <a:r>
              <a:rPr lang="en-US" sz="2740" b="1" spc="32">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H1 促使不同专业因店员推荐，下次还去瑞幸消费有显著性差异。</a:t>
            </a:r>
            <a:endParaRPr lang="en-US" sz="2740" b="1" spc="32">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835"/>
              </a:lnSpc>
            </a:pPr>
            <a:r>
              <a:rPr lang="en-US" sz="2740" b="1" spc="32">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P🟰0.012 &lt;0.025，所以促使不同专业因店员推荐，下次还去瑞幸消费有显著性差异。</a:t>
            </a:r>
            <a:endParaRPr lang="en-US" sz="2740" b="1" spc="32">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835"/>
              </a:lnSpc>
            </a:pPr>
          </a:p>
          <a:p>
            <a:pPr algn="l">
              <a:lnSpc>
                <a:spcPts val="3835"/>
              </a:lnSpc>
            </a:p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649261" y="4833381"/>
            <a:ext cx="10271767" cy="3639185"/>
          </a:xfrm>
          <a:prstGeom prst="rect">
            <a:avLst/>
          </a:prstGeom>
        </p:spPr>
        <p:txBody>
          <a:bodyPr lIns="0" tIns="0" rIns="0" bIns="0" rtlCol="0" anchor="t">
            <a:spAutoFit/>
          </a:bodyPr>
          <a:lstStyle/>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0%的人文与法律同学会因店员推荐，下去还去瑞幸消费，而26.1%的商科同学会因店员推荐而继续去瑞幸消费，9.4%的理工科同学和3.6%的艺术类同学会因店员推荐继续去瑞幸消费。</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r>
              <a:rPr lang="en-US" sz="2600" spc="31">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      </a:t>
            </a: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这表明商科专业的学生对店员的推荐有一定的接受度和信任度。商科学生可能更倾向于认为店员作为专业人士，对产品的了解和推荐具有一定的专业性和可信度。因此，他们可能会根据店员的建议来尝试新的产品或服务，以获得更好的消费体验。</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p>
        </p:txBody>
      </p:sp>
      <p:sp>
        <p:nvSpPr>
          <p:cNvPr id="5" name="TextBox 5"/>
          <p:cNvSpPr txBox="1"/>
          <p:nvPr/>
        </p:nvSpPr>
        <p:spPr>
          <a:xfrm>
            <a:off x="1110725" y="372073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下次还去瑞幸的原因交叉分析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890365"/>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479958" y="3440375"/>
            <a:ext cx="5326606" cy="5644086"/>
          </a:xfrm>
          <a:custGeom>
            <a:avLst/>
            <a:gdLst/>
            <a:ahLst/>
            <a:cxnLst/>
            <a:rect l="l" t="t" r="r" b="b"/>
            <a:pathLst>
              <a:path w="5326606" h="5644086">
                <a:moveTo>
                  <a:pt x="0" y="0"/>
                </a:moveTo>
                <a:lnTo>
                  <a:pt x="5326605" y="0"/>
                </a:lnTo>
                <a:lnTo>
                  <a:pt x="5326605" y="5644085"/>
                </a:lnTo>
                <a:lnTo>
                  <a:pt x="0" y="5644085"/>
                </a:lnTo>
                <a:lnTo>
                  <a:pt x="0" y="0"/>
                </a:lnTo>
                <a:close/>
              </a:path>
            </a:pathLst>
          </a:custGeom>
          <a:blipFill>
            <a:blip r:embed="rId2"/>
            <a:stretch>
              <a:fillRect/>
            </a:stretch>
          </a:blipFill>
        </p:spPr>
      </p:sp>
      <p:sp>
        <p:nvSpPr>
          <p:cNvPr id="4" name="Freeform 4"/>
          <p:cNvSpPr/>
          <p:nvPr/>
        </p:nvSpPr>
        <p:spPr>
          <a:xfrm>
            <a:off x="7866594" y="3440375"/>
            <a:ext cx="9392706" cy="5600401"/>
          </a:xfrm>
          <a:custGeom>
            <a:avLst/>
            <a:gdLst/>
            <a:ahLst/>
            <a:cxnLst/>
            <a:rect l="l" t="t" r="r" b="b"/>
            <a:pathLst>
              <a:path w="9392706" h="5600401">
                <a:moveTo>
                  <a:pt x="0" y="0"/>
                </a:moveTo>
                <a:lnTo>
                  <a:pt x="9392706" y="0"/>
                </a:lnTo>
                <a:lnTo>
                  <a:pt x="9392706" y="5600400"/>
                </a:lnTo>
                <a:lnTo>
                  <a:pt x="0" y="5600400"/>
                </a:lnTo>
                <a:lnTo>
                  <a:pt x="0" y="0"/>
                </a:lnTo>
                <a:close/>
              </a:path>
            </a:pathLst>
          </a:custGeom>
          <a:blipFill>
            <a:blip r:embed="rId3"/>
            <a:stretch>
              <a:fillRect/>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推荐瑞幸的方式交叉分析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1526075" y="9248775"/>
            <a:ext cx="2362051" cy="476250"/>
          </a:xfrm>
          <a:prstGeom prst="rect">
            <a:avLst/>
          </a:prstGeom>
        </p:spPr>
        <p:txBody>
          <a:bodyPr lIns="0" tIns="0" rIns="0" bIns="0" rtlCol="0" anchor="t">
            <a:spAutoFit/>
          </a:bodyPr>
          <a:lstStyle/>
          <a:p>
            <a:pPr algn="ctr">
              <a:lnSpc>
                <a:spcPts val="3720"/>
              </a:lnSpc>
              <a:spcBef>
                <a:spcPct val="0"/>
              </a:spcBef>
            </a:pPr>
            <a:r>
              <a:rPr lang="en-US" sz="31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没有显著差异</a:t>
            </a:r>
            <a:endParaRPr lang="en-US" sz="31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649261" y="5405742"/>
            <a:ext cx="10271767" cy="1810385"/>
          </a:xfrm>
          <a:prstGeom prst="rect">
            <a:avLst/>
          </a:prstGeom>
        </p:spPr>
        <p:txBody>
          <a:bodyPr lIns="0" tIns="0" rIns="0" bIns="0" rtlCol="0" anchor="t">
            <a:spAutoFit/>
          </a:bodyPr>
          <a:lstStyle/>
          <a:p>
            <a:pPr algn="l">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90.5%的人文与法律同学会通过口头推荐的方式推荐瑞幸的产品，而他们大部分通过朋友推荐购买瑞幸，0人因店员的推荐下次购买瑞幸。这说明朋友推荐对人文与法律的同学作出购买决策有更大的影响。</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3640"/>
              </a:lnSpc>
            </a:pPr>
          </a:p>
        </p:txBody>
      </p:sp>
      <p:sp>
        <p:nvSpPr>
          <p:cNvPr id="5" name="TextBox 5"/>
          <p:cNvSpPr txBox="1"/>
          <p:nvPr/>
        </p:nvSpPr>
        <p:spPr>
          <a:xfrm>
            <a:off x="1110725" y="372073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推荐瑞幸的方式交叉分析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083965" y="-1462520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259086" y="3977480"/>
            <a:ext cx="9652688" cy="5683020"/>
          </a:xfrm>
          <a:custGeom>
            <a:avLst/>
            <a:gdLst/>
            <a:ahLst/>
            <a:cxnLst/>
            <a:rect l="l" t="t" r="r" b="b"/>
            <a:pathLst>
              <a:path w="9652688" h="5683020">
                <a:moveTo>
                  <a:pt x="0" y="0"/>
                </a:moveTo>
                <a:lnTo>
                  <a:pt x="9652688" y="0"/>
                </a:lnTo>
                <a:lnTo>
                  <a:pt x="9652688" y="5683020"/>
                </a:lnTo>
                <a:lnTo>
                  <a:pt x="0" y="5683020"/>
                </a:lnTo>
                <a:lnTo>
                  <a:pt x="0" y="0"/>
                </a:lnTo>
                <a:close/>
              </a:path>
            </a:pathLst>
          </a:custGeom>
          <a:blipFill>
            <a:blip r:embed="rId2"/>
            <a:stretch>
              <a:fillRect/>
            </a:stretch>
          </a:blipFill>
        </p:spPr>
      </p:sp>
      <p:sp>
        <p:nvSpPr>
          <p:cNvPr id="4" name="Freeform 4"/>
          <p:cNvSpPr/>
          <p:nvPr/>
        </p:nvSpPr>
        <p:spPr>
          <a:xfrm>
            <a:off x="10274229" y="5274873"/>
            <a:ext cx="7368415" cy="3088233"/>
          </a:xfrm>
          <a:custGeom>
            <a:avLst/>
            <a:gdLst/>
            <a:ahLst/>
            <a:cxnLst/>
            <a:rect l="l" t="t" r="r" b="b"/>
            <a:pathLst>
              <a:path w="7368415" h="3088233">
                <a:moveTo>
                  <a:pt x="0" y="0"/>
                </a:moveTo>
                <a:lnTo>
                  <a:pt x="7368415" y="0"/>
                </a:lnTo>
                <a:lnTo>
                  <a:pt x="7368415" y="3088233"/>
                </a:lnTo>
                <a:lnTo>
                  <a:pt x="0" y="3088233"/>
                </a:lnTo>
                <a:lnTo>
                  <a:pt x="0" y="0"/>
                </a:lnTo>
                <a:close/>
              </a:path>
            </a:pathLst>
          </a:custGeom>
          <a:blipFill>
            <a:blip r:embed="rId3"/>
            <a:stretch>
              <a:fillRect/>
            </a:stretch>
          </a:blipFill>
        </p:spPr>
      </p:sp>
      <p:sp>
        <p:nvSpPr>
          <p:cNvPr id="5" name="TextBox 5"/>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向他人推荐瑞幸的主要原因交叉分析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5400000">
            <a:off x="2149592" y="-14686061"/>
            <a:ext cx="15188328" cy="21149016"/>
          </a:xfrm>
          <a:custGeom>
            <a:avLst/>
            <a:gdLst/>
            <a:ahLst/>
            <a:cxnLst/>
            <a:rect l="l" t="t" r="r" b="b"/>
            <a:pathLst>
              <a:path w="15188328" h="21149016">
                <a:moveTo>
                  <a:pt x="0" y="0"/>
                </a:moveTo>
                <a:lnTo>
                  <a:pt x="15188328" y="0"/>
                </a:lnTo>
                <a:lnTo>
                  <a:pt x="15188328" y="21149016"/>
                </a:lnTo>
                <a:lnTo>
                  <a:pt x="0" y="21149016"/>
                </a:lnTo>
                <a:lnTo>
                  <a:pt x="0" y="0"/>
                </a:lnTo>
                <a:close/>
              </a:path>
            </a:pathLst>
          </a:custGeom>
          <a:blipFill>
            <a:blip r:embed="rId1"/>
            <a:stretch>
              <a:fillRect t="-2802" b="-7683"/>
            </a:stretch>
          </a:blipFill>
        </p:spPr>
      </p:sp>
      <p:sp>
        <p:nvSpPr>
          <p:cNvPr id="3" name="Freeform 3"/>
          <p:cNvSpPr/>
          <p:nvPr/>
        </p:nvSpPr>
        <p:spPr>
          <a:xfrm>
            <a:off x="12172445" y="3730261"/>
            <a:ext cx="4419107" cy="5042549"/>
          </a:xfrm>
          <a:custGeom>
            <a:avLst/>
            <a:gdLst/>
            <a:ahLst/>
            <a:cxnLst/>
            <a:rect l="l" t="t" r="r" b="b"/>
            <a:pathLst>
              <a:path w="4419107" h="5042549">
                <a:moveTo>
                  <a:pt x="0" y="0"/>
                </a:moveTo>
                <a:lnTo>
                  <a:pt x="4419107" y="0"/>
                </a:lnTo>
                <a:lnTo>
                  <a:pt x="4419107" y="5042549"/>
                </a:lnTo>
                <a:lnTo>
                  <a:pt x="0" y="5042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14168" y="180975"/>
            <a:ext cx="13659664" cy="1695450"/>
          </a:xfrm>
          <a:prstGeom prst="rect">
            <a:avLst/>
          </a:prstGeom>
        </p:spPr>
        <p:txBody>
          <a:bodyPr lIns="0" tIns="0" rIns="0" bIns="0" rtlCol="0" anchor="t">
            <a:spAutoFit/>
          </a:bodyPr>
          <a:lstStyle/>
          <a:p>
            <a:pPr algn="ctr">
              <a:lnSpc>
                <a:spcPts val="6720"/>
              </a:lnSpc>
            </a:pPr>
            <a:r>
              <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填写问卷人的专业 * 向他人推荐瑞幸的主要原因交叉分析</a:t>
            </a:r>
            <a:endParaRPr lang="en-US" sz="5600" b="1">
              <a:solidFill>
                <a:srgbClr val="66493A"/>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110725" y="7523830"/>
            <a:ext cx="10271767" cy="13531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有68.8%的理工科同学主要因性价比高向他人推荐瑞幸，这说明比起其他专业，理工科专业同学更有可能因为性价比而推荐瑞幸产品。</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6" name="TextBox 6"/>
          <p:cNvSpPr txBox="1"/>
          <p:nvPr/>
        </p:nvSpPr>
        <p:spPr>
          <a:xfrm>
            <a:off x="722911" y="4369428"/>
            <a:ext cx="9703001" cy="2267585"/>
          </a:xfrm>
          <a:prstGeom prst="rect">
            <a:avLst/>
          </a:prstGeom>
        </p:spPr>
        <p:txBody>
          <a:bodyPr lIns="0" tIns="0" rIns="0" bIns="0" rtlCol="0" anchor="t">
            <a:spAutoFit/>
          </a:bodyPr>
          <a:lstStyle/>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H0：不同专业向他人推荐瑞幸的主要原因没有显著性差异。</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H1: 不同专业向他人推荐瑞幸的主要原因有显著性差异。</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P🟰0.379 &gt;0.025，所以不同专业向他人推荐瑞幸的主要原因没有显著性差异。</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3640"/>
              </a:lnSpc>
            </a:pPr>
          </a:p>
        </p:txBody>
      </p:sp>
      <p:sp>
        <p:nvSpPr>
          <p:cNvPr id="7" name="TextBox 7"/>
          <p:cNvSpPr txBox="1"/>
          <p:nvPr/>
        </p:nvSpPr>
        <p:spPr>
          <a:xfrm>
            <a:off x="1028700" y="6628480"/>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分析：</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1028700" y="3473086"/>
            <a:ext cx="5217909" cy="695325"/>
          </a:xfrm>
          <a:prstGeom prst="rect">
            <a:avLst/>
          </a:prstGeom>
        </p:spPr>
        <p:txBody>
          <a:bodyPr lIns="0" tIns="0" rIns="0" bIns="0" rtlCol="0" anchor="t">
            <a:spAutoFit/>
          </a:bodyPr>
          <a:lstStyle/>
          <a:p>
            <a:pPr algn="l">
              <a:lnSpc>
                <a:spcPts val="5400"/>
              </a:lnSpc>
            </a:pPr>
            <a:r>
              <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检验：</a:t>
            </a:r>
            <a:endParaRPr lang="en-US" sz="4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TextBox 2"/>
          <p:cNvSpPr txBox="1"/>
          <p:nvPr/>
        </p:nvSpPr>
        <p:spPr>
          <a:xfrm>
            <a:off x="6452405" y="6910343"/>
            <a:ext cx="5383191" cy="1090295"/>
          </a:xfrm>
          <a:prstGeom prst="rect">
            <a:avLst/>
          </a:prstGeom>
        </p:spPr>
        <p:txBody>
          <a:bodyPr lIns="0" tIns="0" rIns="0" bIns="0" rtlCol="0" anchor="t">
            <a:spAutoFit/>
          </a:bodyPr>
          <a:lstStyle/>
          <a:p>
            <a:pPr algn="ctr">
              <a:lnSpc>
                <a:spcPts val="4480"/>
              </a:lnSpc>
              <a:spcBef>
                <a:spcPct val="0"/>
              </a:spcBef>
            </a:pPr>
            <a:r>
              <a:rPr lang="en-US" sz="3200" spc="316">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XIANGGUAN YINGXIAO JIANYI</a:t>
            </a:r>
            <a:endParaRPr lang="en-US" sz="3200" spc="316">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3" name="Freeform 3"/>
          <p:cNvSpPr/>
          <p:nvPr/>
        </p:nvSpPr>
        <p:spPr>
          <a:xfrm rot="412827" flipH="1">
            <a:off x="10643255" y="3442731"/>
            <a:ext cx="9636813" cy="9600675"/>
          </a:xfrm>
          <a:custGeom>
            <a:avLst/>
            <a:gdLst/>
            <a:ahLst/>
            <a:cxnLst/>
            <a:rect l="l" t="t" r="r" b="b"/>
            <a:pathLst>
              <a:path w="9636813" h="9600675">
                <a:moveTo>
                  <a:pt x="9636813" y="0"/>
                </a:moveTo>
                <a:lnTo>
                  <a:pt x="0" y="0"/>
                </a:lnTo>
                <a:lnTo>
                  <a:pt x="0" y="9600675"/>
                </a:lnTo>
                <a:lnTo>
                  <a:pt x="9636813" y="9600675"/>
                </a:lnTo>
                <a:lnTo>
                  <a:pt x="9636813"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4" name="Freeform 4"/>
          <p:cNvSpPr/>
          <p:nvPr/>
        </p:nvSpPr>
        <p:spPr>
          <a:xfrm rot="865169" flipH="1">
            <a:off x="-1120441" y="359431"/>
            <a:ext cx="4298281" cy="4282163"/>
          </a:xfrm>
          <a:custGeom>
            <a:avLst/>
            <a:gdLst/>
            <a:ahLst/>
            <a:cxnLst/>
            <a:rect l="l" t="t" r="r" b="b"/>
            <a:pathLst>
              <a:path w="4298281" h="4282163">
                <a:moveTo>
                  <a:pt x="4298282" y="0"/>
                </a:moveTo>
                <a:lnTo>
                  <a:pt x="0" y="0"/>
                </a:lnTo>
                <a:lnTo>
                  <a:pt x="0" y="4282162"/>
                </a:lnTo>
                <a:lnTo>
                  <a:pt x="4298282" y="4282162"/>
                </a:lnTo>
                <a:lnTo>
                  <a:pt x="4298282" y="0"/>
                </a:lnTo>
                <a:close/>
              </a:path>
            </a:pathLst>
          </a:custGeom>
          <a:blipFill>
            <a:blip r:embed="rId1">
              <a:alphaModFix amt="19999"/>
              <a:extLst>
                <a:ext uri="{96DAC541-7B7A-43D3-8B79-37D633B846F1}">
                  <asvg:svgBlip xmlns:asvg="http://schemas.microsoft.com/office/drawing/2016/SVG/main" r:embed="rId2"/>
                </a:ext>
              </a:extLst>
            </a:blip>
            <a:stretch>
              <a:fillRect/>
            </a:stretch>
          </a:blipFill>
        </p:spPr>
      </p:sp>
      <p:sp>
        <p:nvSpPr>
          <p:cNvPr id="5" name="Freeform 5"/>
          <p:cNvSpPr/>
          <p:nvPr/>
        </p:nvSpPr>
        <p:spPr>
          <a:xfrm rot="-104369" flipH="1">
            <a:off x="2775017" y="3850293"/>
            <a:ext cx="16293341" cy="2518062"/>
          </a:xfrm>
          <a:custGeom>
            <a:avLst/>
            <a:gdLst/>
            <a:ahLst/>
            <a:cxnLst/>
            <a:rect l="l" t="t" r="r" b="b"/>
            <a:pathLst>
              <a:path w="16293341" h="2518062">
                <a:moveTo>
                  <a:pt x="16293340" y="0"/>
                </a:moveTo>
                <a:lnTo>
                  <a:pt x="0" y="0"/>
                </a:lnTo>
                <a:lnTo>
                  <a:pt x="0" y="2518062"/>
                </a:lnTo>
                <a:lnTo>
                  <a:pt x="16293340" y="2518062"/>
                </a:lnTo>
                <a:lnTo>
                  <a:pt x="1629334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575423" y="4796025"/>
            <a:ext cx="9137154" cy="1381125"/>
          </a:xfrm>
          <a:prstGeom prst="rect">
            <a:avLst/>
          </a:prstGeom>
        </p:spPr>
        <p:txBody>
          <a:bodyPr lIns="0" tIns="0" rIns="0" bIns="0" rtlCol="0" anchor="t">
            <a:spAutoFit/>
          </a:bodyPr>
          <a:lstStyle/>
          <a:p>
            <a:pPr algn="ctr">
              <a:lnSpc>
                <a:spcPts val="10800"/>
              </a:lnSpc>
            </a:pPr>
            <a:r>
              <a:rPr lang="en-US" sz="9000" b="1">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相关营销建议</a:t>
            </a:r>
            <a:endParaRPr lang="en-US" sz="9000" b="1">
              <a:solidFill>
                <a:srgbClr val="8F695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7" name="TextBox 7"/>
          <p:cNvSpPr txBox="1"/>
          <p:nvPr/>
        </p:nvSpPr>
        <p:spPr>
          <a:xfrm>
            <a:off x="6452405" y="2276837"/>
            <a:ext cx="5383191" cy="2038350"/>
          </a:xfrm>
          <a:prstGeom prst="rect">
            <a:avLst/>
          </a:prstGeom>
        </p:spPr>
        <p:txBody>
          <a:bodyPr lIns="0" tIns="0" rIns="0" bIns="0" rtlCol="0" anchor="t">
            <a:spAutoFit/>
          </a:bodyPr>
          <a:lstStyle/>
          <a:p>
            <a:pPr algn="ctr">
              <a:lnSpc>
                <a:spcPts val="16025"/>
              </a:lnSpc>
              <a:spcBef>
                <a:spcPct val="0"/>
              </a:spcBef>
            </a:pPr>
            <a:r>
              <a:rPr lang="en-US" sz="13355" b="1" i="1" spc="881">
                <a:solidFill>
                  <a:srgbClr val="FFFFFF"/>
                </a:solidFill>
                <a:latin typeface="Aileron Bold Italics" panose="00000800000000000000"/>
                <a:ea typeface="Aileron Bold Italics" panose="00000800000000000000"/>
                <a:cs typeface="Aileron Bold Italics" panose="00000800000000000000"/>
                <a:sym typeface="Aileron Bold Italics" panose="00000800000000000000"/>
              </a:rPr>
              <a:t>03</a:t>
            </a:r>
            <a:endParaRPr lang="en-US" sz="13355" b="1" i="1" spc="881">
              <a:solidFill>
                <a:srgbClr val="FFFFFF"/>
              </a:solidFill>
              <a:latin typeface="Aileron Bold Italics" panose="00000800000000000000"/>
              <a:ea typeface="Aileron Bold Italics" panose="00000800000000000000"/>
              <a:cs typeface="Aileron Bold Italics" panose="00000800000000000000"/>
              <a:sym typeface="Aileron Bold Italics" panose="00000800000000000000"/>
            </a:endParaRPr>
          </a:p>
        </p:txBody>
      </p:sp>
      <p:sp>
        <p:nvSpPr>
          <p:cNvPr id="8" name="Freeform 8"/>
          <p:cNvSpPr/>
          <p:nvPr/>
        </p:nvSpPr>
        <p:spPr>
          <a:xfrm rot="-3768068">
            <a:off x="16540840" y="-12493327"/>
            <a:ext cx="14988201" cy="21149016"/>
          </a:xfrm>
          <a:custGeom>
            <a:avLst/>
            <a:gdLst/>
            <a:ahLst/>
            <a:cxnLst/>
            <a:rect l="l" t="t" r="r" b="b"/>
            <a:pathLst>
              <a:path w="14988201" h="21149016">
                <a:moveTo>
                  <a:pt x="0" y="0"/>
                </a:moveTo>
                <a:lnTo>
                  <a:pt x="14988201" y="0"/>
                </a:lnTo>
                <a:lnTo>
                  <a:pt x="14988201" y="21149016"/>
                </a:lnTo>
                <a:lnTo>
                  <a:pt x="0" y="21149016"/>
                </a:lnTo>
                <a:lnTo>
                  <a:pt x="0" y="0"/>
                </a:lnTo>
                <a:close/>
              </a:path>
            </a:pathLst>
          </a:custGeom>
          <a:blipFill>
            <a:blip r:embed="rId5"/>
            <a:stretch>
              <a:fillRect t="-2106" b="-6923"/>
            </a:stretch>
          </a:blipFill>
        </p:spPr>
      </p:sp>
      <p:sp>
        <p:nvSpPr>
          <p:cNvPr id="9" name="Freeform 9"/>
          <p:cNvSpPr/>
          <p:nvPr/>
        </p:nvSpPr>
        <p:spPr>
          <a:xfrm rot="7219960">
            <a:off x="-4976749" y="5993206"/>
            <a:ext cx="14988201" cy="21149016"/>
          </a:xfrm>
          <a:custGeom>
            <a:avLst/>
            <a:gdLst/>
            <a:ahLst/>
            <a:cxnLst/>
            <a:rect l="l" t="t" r="r" b="b"/>
            <a:pathLst>
              <a:path w="14988201" h="21149016">
                <a:moveTo>
                  <a:pt x="0" y="0"/>
                </a:moveTo>
                <a:lnTo>
                  <a:pt x="14988200" y="0"/>
                </a:lnTo>
                <a:lnTo>
                  <a:pt x="14988200" y="21149016"/>
                </a:lnTo>
                <a:lnTo>
                  <a:pt x="0" y="21149016"/>
                </a:lnTo>
                <a:lnTo>
                  <a:pt x="0" y="0"/>
                </a:lnTo>
                <a:close/>
              </a:path>
            </a:pathLst>
          </a:custGeom>
          <a:blipFill>
            <a:blip r:embed="rId5"/>
            <a:stretch>
              <a:fillRect t="-2106" b="-6923"/>
            </a:stretch>
          </a:blipFill>
        </p:spPr>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TextBox 2"/>
          <p:cNvSpPr txBox="1"/>
          <p:nvPr/>
        </p:nvSpPr>
        <p:spPr>
          <a:xfrm>
            <a:off x="1415439" y="2318707"/>
            <a:ext cx="16422936" cy="3476624"/>
          </a:xfrm>
          <a:prstGeom prst="rect">
            <a:avLst/>
          </a:prstGeom>
        </p:spPr>
        <p:txBody>
          <a:bodyPr lIns="0" tIns="0" rIns="0" bIns="0" rtlCol="0" anchor="t">
            <a:spAutoFit/>
          </a:bodyPr>
          <a:lstStyle/>
          <a:p>
            <a:pPr marL="712470" lvl="1" indent="-356235" algn="l">
              <a:lnSpc>
                <a:spcPts val="5610"/>
              </a:lnSpc>
              <a:buAutoNum type="arabicPeriod"/>
            </a:pPr>
            <a:r>
              <a:rPr lang="en-US" sz="3300" b="1" spc="49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打造设计特色广告宣传栏，在与联名IP/活动主题相呼应的同时，强调用户的评价等（男生）；</a:t>
            </a:r>
            <a:endParaRPr lang="en-US" sz="3300" b="1" spc="49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5610"/>
              </a:lnSpc>
              <a:buAutoNum type="arabicPeriod"/>
            </a:pPr>
            <a:r>
              <a:rPr lang="en-US" sz="3300" b="1" spc="49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在醒目处标写活动，店铺位置也设立在沿途醒目处/设立指引牌（女生）；</a:t>
            </a:r>
            <a:endParaRPr lang="en-US" sz="3300" b="1" spc="49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5610"/>
              </a:lnSpc>
              <a:buAutoNum type="arabicPeriod"/>
            </a:pPr>
            <a:r>
              <a:rPr lang="en-US" sz="3300" b="1" spc="49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增加大型海报、电子展屏等在户外人流密集处的宣传点；</a:t>
            </a:r>
            <a:endParaRPr lang="en-US" sz="3300" b="1" spc="49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5610"/>
              </a:lnSpc>
              <a:buAutoNum type="arabicPeriod"/>
            </a:pPr>
            <a:r>
              <a:rPr lang="en-US" sz="3300" b="1" spc="49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打造舒适的门面氛围，减少海报等在正门的遮挡，吸引路过同学进入</a:t>
            </a:r>
            <a:endParaRPr lang="en-US" sz="3300" b="1" spc="49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3" name="TextBox 3"/>
          <p:cNvSpPr txBox="1"/>
          <p:nvPr/>
        </p:nvSpPr>
        <p:spPr>
          <a:xfrm>
            <a:off x="1630715" y="693222"/>
            <a:ext cx="8093035" cy="1219200"/>
          </a:xfrm>
          <a:prstGeom prst="rect">
            <a:avLst/>
          </a:prstGeom>
        </p:spPr>
        <p:txBody>
          <a:bodyPr lIns="0" tIns="0" rIns="0" bIns="0" rtlCol="0" anchor="t">
            <a:spAutoFit/>
          </a:bodyPr>
          <a:lstStyle/>
          <a:p>
            <a:pPr algn="l">
              <a:lnSpc>
                <a:spcPts val="9600"/>
              </a:lnSpc>
            </a:pPr>
            <a:r>
              <a:rPr lang="en-US" sz="8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进店</a:t>
            </a:r>
            <a:endParaRPr lang="en-US" sz="8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4" name="Freeform 4"/>
          <p:cNvSpPr/>
          <p:nvPr/>
        </p:nvSpPr>
        <p:spPr>
          <a:xfrm rot="-3768068">
            <a:off x="16573542" y="-12519486"/>
            <a:ext cx="14988201" cy="21149016"/>
          </a:xfrm>
          <a:custGeom>
            <a:avLst/>
            <a:gdLst/>
            <a:ahLst/>
            <a:cxnLst/>
            <a:rect l="l" t="t" r="r" b="b"/>
            <a:pathLst>
              <a:path w="14988201" h="21149016">
                <a:moveTo>
                  <a:pt x="0" y="0"/>
                </a:moveTo>
                <a:lnTo>
                  <a:pt x="14988201" y="0"/>
                </a:lnTo>
                <a:lnTo>
                  <a:pt x="14988201" y="21149016"/>
                </a:lnTo>
                <a:lnTo>
                  <a:pt x="0" y="21149016"/>
                </a:lnTo>
                <a:lnTo>
                  <a:pt x="0" y="0"/>
                </a:lnTo>
                <a:close/>
              </a:path>
            </a:pathLst>
          </a:custGeom>
          <a:blipFill>
            <a:blip r:embed="rId1"/>
            <a:stretch>
              <a:fillRect t="-2106" b="-6923"/>
            </a:stretch>
          </a:blipFill>
        </p:spPr>
      </p:sp>
      <p:sp>
        <p:nvSpPr>
          <p:cNvPr id="5" name="Freeform 5"/>
          <p:cNvSpPr/>
          <p:nvPr/>
        </p:nvSpPr>
        <p:spPr>
          <a:xfrm rot="7219960">
            <a:off x="-4944047" y="5967047"/>
            <a:ext cx="14988201" cy="21149016"/>
          </a:xfrm>
          <a:custGeom>
            <a:avLst/>
            <a:gdLst/>
            <a:ahLst/>
            <a:cxnLst/>
            <a:rect l="l" t="t" r="r" b="b"/>
            <a:pathLst>
              <a:path w="14988201" h="21149016">
                <a:moveTo>
                  <a:pt x="0" y="0"/>
                </a:moveTo>
                <a:lnTo>
                  <a:pt x="14988200" y="0"/>
                </a:lnTo>
                <a:lnTo>
                  <a:pt x="14988200" y="21149016"/>
                </a:lnTo>
                <a:lnTo>
                  <a:pt x="0" y="21149016"/>
                </a:lnTo>
                <a:lnTo>
                  <a:pt x="0" y="0"/>
                </a:lnTo>
                <a:close/>
              </a:path>
            </a:pathLst>
          </a:custGeom>
          <a:blipFill>
            <a:blip r:embed="rId1"/>
            <a:stretch>
              <a:fillRect t="-2106" b="-6923"/>
            </a:stretch>
          </a:blipFill>
        </p:spPr>
      </p:sp>
      <p:grpSp>
        <p:nvGrpSpPr>
          <p:cNvPr id="6" name="Group 6"/>
          <p:cNvGrpSpPr/>
          <p:nvPr/>
        </p:nvGrpSpPr>
        <p:grpSpPr>
          <a:xfrm rot="0">
            <a:off x="13312571" y="5997903"/>
            <a:ext cx="3428779" cy="3382271"/>
            <a:chOff x="0" y="0"/>
            <a:chExt cx="6437316" cy="6350000"/>
          </a:xfrm>
        </p:grpSpPr>
        <p:sp>
          <p:nvSpPr>
            <p:cNvPr id="7" name="Freeform 7"/>
            <p:cNvSpPr/>
            <p:nvPr/>
          </p:nvSpPr>
          <p:spPr>
            <a:xfrm>
              <a:off x="0" y="0"/>
              <a:ext cx="6437316" cy="6350000"/>
            </a:xfrm>
            <a:custGeom>
              <a:avLst/>
              <a:gdLst/>
              <a:ahLst/>
              <a:cxnLst/>
              <a:rect l="l" t="t" r="r" b="b"/>
              <a:pathLst>
                <a:path w="6437316" h="6350000">
                  <a:moveTo>
                    <a:pt x="3218658" y="0"/>
                  </a:moveTo>
                  <a:cubicBezTo>
                    <a:pt x="1441042" y="0"/>
                    <a:pt x="0" y="1421496"/>
                    <a:pt x="0" y="3175000"/>
                  </a:cubicBezTo>
                  <a:cubicBezTo>
                    <a:pt x="0" y="4928504"/>
                    <a:pt x="1441042" y="6350000"/>
                    <a:pt x="3218658" y="6350000"/>
                  </a:cubicBezTo>
                  <a:cubicBezTo>
                    <a:pt x="4996274" y="6350000"/>
                    <a:pt x="6437316" y="4928504"/>
                    <a:pt x="6437316" y="3175000"/>
                  </a:cubicBezTo>
                  <a:cubicBezTo>
                    <a:pt x="6437316" y="1421496"/>
                    <a:pt x="4996274" y="0"/>
                    <a:pt x="3218658" y="0"/>
                  </a:cubicBezTo>
                  <a:close/>
                </a:path>
              </a:pathLst>
            </a:custGeom>
            <a:solidFill>
              <a:srgbClr val="66493A"/>
            </a:solidFill>
          </p:spPr>
        </p:sp>
      </p:grpSp>
      <p:sp>
        <p:nvSpPr>
          <p:cNvPr id="8" name="TextBox 8"/>
          <p:cNvSpPr txBox="1"/>
          <p:nvPr/>
        </p:nvSpPr>
        <p:spPr>
          <a:xfrm>
            <a:off x="13628596" y="6943846"/>
            <a:ext cx="2796730" cy="1799583"/>
          </a:xfrm>
          <a:prstGeom prst="rect">
            <a:avLst/>
          </a:prstGeom>
        </p:spPr>
        <p:txBody>
          <a:bodyPr lIns="0" tIns="0" rIns="0" bIns="0" rtlCol="0" anchor="t">
            <a:spAutoFit/>
          </a:bodyPr>
          <a:lstStyle/>
          <a:p>
            <a:pPr algn="ctr">
              <a:lnSpc>
                <a:spcPts val="2835"/>
              </a:lnSpc>
              <a:spcBef>
                <a:spcPct val="0"/>
              </a:spcBef>
            </a:pPr>
            <a:r>
              <a:rPr lang="en-US" sz="23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女性似乎更可能因为门店的地理位置和优惠而进店，而男性则更多是因为朋友推荐和广告吸引</a:t>
            </a:r>
            <a:endParaRPr lang="en-US" sz="236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9" name="Group 9"/>
          <p:cNvGrpSpPr/>
          <p:nvPr/>
        </p:nvGrpSpPr>
        <p:grpSpPr>
          <a:xfrm rot="0">
            <a:off x="9144000" y="6047665"/>
            <a:ext cx="3282746" cy="3282746"/>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493A"/>
            </a:solidFill>
          </p:spPr>
        </p:sp>
      </p:grpSp>
      <p:sp>
        <p:nvSpPr>
          <p:cNvPr id="11" name="TextBox 11"/>
          <p:cNvSpPr txBox="1"/>
          <p:nvPr/>
        </p:nvSpPr>
        <p:spPr>
          <a:xfrm>
            <a:off x="9626907" y="6783054"/>
            <a:ext cx="2316932" cy="1856535"/>
          </a:xfrm>
          <a:prstGeom prst="rect">
            <a:avLst/>
          </a:prstGeom>
        </p:spPr>
        <p:txBody>
          <a:bodyPr lIns="0" tIns="0" rIns="0" bIns="0" rtlCol="0" anchor="t">
            <a:spAutoFit/>
          </a:bodyPr>
          <a:lstStyle/>
          <a:p>
            <a:pPr algn="ctr">
              <a:lnSpc>
                <a:spcPts val="3720"/>
              </a:lnSpc>
              <a:spcBef>
                <a:spcPct val="0"/>
              </a:spcBef>
            </a:pPr>
            <a:r>
              <a:rPr lang="en-US" sz="266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与其他专业同学相比，理工科同学更不赞同瑞幸的口感</a:t>
            </a:r>
            <a:endParaRPr lang="en-US" sz="266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12" name="Group 12"/>
          <p:cNvGrpSpPr/>
          <p:nvPr/>
        </p:nvGrpSpPr>
        <p:grpSpPr>
          <a:xfrm rot="0">
            <a:off x="4975429" y="6047665"/>
            <a:ext cx="3282746" cy="3282746"/>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493A"/>
            </a:solidFill>
          </p:spPr>
        </p:sp>
      </p:grpSp>
      <p:sp>
        <p:nvSpPr>
          <p:cNvPr id="14" name="TextBox 14"/>
          <p:cNvSpPr txBox="1"/>
          <p:nvPr/>
        </p:nvSpPr>
        <p:spPr>
          <a:xfrm>
            <a:off x="5280247" y="6896221"/>
            <a:ext cx="2673111" cy="1810385"/>
          </a:xfrm>
          <a:prstGeom prst="rect">
            <a:avLst/>
          </a:prstGeom>
        </p:spPr>
        <p:txBody>
          <a:bodyPr lIns="0" tIns="0" rIns="0" bIns="0" rtlCol="0" anchor="t">
            <a:spAutoFit/>
          </a:bodyPr>
          <a:lstStyle/>
          <a:p>
            <a:pPr algn="ctr">
              <a:lnSpc>
                <a:spcPts val="3640"/>
              </a:lnSpc>
              <a:spcBef>
                <a:spcPct val="0"/>
              </a:spcBef>
            </a:pPr>
            <a:r>
              <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消费者获取咖啡店信息的主要来源集中在官方宣传与社交媒体</a:t>
            </a:r>
            <a:endParaRPr lang="en-US" sz="2600" b="1" spc="3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3768068">
            <a:off x="16573542" y="-12519486"/>
            <a:ext cx="14988201" cy="21149016"/>
          </a:xfrm>
          <a:custGeom>
            <a:avLst/>
            <a:gdLst/>
            <a:ahLst/>
            <a:cxnLst/>
            <a:rect l="l" t="t" r="r" b="b"/>
            <a:pathLst>
              <a:path w="14988201" h="21149016">
                <a:moveTo>
                  <a:pt x="0" y="0"/>
                </a:moveTo>
                <a:lnTo>
                  <a:pt x="14988201" y="0"/>
                </a:lnTo>
                <a:lnTo>
                  <a:pt x="14988201" y="21149016"/>
                </a:lnTo>
                <a:lnTo>
                  <a:pt x="0" y="21149016"/>
                </a:lnTo>
                <a:lnTo>
                  <a:pt x="0" y="0"/>
                </a:lnTo>
                <a:close/>
              </a:path>
            </a:pathLst>
          </a:custGeom>
          <a:blipFill>
            <a:blip r:embed="rId1"/>
            <a:stretch>
              <a:fillRect t="-2106" b="-6923"/>
            </a:stretch>
          </a:blipFill>
        </p:spPr>
      </p:sp>
      <p:sp>
        <p:nvSpPr>
          <p:cNvPr id="3" name="Freeform 3"/>
          <p:cNvSpPr/>
          <p:nvPr/>
        </p:nvSpPr>
        <p:spPr>
          <a:xfrm rot="7219960">
            <a:off x="-4944047" y="5967047"/>
            <a:ext cx="14988201" cy="21149016"/>
          </a:xfrm>
          <a:custGeom>
            <a:avLst/>
            <a:gdLst/>
            <a:ahLst/>
            <a:cxnLst/>
            <a:rect l="l" t="t" r="r" b="b"/>
            <a:pathLst>
              <a:path w="14988201" h="21149016">
                <a:moveTo>
                  <a:pt x="0" y="0"/>
                </a:moveTo>
                <a:lnTo>
                  <a:pt x="14988200" y="0"/>
                </a:lnTo>
                <a:lnTo>
                  <a:pt x="14988200" y="21149016"/>
                </a:lnTo>
                <a:lnTo>
                  <a:pt x="0" y="21149016"/>
                </a:lnTo>
                <a:lnTo>
                  <a:pt x="0" y="0"/>
                </a:lnTo>
                <a:close/>
              </a:path>
            </a:pathLst>
          </a:custGeom>
          <a:blipFill>
            <a:blip r:embed="rId1"/>
            <a:stretch>
              <a:fillRect t="-2106" b="-6923"/>
            </a:stretch>
          </a:blipFill>
        </p:spPr>
      </p:sp>
      <p:sp>
        <p:nvSpPr>
          <p:cNvPr id="4" name="TextBox 4"/>
          <p:cNvSpPr txBox="1"/>
          <p:nvPr/>
        </p:nvSpPr>
        <p:spPr>
          <a:xfrm>
            <a:off x="1028700" y="2042038"/>
            <a:ext cx="14757830" cy="4559807"/>
          </a:xfrm>
          <a:prstGeom prst="rect">
            <a:avLst/>
          </a:prstGeom>
        </p:spPr>
        <p:txBody>
          <a:bodyPr lIns="0" tIns="0" rIns="0" bIns="0" rtlCol="0" anchor="t">
            <a:spAutoFit/>
          </a:bodyPr>
          <a:lstStyle/>
          <a:p>
            <a:pPr marL="712470" lvl="1" indent="-356235" algn="l">
              <a:lnSpc>
                <a:spcPts val="5180"/>
              </a:lnSpc>
              <a:buAutoNum type="arabicPeriod"/>
            </a:pPr>
            <a:r>
              <a:rPr lang="en-US" sz="3300" b="1" spc="6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口味的研发、应季产品的推出迭代要及时，并加强店员在口味推荐、周边赠送等服务意识的培训（女生）；</a:t>
            </a:r>
            <a:endParaRPr lang="en-US" sz="3300" b="1" spc="6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5180"/>
              </a:lnSpc>
              <a:buAutoNum type="arabicPeriod"/>
            </a:pPr>
            <a:r>
              <a:rPr lang="en-US" sz="3300" b="1" spc="6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在菜单产品单旁标注/强调出餐速度，强调品牌节约顾客时间成本能力（男生）；</a:t>
            </a:r>
            <a:endParaRPr lang="en-US" sz="3300" b="1" spc="6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5180"/>
              </a:lnSpc>
              <a:buAutoNum type="arabicPeriod"/>
            </a:pPr>
            <a:r>
              <a:rPr lang="en-US" sz="3300" b="1" spc="6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设置现实折扣、第二杯半价等活动； </a:t>
            </a:r>
            <a:endParaRPr lang="en-US" sz="3300" b="1" spc="6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5180"/>
              </a:lnSpc>
              <a:buAutoNum type="arabicPeriod"/>
            </a:pPr>
            <a:r>
              <a:rPr lang="en-US" sz="3300" b="1" spc="6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培训员工根据顾客口味偏好、天气因素等精准推荐产品的能力； </a:t>
            </a:r>
            <a:endParaRPr lang="en-US" sz="3300" b="1" spc="6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5180"/>
              </a:lnSpc>
              <a:buAutoNum type="arabicPeriod"/>
            </a:pPr>
            <a:r>
              <a:rPr lang="en-US" sz="3300" b="1" spc="6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设计组合套餐，吸引价格敏感的顾客浏览品类</a:t>
            </a:r>
            <a:endParaRPr lang="en-US" sz="3300" b="1" spc="6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028700" y="419100"/>
            <a:ext cx="9840578" cy="1219200"/>
          </a:xfrm>
          <a:prstGeom prst="rect">
            <a:avLst/>
          </a:prstGeom>
        </p:spPr>
        <p:txBody>
          <a:bodyPr lIns="0" tIns="0" rIns="0" bIns="0" rtlCol="0" anchor="t">
            <a:spAutoFit/>
          </a:bodyPr>
          <a:lstStyle/>
          <a:p>
            <a:pPr algn="l">
              <a:lnSpc>
                <a:spcPts val="9600"/>
              </a:lnSpc>
            </a:pPr>
            <a:r>
              <a:rPr lang="en-US" sz="8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转化</a:t>
            </a:r>
            <a:endParaRPr lang="en-US" sz="8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6" name="Group 6"/>
          <p:cNvGrpSpPr/>
          <p:nvPr/>
        </p:nvGrpSpPr>
        <p:grpSpPr>
          <a:xfrm rot="0">
            <a:off x="13884554" y="6790448"/>
            <a:ext cx="3212605" cy="3212605"/>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493A"/>
            </a:solidFill>
          </p:spPr>
        </p:sp>
      </p:grpSp>
      <p:sp>
        <p:nvSpPr>
          <p:cNvPr id="8" name="TextBox 8"/>
          <p:cNvSpPr txBox="1"/>
          <p:nvPr/>
        </p:nvSpPr>
        <p:spPr>
          <a:xfrm>
            <a:off x="14357882" y="7541335"/>
            <a:ext cx="2265948" cy="1905000"/>
          </a:xfrm>
          <a:prstGeom prst="rect">
            <a:avLst/>
          </a:prstGeom>
        </p:spPr>
        <p:txBody>
          <a:bodyPr lIns="0" tIns="0" rIns="0" bIns="0" rtlCol="0" anchor="t">
            <a:spAutoFit/>
          </a:bodyPr>
          <a:lstStyle/>
          <a:p>
            <a:pPr algn="ctr">
              <a:lnSpc>
                <a:spcPts val="3005"/>
              </a:lnSpc>
              <a:spcBef>
                <a:spcPct val="0"/>
              </a:spcBef>
            </a:pPr>
            <a:r>
              <a:rPr lang="en-US" sz="2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性价比是男性和女性共同关注的重点，但女性对新口味的关注度高于男性。</a:t>
            </a:r>
            <a:endParaRPr lang="en-US" sz="2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9" name="Group 9"/>
          <p:cNvGrpSpPr/>
          <p:nvPr/>
        </p:nvGrpSpPr>
        <p:grpSpPr>
          <a:xfrm rot="0">
            <a:off x="5490885" y="6765962"/>
            <a:ext cx="3237091" cy="3237091"/>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493A"/>
            </a:solidFill>
          </p:spPr>
        </p:sp>
      </p:grpSp>
      <p:sp>
        <p:nvSpPr>
          <p:cNvPr id="11" name="TextBox 11"/>
          <p:cNvSpPr txBox="1"/>
          <p:nvPr/>
        </p:nvSpPr>
        <p:spPr>
          <a:xfrm>
            <a:off x="5891759" y="7604150"/>
            <a:ext cx="2435344" cy="1842186"/>
          </a:xfrm>
          <a:prstGeom prst="rect">
            <a:avLst/>
          </a:prstGeom>
        </p:spPr>
        <p:txBody>
          <a:bodyPr lIns="0" tIns="0" rIns="0" bIns="0" rtlCol="0" anchor="t">
            <a:spAutoFit/>
          </a:bodyPr>
          <a:lstStyle/>
          <a:p>
            <a:pPr algn="ctr">
              <a:lnSpc>
                <a:spcPts val="2935"/>
              </a:lnSpc>
              <a:spcBef>
                <a:spcPct val="0"/>
              </a:spcBef>
            </a:pPr>
            <a:r>
              <a:rPr lang="en-US" sz="2100" b="1" spc="25">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商科学生可能更倾向于认为店员作为专业人士，对产品的了解和推荐具有一定的专业性和可信度</a:t>
            </a:r>
            <a:endParaRPr lang="en-US" sz="2100" b="1" spc="25">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12" name="Group 12"/>
          <p:cNvGrpSpPr/>
          <p:nvPr/>
        </p:nvGrpSpPr>
        <p:grpSpPr>
          <a:xfrm rot="0">
            <a:off x="9699526" y="6790448"/>
            <a:ext cx="3212605" cy="3212605"/>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493A"/>
            </a:solidFill>
          </p:spPr>
        </p:sp>
      </p:grpSp>
      <p:sp>
        <p:nvSpPr>
          <p:cNvPr id="14" name="TextBox 14"/>
          <p:cNvSpPr txBox="1"/>
          <p:nvPr/>
        </p:nvSpPr>
        <p:spPr>
          <a:xfrm>
            <a:off x="9988256" y="7711469"/>
            <a:ext cx="2636018" cy="1627548"/>
          </a:xfrm>
          <a:prstGeom prst="rect">
            <a:avLst/>
          </a:prstGeom>
        </p:spPr>
        <p:txBody>
          <a:bodyPr lIns="0" tIns="0" rIns="0" bIns="0" rtlCol="0" anchor="t">
            <a:spAutoFit/>
          </a:bodyPr>
          <a:lstStyle/>
          <a:p>
            <a:pPr algn="ctr">
              <a:lnSpc>
                <a:spcPts val="3295"/>
              </a:lnSpc>
              <a:spcBef>
                <a:spcPct val="0"/>
              </a:spcBef>
            </a:pPr>
            <a:r>
              <a:rPr lang="en-US" sz="2355" b="1" spc="28">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除了艺术类专业的同学，其他专业更可能因为价格留在瑞幸</a:t>
            </a:r>
            <a:endParaRPr lang="en-US" sz="2355" b="1" spc="28">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3768068">
            <a:off x="16573542" y="-12519486"/>
            <a:ext cx="14988201" cy="21149016"/>
          </a:xfrm>
          <a:custGeom>
            <a:avLst/>
            <a:gdLst/>
            <a:ahLst/>
            <a:cxnLst/>
            <a:rect l="l" t="t" r="r" b="b"/>
            <a:pathLst>
              <a:path w="14988201" h="21149016">
                <a:moveTo>
                  <a:pt x="0" y="0"/>
                </a:moveTo>
                <a:lnTo>
                  <a:pt x="14988201" y="0"/>
                </a:lnTo>
                <a:lnTo>
                  <a:pt x="14988201" y="21149016"/>
                </a:lnTo>
                <a:lnTo>
                  <a:pt x="0" y="21149016"/>
                </a:lnTo>
                <a:lnTo>
                  <a:pt x="0" y="0"/>
                </a:lnTo>
                <a:close/>
              </a:path>
            </a:pathLst>
          </a:custGeom>
          <a:blipFill>
            <a:blip r:embed="rId1"/>
            <a:stretch>
              <a:fillRect t="-2106" b="-6923"/>
            </a:stretch>
          </a:blipFill>
        </p:spPr>
      </p:sp>
      <p:sp>
        <p:nvSpPr>
          <p:cNvPr id="3" name="Freeform 3"/>
          <p:cNvSpPr/>
          <p:nvPr/>
        </p:nvSpPr>
        <p:spPr>
          <a:xfrm rot="7219960">
            <a:off x="-4944047" y="5967047"/>
            <a:ext cx="14988201" cy="21149016"/>
          </a:xfrm>
          <a:custGeom>
            <a:avLst/>
            <a:gdLst/>
            <a:ahLst/>
            <a:cxnLst/>
            <a:rect l="l" t="t" r="r" b="b"/>
            <a:pathLst>
              <a:path w="14988201" h="21149016">
                <a:moveTo>
                  <a:pt x="0" y="0"/>
                </a:moveTo>
                <a:lnTo>
                  <a:pt x="14988200" y="0"/>
                </a:lnTo>
                <a:lnTo>
                  <a:pt x="14988200" y="21149016"/>
                </a:lnTo>
                <a:lnTo>
                  <a:pt x="0" y="21149016"/>
                </a:lnTo>
                <a:lnTo>
                  <a:pt x="0" y="0"/>
                </a:lnTo>
                <a:close/>
              </a:path>
            </a:pathLst>
          </a:custGeom>
          <a:blipFill>
            <a:blip r:embed="rId1"/>
            <a:stretch>
              <a:fillRect t="-2106" b="-6923"/>
            </a:stretch>
          </a:blipFill>
        </p:spPr>
      </p:sp>
      <p:sp>
        <p:nvSpPr>
          <p:cNvPr id="4" name="TextBox 4"/>
          <p:cNvSpPr txBox="1"/>
          <p:nvPr/>
        </p:nvSpPr>
        <p:spPr>
          <a:xfrm>
            <a:off x="820000" y="1667511"/>
            <a:ext cx="15790113" cy="4176140"/>
          </a:xfrm>
          <a:prstGeom prst="rect">
            <a:avLst/>
          </a:prstGeom>
        </p:spPr>
        <p:txBody>
          <a:bodyPr lIns="0" tIns="0" rIns="0" bIns="0" rtlCol="0" anchor="t">
            <a:spAutoFit/>
          </a:bodyPr>
          <a:lstStyle/>
          <a:p>
            <a:pPr marL="712470" lvl="1" indent="-356235" algn="l">
              <a:lnSpc>
                <a:spcPts val="5575"/>
              </a:lnSpc>
              <a:buAutoNum type="arabicPeriod"/>
            </a:pPr>
            <a:r>
              <a:rPr lang="en-US" sz="3300" b="1" spc="3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推出限时联名、限定周边，与折扣相配合，新活动、新折扣模式（女生）；</a:t>
            </a:r>
            <a:endParaRPr lang="en-US" sz="3300" b="1" spc="3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5575"/>
              </a:lnSpc>
              <a:buAutoNum type="arabicPeriod"/>
            </a:pPr>
            <a:r>
              <a:rPr lang="en-US" sz="3300" b="1" spc="3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定期推送咖啡知识，附加优惠券，有新产品推出时附加新配方，提升对瑞幸品牌的兴趣与忠诚度（男生）；</a:t>
            </a:r>
            <a:endParaRPr lang="en-US" sz="3300" b="1" spc="3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5575"/>
              </a:lnSpc>
              <a:buAutoNum type="arabicPeriod"/>
            </a:pPr>
            <a:r>
              <a:rPr lang="en-US" sz="3300" b="1" spc="3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通过APP像顾客发送个性化产品推荐或优惠信息； </a:t>
            </a:r>
            <a:endParaRPr lang="en-US" sz="3300" b="1" spc="3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5575"/>
              </a:lnSpc>
              <a:buAutoNum type="arabicPeriod"/>
            </a:pPr>
            <a:r>
              <a:rPr lang="en-US" sz="3300" b="1" spc="3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完善会员制度奖励机制，完善会员体系，提供积分换礼品/产品、生日福利、专属优惠券等，给予老顾客特殊折扣优惠福利，鼓励会员消费</a:t>
            </a:r>
            <a:endParaRPr lang="en-US" sz="3300" b="1" spc="3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820000" y="269713"/>
            <a:ext cx="8324000" cy="1219200"/>
          </a:xfrm>
          <a:prstGeom prst="rect">
            <a:avLst/>
          </a:prstGeom>
        </p:spPr>
        <p:txBody>
          <a:bodyPr lIns="0" tIns="0" rIns="0" bIns="0" rtlCol="0" anchor="t">
            <a:spAutoFit/>
          </a:bodyPr>
          <a:lstStyle/>
          <a:p>
            <a:pPr algn="l">
              <a:lnSpc>
                <a:spcPts val="9600"/>
              </a:lnSpc>
            </a:pPr>
            <a:r>
              <a:rPr lang="en-US" sz="8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复购</a:t>
            </a:r>
            <a:endParaRPr lang="en-US" sz="8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6" name="Group 6"/>
          <p:cNvGrpSpPr/>
          <p:nvPr/>
        </p:nvGrpSpPr>
        <p:grpSpPr>
          <a:xfrm rot="0">
            <a:off x="13985469" y="6062998"/>
            <a:ext cx="3946592" cy="3946592"/>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493A"/>
            </a:solidFill>
          </p:spPr>
        </p:sp>
      </p:grpSp>
      <p:sp>
        <p:nvSpPr>
          <p:cNvPr id="8" name="TextBox 8"/>
          <p:cNvSpPr txBox="1"/>
          <p:nvPr/>
        </p:nvSpPr>
        <p:spPr>
          <a:xfrm>
            <a:off x="14429618" y="6980314"/>
            <a:ext cx="3058295" cy="2121486"/>
          </a:xfrm>
          <a:prstGeom prst="rect">
            <a:avLst/>
          </a:prstGeom>
        </p:spPr>
        <p:txBody>
          <a:bodyPr lIns="0" tIns="0" rIns="0" bIns="0" rtlCol="0" anchor="t">
            <a:spAutoFit/>
          </a:bodyPr>
          <a:lstStyle/>
          <a:p>
            <a:pPr algn="ctr">
              <a:lnSpc>
                <a:spcPts val="3355"/>
              </a:lnSpc>
              <a:spcBef>
                <a:spcPct val="0"/>
              </a:spcBef>
            </a:pPr>
            <a:r>
              <a:rPr lang="en-US" sz="279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新品促销对男女都有很强的吸引力，但男性更倾向于优惠券，而女性更倾向于限时折扣活动</a:t>
            </a:r>
            <a:endParaRPr lang="en-US" sz="279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9" name="Group 9"/>
          <p:cNvGrpSpPr/>
          <p:nvPr/>
        </p:nvGrpSpPr>
        <p:grpSpPr>
          <a:xfrm rot="0">
            <a:off x="9657436" y="6518725"/>
            <a:ext cx="3159129" cy="3035139"/>
            <a:chOff x="0" y="0"/>
            <a:chExt cx="6609408" cy="6350000"/>
          </a:xfrm>
        </p:grpSpPr>
        <p:sp>
          <p:nvSpPr>
            <p:cNvPr id="10" name="Freeform 10"/>
            <p:cNvSpPr/>
            <p:nvPr/>
          </p:nvSpPr>
          <p:spPr>
            <a:xfrm>
              <a:off x="0" y="0"/>
              <a:ext cx="6609408" cy="6350000"/>
            </a:xfrm>
            <a:custGeom>
              <a:avLst/>
              <a:gdLst/>
              <a:ahLst/>
              <a:cxnLst/>
              <a:rect l="l" t="t" r="r" b="b"/>
              <a:pathLst>
                <a:path w="6609408" h="6350000">
                  <a:moveTo>
                    <a:pt x="3304704" y="0"/>
                  </a:moveTo>
                  <a:cubicBezTo>
                    <a:pt x="1479566" y="0"/>
                    <a:pt x="0" y="1421496"/>
                    <a:pt x="0" y="3175000"/>
                  </a:cubicBezTo>
                  <a:cubicBezTo>
                    <a:pt x="0" y="4928504"/>
                    <a:pt x="1479566" y="6350000"/>
                    <a:pt x="3304704" y="6350000"/>
                  </a:cubicBezTo>
                  <a:cubicBezTo>
                    <a:pt x="5129842" y="6350000"/>
                    <a:pt x="6609408" y="4928504"/>
                    <a:pt x="6609408" y="3175000"/>
                  </a:cubicBezTo>
                  <a:cubicBezTo>
                    <a:pt x="6609408" y="1421496"/>
                    <a:pt x="5129842" y="0"/>
                    <a:pt x="3304704" y="0"/>
                  </a:cubicBezTo>
                  <a:close/>
                </a:path>
              </a:pathLst>
            </a:custGeom>
            <a:solidFill>
              <a:srgbClr val="66493A"/>
            </a:solidFill>
          </p:spPr>
        </p:sp>
      </p:grpSp>
      <p:sp>
        <p:nvSpPr>
          <p:cNvPr id="11" name="TextBox 11"/>
          <p:cNvSpPr txBox="1"/>
          <p:nvPr/>
        </p:nvSpPr>
        <p:spPr>
          <a:xfrm>
            <a:off x="9801178" y="7349457"/>
            <a:ext cx="2871646" cy="1326049"/>
          </a:xfrm>
          <a:prstGeom prst="rect">
            <a:avLst/>
          </a:prstGeom>
        </p:spPr>
        <p:txBody>
          <a:bodyPr lIns="0" tIns="0" rIns="0" bIns="0" rtlCol="0" anchor="t">
            <a:spAutoFit/>
          </a:bodyPr>
          <a:lstStyle/>
          <a:p>
            <a:pPr algn="ctr">
              <a:lnSpc>
                <a:spcPts val="3560"/>
              </a:lnSpc>
              <a:spcBef>
                <a:spcPct val="0"/>
              </a:spcBef>
            </a:pPr>
            <a:r>
              <a:rPr lang="en-US" sz="2545" b="1" spc="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理工科专业同学更有可能因为性价比而推荐瑞幸产品。</a:t>
            </a:r>
            <a:endParaRPr lang="en-US" sz="2545" b="1" spc="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3768068">
            <a:off x="16573542" y="-12519486"/>
            <a:ext cx="14988201" cy="21149016"/>
          </a:xfrm>
          <a:custGeom>
            <a:avLst/>
            <a:gdLst/>
            <a:ahLst/>
            <a:cxnLst/>
            <a:rect l="l" t="t" r="r" b="b"/>
            <a:pathLst>
              <a:path w="14988201" h="21149016">
                <a:moveTo>
                  <a:pt x="0" y="0"/>
                </a:moveTo>
                <a:lnTo>
                  <a:pt x="14988201" y="0"/>
                </a:lnTo>
                <a:lnTo>
                  <a:pt x="14988201" y="21149016"/>
                </a:lnTo>
                <a:lnTo>
                  <a:pt x="0" y="21149016"/>
                </a:lnTo>
                <a:lnTo>
                  <a:pt x="0" y="0"/>
                </a:lnTo>
                <a:close/>
              </a:path>
            </a:pathLst>
          </a:custGeom>
          <a:blipFill>
            <a:blip r:embed="rId1"/>
            <a:stretch>
              <a:fillRect t="-2106" b="-6923"/>
            </a:stretch>
          </a:blipFill>
        </p:spPr>
      </p:sp>
      <p:sp>
        <p:nvSpPr>
          <p:cNvPr id="3" name="Freeform 3"/>
          <p:cNvSpPr/>
          <p:nvPr/>
        </p:nvSpPr>
        <p:spPr>
          <a:xfrm rot="7219960">
            <a:off x="-4944047" y="5967047"/>
            <a:ext cx="14988201" cy="21149016"/>
          </a:xfrm>
          <a:custGeom>
            <a:avLst/>
            <a:gdLst/>
            <a:ahLst/>
            <a:cxnLst/>
            <a:rect l="l" t="t" r="r" b="b"/>
            <a:pathLst>
              <a:path w="14988201" h="21149016">
                <a:moveTo>
                  <a:pt x="0" y="0"/>
                </a:moveTo>
                <a:lnTo>
                  <a:pt x="14988200" y="0"/>
                </a:lnTo>
                <a:lnTo>
                  <a:pt x="14988200" y="21149016"/>
                </a:lnTo>
                <a:lnTo>
                  <a:pt x="0" y="21149016"/>
                </a:lnTo>
                <a:lnTo>
                  <a:pt x="0" y="0"/>
                </a:lnTo>
                <a:close/>
              </a:path>
            </a:pathLst>
          </a:custGeom>
          <a:blipFill>
            <a:blip r:embed="rId1"/>
            <a:stretch>
              <a:fillRect t="-2106" b="-6923"/>
            </a:stretch>
          </a:blipFill>
        </p:spPr>
      </p:sp>
      <p:sp>
        <p:nvSpPr>
          <p:cNvPr id="4" name="TextBox 4"/>
          <p:cNvSpPr txBox="1"/>
          <p:nvPr/>
        </p:nvSpPr>
        <p:spPr>
          <a:xfrm>
            <a:off x="1208466" y="2110146"/>
            <a:ext cx="15150939" cy="4050032"/>
          </a:xfrm>
          <a:prstGeom prst="rect">
            <a:avLst/>
          </a:prstGeom>
        </p:spPr>
        <p:txBody>
          <a:bodyPr lIns="0" tIns="0" rIns="0" bIns="0" rtlCol="0" anchor="t">
            <a:spAutoFit/>
          </a:bodyPr>
          <a:lstStyle/>
          <a:p>
            <a:pPr marL="712470" lvl="1" indent="-356235" algn="l">
              <a:lnSpc>
                <a:spcPts val="4620"/>
              </a:lnSpc>
              <a:buAutoNum type="arabicPeriod"/>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在产品包装上附加适合宣传的设计板块，方便记录美好生活，附加积攒兑换优惠的活动（男生）；</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4620"/>
              </a:lnSpc>
              <a:buAutoNum type="arabicPeriod"/>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增加IP联名等新品推出活动的周边设计产品矩阵，吸引女性客户的同时还具备自我宣传能力（女生）；</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4620"/>
              </a:lnSpc>
              <a:buAutoNum type="arabicPeriod"/>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社交奖励机制，向好友推荐可获得优惠或者奖励； </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712470" lvl="1" indent="-356235" algn="l">
              <a:lnSpc>
                <a:spcPts val="4620"/>
              </a:lnSpc>
              <a:buAutoNum type="arabicPeriod"/>
            </a:pPr>
            <a:r>
              <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口碑传播引导，通过提供优质产品和服务，确保顾客获得良好体验，在店内设置留言板、线上平台展示好评等方式，引导顾客进行口碑传播</a:t>
            </a:r>
            <a:endParaRPr lang="en-US" sz="3300" b="1" spc="39">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TextBox 5"/>
          <p:cNvSpPr txBox="1"/>
          <p:nvPr/>
        </p:nvSpPr>
        <p:spPr>
          <a:xfrm>
            <a:off x="1208466" y="580303"/>
            <a:ext cx="12318807" cy="1219200"/>
          </a:xfrm>
          <a:prstGeom prst="rect">
            <a:avLst/>
          </a:prstGeom>
        </p:spPr>
        <p:txBody>
          <a:bodyPr lIns="0" tIns="0" rIns="0" bIns="0" rtlCol="0" anchor="t">
            <a:spAutoFit/>
          </a:bodyPr>
          <a:lstStyle/>
          <a:p>
            <a:pPr algn="l">
              <a:lnSpc>
                <a:spcPts val="9600"/>
              </a:lnSpc>
            </a:pPr>
            <a:r>
              <a:rPr lang="en-US" sz="8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推荐</a:t>
            </a:r>
            <a:endParaRPr lang="en-US" sz="80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6" name="Group 6"/>
          <p:cNvGrpSpPr/>
          <p:nvPr/>
        </p:nvGrpSpPr>
        <p:grpSpPr>
          <a:xfrm rot="0">
            <a:off x="14107667" y="6507214"/>
            <a:ext cx="3357885" cy="3357885"/>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493A"/>
            </a:solidFill>
          </p:spPr>
        </p:sp>
      </p:grpSp>
      <p:sp>
        <p:nvSpPr>
          <p:cNvPr id="8" name="TextBox 8"/>
          <p:cNvSpPr txBox="1"/>
          <p:nvPr/>
        </p:nvSpPr>
        <p:spPr>
          <a:xfrm>
            <a:off x="14408148" y="7357786"/>
            <a:ext cx="2756922" cy="1656742"/>
          </a:xfrm>
          <a:prstGeom prst="rect">
            <a:avLst/>
          </a:prstGeom>
        </p:spPr>
        <p:txBody>
          <a:bodyPr lIns="0" tIns="0" rIns="0" bIns="0" rtlCol="0" anchor="t">
            <a:spAutoFit/>
          </a:bodyPr>
          <a:lstStyle/>
          <a:p>
            <a:pPr algn="ctr">
              <a:lnSpc>
                <a:spcPts val="3260"/>
              </a:lnSpc>
              <a:spcBef>
                <a:spcPct val="0"/>
              </a:spcBef>
            </a:pPr>
            <a:r>
              <a:rPr lang="en-US" sz="27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男性似乎更倾向于强烈推荐瑞幸，而女性则稍微保守一些</a:t>
            </a:r>
            <a:endParaRPr lang="en-US" sz="2715"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9" name="Group 9"/>
          <p:cNvGrpSpPr/>
          <p:nvPr/>
        </p:nvGrpSpPr>
        <p:grpSpPr>
          <a:xfrm rot="0">
            <a:off x="5651173" y="6541178"/>
            <a:ext cx="3323921" cy="3323921"/>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493A"/>
            </a:solidFill>
          </p:spPr>
        </p:sp>
      </p:grpSp>
      <p:sp>
        <p:nvSpPr>
          <p:cNvPr id="11" name="TextBox 11"/>
          <p:cNvSpPr txBox="1"/>
          <p:nvPr/>
        </p:nvSpPr>
        <p:spPr>
          <a:xfrm>
            <a:off x="6102010" y="6976748"/>
            <a:ext cx="2422246" cy="2396276"/>
          </a:xfrm>
          <a:prstGeom prst="rect">
            <a:avLst/>
          </a:prstGeom>
        </p:spPr>
        <p:txBody>
          <a:bodyPr lIns="0" tIns="0" rIns="0" bIns="0" rtlCol="0" anchor="t">
            <a:spAutoFit/>
          </a:bodyPr>
          <a:lstStyle/>
          <a:p>
            <a:pPr algn="ctr">
              <a:lnSpc>
                <a:spcPts val="3895"/>
              </a:lnSpc>
              <a:spcBef>
                <a:spcPct val="0"/>
              </a:spcBef>
            </a:pPr>
            <a:r>
              <a:rPr lang="en-US" sz="2785" b="1" spc="33">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朋友之间的口碑传播使理科同学对瑞幸品牌的认知起到了重要作用</a:t>
            </a:r>
            <a:endParaRPr lang="en-US" sz="2785" b="1" spc="33">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12" name="Group 12"/>
          <p:cNvGrpSpPr/>
          <p:nvPr/>
        </p:nvGrpSpPr>
        <p:grpSpPr>
          <a:xfrm rot="0">
            <a:off x="9879420" y="6541178"/>
            <a:ext cx="3323921" cy="3323921"/>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493A"/>
            </a:solidFill>
          </p:spPr>
        </p:sp>
      </p:grpSp>
      <p:sp>
        <p:nvSpPr>
          <p:cNvPr id="14" name="TextBox 14"/>
          <p:cNvSpPr txBox="1"/>
          <p:nvPr/>
        </p:nvSpPr>
        <p:spPr>
          <a:xfrm>
            <a:off x="10206393" y="7292794"/>
            <a:ext cx="2669975" cy="1773064"/>
          </a:xfrm>
          <a:prstGeom prst="rect">
            <a:avLst/>
          </a:prstGeom>
        </p:spPr>
        <p:txBody>
          <a:bodyPr lIns="0" tIns="0" rIns="0" bIns="0" rtlCol="0" anchor="t">
            <a:spAutoFit/>
          </a:bodyPr>
          <a:lstStyle/>
          <a:p>
            <a:pPr algn="ctr">
              <a:lnSpc>
                <a:spcPts val="3595"/>
              </a:lnSpc>
              <a:spcBef>
                <a:spcPct val="0"/>
              </a:spcBef>
            </a:pPr>
            <a:r>
              <a:rPr lang="en-US" sz="2570" b="1" spc="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朋友推荐对人文与法律的同学作出购买决策有更大的影响。</a:t>
            </a:r>
            <a:endParaRPr lang="en-US" sz="2570" b="1" spc="30">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8F6956"/>
        </a:solidFill>
        <a:effectLst/>
      </p:bgPr>
    </p:bg>
    <p:spTree>
      <p:nvGrpSpPr>
        <p:cNvPr id="1" name=""/>
        <p:cNvGrpSpPr/>
        <p:nvPr/>
      </p:nvGrpSpPr>
      <p:grpSpPr>
        <a:xfrm>
          <a:off x="0" y="0"/>
          <a:ext cx="0" cy="0"/>
          <a:chOff x="0" y="0"/>
          <a:chExt cx="0" cy="0"/>
        </a:xfrm>
      </p:grpSpPr>
      <p:sp>
        <p:nvSpPr>
          <p:cNvPr id="2" name="Freeform 2"/>
          <p:cNvSpPr/>
          <p:nvPr/>
        </p:nvSpPr>
        <p:spPr>
          <a:xfrm rot="1671160">
            <a:off x="8556771" y="-3177715"/>
            <a:ext cx="14988201" cy="21149016"/>
          </a:xfrm>
          <a:custGeom>
            <a:avLst/>
            <a:gdLst/>
            <a:ahLst/>
            <a:cxnLst/>
            <a:rect l="l" t="t" r="r" b="b"/>
            <a:pathLst>
              <a:path w="14988201" h="21149016">
                <a:moveTo>
                  <a:pt x="0" y="0"/>
                </a:moveTo>
                <a:lnTo>
                  <a:pt x="14988201" y="0"/>
                </a:lnTo>
                <a:lnTo>
                  <a:pt x="14988201" y="21149016"/>
                </a:lnTo>
                <a:lnTo>
                  <a:pt x="0" y="21149016"/>
                </a:lnTo>
                <a:lnTo>
                  <a:pt x="0" y="0"/>
                </a:lnTo>
                <a:close/>
              </a:path>
            </a:pathLst>
          </a:custGeom>
          <a:blipFill>
            <a:blip r:embed="rId1"/>
            <a:stretch>
              <a:fillRect t="-2106" b="-6923"/>
            </a:stretch>
          </a:blipFill>
        </p:spPr>
      </p:sp>
      <p:sp>
        <p:nvSpPr>
          <p:cNvPr id="3" name="Freeform 3"/>
          <p:cNvSpPr/>
          <p:nvPr/>
        </p:nvSpPr>
        <p:spPr>
          <a:xfrm rot="-1662859">
            <a:off x="10412874" y="1303566"/>
            <a:ext cx="7208280" cy="11351623"/>
          </a:xfrm>
          <a:custGeom>
            <a:avLst/>
            <a:gdLst/>
            <a:ahLst/>
            <a:cxnLst/>
            <a:rect l="l" t="t" r="r" b="b"/>
            <a:pathLst>
              <a:path w="7208280" h="11351623">
                <a:moveTo>
                  <a:pt x="0" y="0"/>
                </a:moveTo>
                <a:lnTo>
                  <a:pt x="7208280" y="0"/>
                </a:lnTo>
                <a:lnTo>
                  <a:pt x="7208280" y="11351622"/>
                </a:lnTo>
                <a:lnTo>
                  <a:pt x="0" y="113516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81137" flipH="1">
            <a:off x="733689" y="5242219"/>
            <a:ext cx="8382015" cy="1295402"/>
          </a:xfrm>
          <a:custGeom>
            <a:avLst/>
            <a:gdLst/>
            <a:ahLst/>
            <a:cxnLst/>
            <a:rect l="l" t="t" r="r" b="b"/>
            <a:pathLst>
              <a:path w="8382015" h="1295402">
                <a:moveTo>
                  <a:pt x="8382015" y="0"/>
                </a:moveTo>
                <a:lnTo>
                  <a:pt x="0" y="0"/>
                </a:lnTo>
                <a:lnTo>
                  <a:pt x="0" y="1295402"/>
                </a:lnTo>
                <a:lnTo>
                  <a:pt x="8382015" y="1295402"/>
                </a:lnTo>
                <a:lnTo>
                  <a:pt x="838201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760737">
            <a:off x="7981276" y="7357335"/>
            <a:ext cx="1440158" cy="1434758"/>
          </a:xfrm>
          <a:custGeom>
            <a:avLst/>
            <a:gdLst/>
            <a:ahLst/>
            <a:cxnLst/>
            <a:rect l="l" t="t" r="r" b="b"/>
            <a:pathLst>
              <a:path w="1440158" h="1434758">
                <a:moveTo>
                  <a:pt x="0" y="0"/>
                </a:moveTo>
                <a:lnTo>
                  <a:pt x="1440158" y="0"/>
                </a:lnTo>
                <a:lnTo>
                  <a:pt x="1440158" y="1434757"/>
                </a:lnTo>
                <a:lnTo>
                  <a:pt x="0" y="143475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755557" flipH="1">
            <a:off x="16567881" y="1122146"/>
            <a:ext cx="963103" cy="959492"/>
          </a:xfrm>
          <a:custGeom>
            <a:avLst/>
            <a:gdLst/>
            <a:ahLst/>
            <a:cxnLst/>
            <a:rect l="l" t="t" r="r" b="b"/>
            <a:pathLst>
              <a:path w="963103" h="959492">
                <a:moveTo>
                  <a:pt x="963103" y="0"/>
                </a:moveTo>
                <a:lnTo>
                  <a:pt x="0" y="0"/>
                </a:lnTo>
                <a:lnTo>
                  <a:pt x="0" y="959492"/>
                </a:lnTo>
                <a:lnTo>
                  <a:pt x="963103" y="959492"/>
                </a:lnTo>
                <a:lnTo>
                  <a:pt x="963103"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700426" flipH="1">
            <a:off x="9576653" y="8649345"/>
            <a:ext cx="1222494" cy="1217910"/>
          </a:xfrm>
          <a:custGeom>
            <a:avLst/>
            <a:gdLst/>
            <a:ahLst/>
            <a:cxnLst/>
            <a:rect l="l" t="t" r="r" b="b"/>
            <a:pathLst>
              <a:path w="1222494" h="1217910">
                <a:moveTo>
                  <a:pt x="1222494" y="0"/>
                </a:moveTo>
                <a:lnTo>
                  <a:pt x="0" y="0"/>
                </a:lnTo>
                <a:lnTo>
                  <a:pt x="0" y="1217910"/>
                </a:lnTo>
                <a:lnTo>
                  <a:pt x="1222494" y="1217910"/>
                </a:lnTo>
                <a:lnTo>
                  <a:pt x="1222494"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878735" y="3049024"/>
            <a:ext cx="7577405" cy="1847850"/>
          </a:xfrm>
          <a:prstGeom prst="rect">
            <a:avLst/>
          </a:prstGeom>
        </p:spPr>
        <p:txBody>
          <a:bodyPr lIns="0" tIns="0" rIns="0" bIns="0" rtlCol="0" anchor="t">
            <a:spAutoFit/>
          </a:bodyPr>
          <a:lstStyle/>
          <a:p>
            <a:pPr algn="l">
              <a:lnSpc>
                <a:spcPts val="14520"/>
              </a:lnSpc>
            </a:pPr>
            <a:r>
              <a:rPr lang="en-US" sz="121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谢谢观看</a:t>
            </a:r>
            <a:endParaRPr lang="en-US" sz="121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9" name="TextBox 9"/>
          <p:cNvSpPr txBox="1"/>
          <p:nvPr/>
        </p:nvSpPr>
        <p:spPr>
          <a:xfrm>
            <a:off x="705393" y="7655614"/>
            <a:ext cx="5709006" cy="419100"/>
          </a:xfrm>
          <a:prstGeom prst="rect">
            <a:avLst/>
          </a:prstGeom>
        </p:spPr>
        <p:txBody>
          <a:bodyPr lIns="0" tIns="0" rIns="0" bIns="0" rtlCol="0" anchor="t">
            <a:spAutoFit/>
          </a:bodyPr>
          <a:lstStyle/>
          <a:p>
            <a:pPr algn="ctr">
              <a:lnSpc>
                <a:spcPts val="3365"/>
              </a:lnSpc>
              <a:spcBef>
                <a:spcPct val="0"/>
              </a:spcBef>
            </a:pPr>
            <a:r>
              <a:rPr lang="en-US" sz="2805" b="1" spc="185">
                <a:solidFill>
                  <a:srgbClr val="FFFFFF"/>
                </a:solidFill>
                <a:latin typeface="Aileron Bold" panose="00000800000000000000"/>
                <a:ea typeface="Aileron Bold" panose="00000800000000000000"/>
                <a:cs typeface="Aileron Bold" panose="00000800000000000000"/>
                <a:sym typeface="Aileron Bold" panose="00000800000000000000"/>
              </a:rPr>
              <a:t>数据别和我作队</a:t>
            </a:r>
            <a:endParaRPr lang="en-US" sz="2805" b="1" spc="185">
              <a:solidFill>
                <a:srgbClr val="FFFFFF"/>
              </a:solidFill>
              <a:latin typeface="Aileron Bold" panose="00000800000000000000"/>
              <a:ea typeface="Aileron Bold" panose="00000800000000000000"/>
              <a:cs typeface="Aileron Bold" panose="00000800000000000000"/>
              <a:sym typeface="Aileron Bold" panose="00000800000000000000"/>
            </a:endParaRPr>
          </a:p>
        </p:txBody>
      </p:sp>
      <p:sp>
        <p:nvSpPr>
          <p:cNvPr id="10" name="TextBox 10"/>
          <p:cNvSpPr txBox="1"/>
          <p:nvPr/>
        </p:nvSpPr>
        <p:spPr>
          <a:xfrm>
            <a:off x="1028700" y="5759329"/>
            <a:ext cx="8436418" cy="537845"/>
          </a:xfrm>
          <a:prstGeom prst="rect">
            <a:avLst/>
          </a:prstGeom>
        </p:spPr>
        <p:txBody>
          <a:bodyPr lIns="0" tIns="0" rIns="0" bIns="0" rtlCol="0" anchor="t">
            <a:spAutoFit/>
          </a:bodyPr>
          <a:lstStyle/>
          <a:p>
            <a:pPr algn="l">
              <a:lnSpc>
                <a:spcPts val="4480"/>
              </a:lnSpc>
              <a:spcBef>
                <a:spcPct val="0"/>
              </a:spcBef>
            </a:pPr>
            <a:r>
              <a:rPr lang="en-US" sz="3200" i="1" spc="316">
                <a:solidFill>
                  <a:srgbClr val="393536"/>
                </a:solidFill>
                <a:latin typeface="Aileron Italics" panose="00000500000000000000"/>
                <a:ea typeface="Aileron Italics" panose="00000500000000000000"/>
                <a:cs typeface="Aileron Italics" panose="00000500000000000000"/>
                <a:sym typeface="Aileron Italics" panose="00000500000000000000"/>
              </a:rPr>
              <a:t>THANKS FOR WATCHING</a:t>
            </a:r>
            <a:endParaRPr lang="en-US" sz="3200" i="1" spc="316">
              <a:solidFill>
                <a:srgbClr val="393536"/>
              </a:solidFill>
              <a:latin typeface="Aileron Italics" panose="00000500000000000000"/>
              <a:ea typeface="Aileron Italics" panose="00000500000000000000"/>
              <a:cs typeface="Aileron Italics" panose="00000500000000000000"/>
              <a:sym typeface="Aileron Italics" panose="000005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10895</Words>
  <Application>WPS 演示</Application>
  <PresentationFormat>On-screen Show (4:3)</PresentationFormat>
  <Paragraphs>673</Paragraphs>
  <Slides>91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91</vt:i4>
      </vt:variant>
    </vt:vector>
  </HeadingPairs>
  <TitlesOfParts>
    <vt:vector size="106" baseType="lpstr">
      <vt:lpstr>Arial</vt:lpstr>
      <vt:lpstr>宋体</vt:lpstr>
      <vt:lpstr>Wingdings</vt:lpstr>
      <vt:lpstr>思源黑体 Bold</vt:lpstr>
      <vt:lpstr>Aileron Bold Italics</vt:lpstr>
      <vt:lpstr>Aileron</vt:lpstr>
      <vt:lpstr>思源黑体 Light</vt:lpstr>
      <vt:lpstr>Arial</vt:lpstr>
      <vt:lpstr>思源黑体</vt:lpstr>
      <vt:lpstr>微软雅黑</vt:lpstr>
      <vt:lpstr>Arial Unicode MS</vt:lpstr>
      <vt:lpstr>Calibri</vt:lpstr>
      <vt:lpstr>Aileron Bold</vt:lpstr>
      <vt:lpstr>Aileron Italics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褐灰色咖啡插画元素现代餐饮介绍中文演示文稿</dc:title>
  <dc:creator/>
  <cp:lastModifiedBy>七凉、</cp:lastModifiedBy>
  <cp:revision>2</cp:revision>
  <dcterms:created xsi:type="dcterms:W3CDTF">2006-08-16T00:00:00Z</dcterms:created>
  <dcterms:modified xsi:type="dcterms:W3CDTF">2026-08-15T17:06:33Z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D2253255CBE44041B44C5374F5CCC8AA_12</vt:lpwstr>
  </property>
  <property fmtid="{D5CDD505-2E9C-101B-9397-08002B2CF9AE}" pid="3" name="KSOProductBuildVer">
    <vt:lpwstr>2052-12.1.0.28043</vt:lpwstr>
  </property>
</Properties>
</file>